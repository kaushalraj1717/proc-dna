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rial" charset="1" panose="020B0604020202020204"/>
      <p:regular r:id="rId22"/>
    </p:embeddedFont>
    <p:embeddedFont>
      <p:font typeface="Arial Bold" charset="1" panose="020B070402020202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2024 ProcDNA</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2024 ProcDNA</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2024 ProcDNA</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2024 ProcDNA</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2024 ProcDNA</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2024 ProcDNA</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2024 ProcDNA</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2024 ProcDNA</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2024 ProcDNA</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2024 ProcDNA</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2024 ProcDNA</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linkedin.com/company/procdna/" TargetMode="External" Type="http://schemas.openxmlformats.org/officeDocument/2006/relationships/hyperlink"/><Relationship Id="rId3" Target="../media/image8.png" Type="http://schemas.openxmlformats.org/officeDocument/2006/relationships/image"/><Relationship Id="rId4" Target="../media/image1.jpeg" Type="http://schemas.openxmlformats.org/officeDocument/2006/relationships/image"/><Relationship Id="rId5" Target="http://www.procdna.com/" TargetMode="External" Type="http://schemas.openxmlformats.org/officeDocument/2006/relationships/hyperlink"/><Relationship Id="rId6" Target="../media/image2.png" Type="http://schemas.openxmlformats.org/officeDocument/2006/relationships/image"/><Relationship Id="rId7" Target="../media/image3.svg" Type="http://schemas.openxmlformats.org/officeDocument/2006/relationships/image"/><Relationship Id="rId8"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02444" y="8839010"/>
            <a:ext cx="9141847" cy="507835"/>
            <a:chOff x="0" y="0"/>
            <a:chExt cx="12189130" cy="677113"/>
          </a:xfrm>
        </p:grpSpPr>
        <p:sp>
          <p:nvSpPr>
            <p:cNvPr name="Freeform 3" id="3"/>
            <p:cNvSpPr/>
            <p:nvPr/>
          </p:nvSpPr>
          <p:spPr>
            <a:xfrm flipH="false" flipV="false" rot="0">
              <a:off x="0" y="0"/>
              <a:ext cx="12189124" cy="677108"/>
            </a:xfrm>
            <a:custGeom>
              <a:avLst/>
              <a:gdLst/>
              <a:ahLst/>
              <a:cxnLst/>
              <a:rect r="r" b="b" t="t" l="l"/>
              <a:pathLst>
                <a:path h="677108" w="12189124">
                  <a:moveTo>
                    <a:pt x="0" y="0"/>
                  </a:moveTo>
                  <a:lnTo>
                    <a:pt x="12189124" y="0"/>
                  </a:lnTo>
                  <a:lnTo>
                    <a:pt x="12189124" y="677108"/>
                  </a:lnTo>
                  <a:lnTo>
                    <a:pt x="0" y="677108"/>
                  </a:lnTo>
                  <a:close/>
                </a:path>
              </a:pathLst>
            </a:custGeom>
            <a:blipFill>
              <a:blip r:embed="rId3">
                <a:alphaModFix amt="0"/>
              </a:blip>
              <a:stretch>
                <a:fillRect l="0" t="-300764" r="0" b="-300765"/>
              </a:stretch>
            </a:blipFill>
          </p:spPr>
        </p:sp>
        <p:sp>
          <p:nvSpPr>
            <p:cNvPr name="TextBox 4" id="4"/>
            <p:cNvSpPr txBox="true"/>
            <p:nvPr/>
          </p:nvSpPr>
          <p:spPr>
            <a:xfrm>
              <a:off x="0" y="-19050"/>
              <a:ext cx="12189130" cy="696163"/>
            </a:xfrm>
            <a:prstGeom prst="rect">
              <a:avLst/>
            </a:prstGeom>
          </p:spPr>
          <p:txBody>
            <a:bodyPr anchor="b" rtlCol="false" tIns="0" lIns="0" bIns="0" rIns="0"/>
            <a:lstStyle/>
            <a:p>
              <a:pPr algn="l">
                <a:lnSpc>
                  <a:spcPts val="1439"/>
                </a:lnSpc>
              </a:pPr>
              <a:r>
                <a:rPr lang="en-US" sz="1200">
                  <a:solidFill>
                    <a:srgbClr val="808080"/>
                  </a:solidFill>
                  <a:latin typeface="Arial"/>
                  <a:ea typeface="Arial"/>
                  <a:cs typeface="Arial"/>
                  <a:sym typeface="Arial"/>
                </a:rPr>
                <a:t>This document is solely for the use of client personnel. No part of it may be circulated, quoted or reproduced for distribution outside of the client organization without prior written approval of ProcDNA.</a:t>
              </a:r>
            </a:p>
          </p:txBody>
        </p:sp>
      </p:grpSp>
      <p:sp>
        <p:nvSpPr>
          <p:cNvPr name="Freeform 5" id="5"/>
          <p:cNvSpPr/>
          <p:nvPr/>
        </p:nvSpPr>
        <p:spPr>
          <a:xfrm flipH="false" flipV="false" rot="0">
            <a:off x="502444" y="1387050"/>
            <a:ext cx="1840392" cy="1055427"/>
          </a:xfrm>
          <a:custGeom>
            <a:avLst/>
            <a:gdLst/>
            <a:ahLst/>
            <a:cxnLst/>
            <a:rect r="r" b="b" t="t" l="l"/>
            <a:pathLst>
              <a:path h="1055427" w="1840392">
                <a:moveTo>
                  <a:pt x="0" y="0"/>
                </a:moveTo>
                <a:lnTo>
                  <a:pt x="1840392" y="0"/>
                </a:lnTo>
                <a:lnTo>
                  <a:pt x="1840392" y="1055427"/>
                </a:lnTo>
                <a:lnTo>
                  <a:pt x="0" y="10554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502444" y="3330797"/>
            <a:ext cx="11186636" cy="2178463"/>
            <a:chOff x="0" y="0"/>
            <a:chExt cx="14915515" cy="2904617"/>
          </a:xfrm>
        </p:grpSpPr>
        <p:sp>
          <p:nvSpPr>
            <p:cNvPr name="Freeform 7" id="7"/>
            <p:cNvSpPr/>
            <p:nvPr/>
          </p:nvSpPr>
          <p:spPr>
            <a:xfrm flipH="false" flipV="false" rot="0">
              <a:off x="0" y="0"/>
              <a:ext cx="14915514" cy="2904614"/>
            </a:xfrm>
            <a:custGeom>
              <a:avLst/>
              <a:gdLst/>
              <a:ahLst/>
              <a:cxnLst/>
              <a:rect r="r" b="b" t="t" l="l"/>
              <a:pathLst>
                <a:path h="2904614" w="14915514">
                  <a:moveTo>
                    <a:pt x="0" y="0"/>
                  </a:moveTo>
                  <a:lnTo>
                    <a:pt x="14915514" y="0"/>
                  </a:lnTo>
                  <a:lnTo>
                    <a:pt x="14915514" y="2904614"/>
                  </a:lnTo>
                  <a:lnTo>
                    <a:pt x="0" y="2904614"/>
                  </a:lnTo>
                  <a:close/>
                </a:path>
              </a:pathLst>
            </a:custGeom>
            <a:blipFill>
              <a:blip r:embed="rId3">
                <a:alphaModFix amt="0"/>
              </a:blip>
              <a:stretch>
                <a:fillRect l="0" t="-50057" r="0" b="-50057"/>
              </a:stretch>
            </a:blipFill>
          </p:spPr>
        </p:sp>
        <p:sp>
          <p:nvSpPr>
            <p:cNvPr name="TextBox 8" id="8"/>
            <p:cNvSpPr txBox="true"/>
            <p:nvPr/>
          </p:nvSpPr>
          <p:spPr>
            <a:xfrm>
              <a:off x="0" y="28575"/>
              <a:ext cx="14915515" cy="2876042"/>
            </a:xfrm>
            <a:prstGeom prst="rect">
              <a:avLst/>
            </a:prstGeom>
          </p:spPr>
          <p:txBody>
            <a:bodyPr anchor="b" rtlCol="false" tIns="0" lIns="0" bIns="0" rIns="0"/>
            <a:lstStyle/>
            <a:p>
              <a:pPr algn="l">
                <a:lnSpc>
                  <a:spcPts val="5832"/>
                </a:lnSpc>
              </a:pPr>
              <a:r>
                <a:rPr lang="en-US" sz="5400" b="true">
                  <a:solidFill>
                    <a:srgbClr val="001E96"/>
                  </a:solidFill>
                  <a:latin typeface="Arial Bold"/>
                  <a:ea typeface="Arial Bold"/>
                  <a:cs typeface="Arial Bold"/>
                  <a:sym typeface="Arial Bold"/>
                </a:rPr>
                <a:t>ProcDNA Case Study: </a:t>
              </a:r>
            </a:p>
            <a:p>
              <a:pPr algn="l">
                <a:lnSpc>
                  <a:spcPts val="5832"/>
                </a:lnSpc>
              </a:pPr>
              <a:r>
                <a:rPr lang="en-US" sz="5400" b="true">
                  <a:solidFill>
                    <a:srgbClr val="001E96"/>
                  </a:solidFill>
                  <a:latin typeface="Arial Bold"/>
                  <a:ea typeface="Arial Bold"/>
                  <a:cs typeface="Arial Bold"/>
                  <a:sym typeface="Arial Bold"/>
                </a:rPr>
                <a:t>Nexavir | PrimeRx Flow</a:t>
              </a:r>
            </a:p>
          </p:txBody>
        </p:sp>
      </p:grpSp>
      <p:sp>
        <p:nvSpPr>
          <p:cNvPr name="TextBox 9" id="9"/>
          <p:cNvSpPr txBox="true"/>
          <p:nvPr/>
        </p:nvSpPr>
        <p:spPr>
          <a:xfrm rot="0">
            <a:off x="502444" y="6929752"/>
            <a:ext cx="11186636" cy="483251"/>
          </a:xfrm>
          <a:prstGeom prst="rect">
            <a:avLst/>
          </a:prstGeom>
        </p:spPr>
        <p:txBody>
          <a:bodyPr anchor="t" rtlCol="false" tIns="0" lIns="0" bIns="0" rIns="0">
            <a:spAutoFit/>
          </a:bodyPr>
          <a:lstStyle/>
          <a:p>
            <a:pPr algn="l">
              <a:lnSpc>
                <a:spcPts val="2520"/>
              </a:lnSpc>
            </a:pPr>
            <a:r>
              <a:rPr lang="en-US" sz="2100">
                <a:solidFill>
                  <a:srgbClr val="000000"/>
                </a:solidFill>
                <a:latin typeface="Arial"/>
                <a:ea typeface="Arial"/>
                <a:cs typeface="Arial"/>
                <a:sym typeface="Arial"/>
              </a:rPr>
              <a:t>2026-27</a:t>
            </a:r>
          </a:p>
        </p:txBody>
      </p:sp>
      <p:sp>
        <p:nvSpPr>
          <p:cNvPr name="TextBox 10" id="10"/>
          <p:cNvSpPr txBox="true"/>
          <p:nvPr/>
        </p:nvSpPr>
        <p:spPr>
          <a:xfrm rot="0">
            <a:off x="502444" y="6223121"/>
            <a:ext cx="11186636" cy="492776"/>
          </a:xfrm>
          <a:prstGeom prst="rect">
            <a:avLst/>
          </a:prstGeom>
        </p:spPr>
        <p:txBody>
          <a:bodyPr anchor="t" rtlCol="false" tIns="0" lIns="0" bIns="0" rIns="0">
            <a:spAutoFit/>
          </a:bodyPr>
          <a:lstStyle/>
          <a:p>
            <a:pPr algn="l">
              <a:lnSpc>
                <a:spcPts val="3240"/>
              </a:lnSpc>
            </a:pPr>
            <a:r>
              <a:rPr lang="en-US" sz="2700" b="true">
                <a:solidFill>
                  <a:srgbClr val="000000"/>
                </a:solidFill>
                <a:latin typeface="Arial Bold"/>
                <a:ea typeface="Arial Bold"/>
                <a:cs typeface="Arial Bold"/>
                <a:sym typeface="Arial Bold"/>
              </a:rPr>
              <a:t>Alert-to-Treatment &amp; Commercial Opportunity Analysis</a:t>
            </a:r>
          </a:p>
        </p:txBody>
      </p:sp>
      <p:sp>
        <p:nvSpPr>
          <p:cNvPr name="Freeform 11" id="11"/>
          <p:cNvSpPr/>
          <p:nvPr/>
        </p:nvSpPr>
        <p:spPr>
          <a:xfrm flipH="false" flipV="false" rot="5400000">
            <a:off x="9728656" y="1690315"/>
            <a:ext cx="10212317" cy="6906370"/>
          </a:xfrm>
          <a:custGeom>
            <a:avLst/>
            <a:gdLst/>
            <a:ahLst/>
            <a:cxnLst/>
            <a:rect r="r" b="b" t="t" l="l"/>
            <a:pathLst>
              <a:path h="6906370" w="10212317">
                <a:moveTo>
                  <a:pt x="0" y="0"/>
                </a:moveTo>
                <a:lnTo>
                  <a:pt x="10212317" y="0"/>
                </a:lnTo>
                <a:lnTo>
                  <a:pt x="10212317" y="6906370"/>
                </a:lnTo>
                <a:lnTo>
                  <a:pt x="0" y="6906370"/>
                </a:lnTo>
                <a:lnTo>
                  <a:pt x="0" y="0"/>
                </a:lnTo>
                <a:close/>
              </a:path>
            </a:pathLst>
          </a:custGeom>
          <a:blipFill>
            <a:blip r:embed="rId6"/>
            <a:stretch>
              <a:fillRect l="0" t="-1462" r="0" b="-46405"/>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4998"/>
            <a:chOff x="0" y="0"/>
            <a:chExt cx="24384000" cy="179997"/>
          </a:xfrm>
        </p:grpSpPr>
        <p:sp>
          <p:nvSpPr>
            <p:cNvPr name="Freeform 3" id="3"/>
            <p:cNvSpPr/>
            <p:nvPr/>
          </p:nvSpPr>
          <p:spPr>
            <a:xfrm flipH="false" flipV="false" rot="0">
              <a:off x="0" y="0"/>
              <a:ext cx="24384000" cy="179959"/>
            </a:xfrm>
            <a:custGeom>
              <a:avLst/>
              <a:gdLst/>
              <a:ahLst/>
              <a:cxnLst/>
              <a:rect r="r" b="b" t="t" l="l"/>
              <a:pathLst>
                <a:path h="179959" w="24384000">
                  <a:moveTo>
                    <a:pt x="0" y="0"/>
                  </a:moveTo>
                  <a:lnTo>
                    <a:pt x="24384000" y="0"/>
                  </a:lnTo>
                  <a:lnTo>
                    <a:pt x="24384000" y="179959"/>
                  </a:lnTo>
                  <a:lnTo>
                    <a:pt x="0" y="179959"/>
                  </a:lnTo>
                  <a:close/>
                </a:path>
              </a:pathLst>
            </a:custGeom>
            <a:gradFill rotWithShape="true">
              <a:gsLst>
                <a:gs pos="0">
                  <a:srgbClr val="005CD9">
                    <a:alpha val="100000"/>
                  </a:srgbClr>
                </a:gs>
                <a:gs pos="50000">
                  <a:srgbClr val="007ECC">
                    <a:alpha val="100000"/>
                  </a:srgbClr>
                </a:gs>
                <a:gs pos="100000">
                  <a:srgbClr val="001E96">
                    <a:alpha val="100000"/>
                  </a:srgbClr>
                </a:gs>
              </a:gsLst>
              <a:lin ang="0"/>
            </a:gradFill>
          </p:spPr>
        </p:sp>
      </p:grpSp>
      <p:sp>
        <p:nvSpPr>
          <p:cNvPr name="AutoShape 4" id="4"/>
          <p:cNvSpPr/>
          <p:nvPr/>
        </p:nvSpPr>
        <p:spPr>
          <a:xfrm rot="3780">
            <a:off x="492919" y="1755696"/>
            <a:ext cx="17299057" cy="0"/>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502444" y="613600"/>
            <a:ext cx="17279998" cy="989457"/>
            <a:chOff x="0" y="0"/>
            <a:chExt cx="23039997" cy="1319276"/>
          </a:xfrm>
        </p:grpSpPr>
        <p:sp>
          <p:nvSpPr>
            <p:cNvPr name="Freeform 6" id="6"/>
            <p:cNvSpPr/>
            <p:nvPr/>
          </p:nvSpPr>
          <p:spPr>
            <a:xfrm flipH="false" flipV="false" rot="0">
              <a:off x="0" y="0"/>
              <a:ext cx="23040000" cy="1319272"/>
            </a:xfrm>
            <a:custGeom>
              <a:avLst/>
              <a:gdLst/>
              <a:ahLst/>
              <a:cxnLst/>
              <a:rect r="r" b="b" t="t" l="l"/>
              <a:pathLst>
                <a:path h="1319272" w="23040000">
                  <a:moveTo>
                    <a:pt x="0" y="0"/>
                  </a:moveTo>
                  <a:lnTo>
                    <a:pt x="23040000" y="0"/>
                  </a:lnTo>
                  <a:lnTo>
                    <a:pt x="23040000" y="1319272"/>
                  </a:lnTo>
                  <a:lnTo>
                    <a:pt x="0" y="1319272"/>
                  </a:lnTo>
                  <a:close/>
                </a:path>
              </a:pathLst>
            </a:custGeom>
            <a:blipFill>
              <a:blip r:embed="rId3">
                <a:alphaModFix amt="0"/>
              </a:blip>
              <a:stretch>
                <a:fillRect l="0" t="-290289" r="0" b="-290290"/>
              </a:stretch>
            </a:blipFill>
          </p:spPr>
        </p:sp>
        <p:sp>
          <p:nvSpPr>
            <p:cNvPr name="TextBox 7" id="7"/>
            <p:cNvSpPr txBox="true"/>
            <p:nvPr/>
          </p:nvSpPr>
          <p:spPr>
            <a:xfrm>
              <a:off x="0" y="-28575"/>
              <a:ext cx="23039997" cy="1347851"/>
            </a:xfrm>
            <a:prstGeom prst="rect">
              <a:avLst/>
            </a:prstGeom>
          </p:spPr>
          <p:txBody>
            <a:bodyPr anchor="b" rtlCol="false" tIns="0" lIns="0" bIns="0" rIns="0"/>
            <a:lstStyle/>
            <a:p>
              <a:pPr algn="l">
                <a:lnSpc>
                  <a:spcPts val="3960"/>
                </a:lnSpc>
              </a:pPr>
              <a:r>
                <a:rPr lang="en-US" sz="3300" b="true">
                  <a:solidFill>
                    <a:srgbClr val="001E96"/>
                  </a:solidFill>
                  <a:latin typeface="Arial Bold"/>
                  <a:ea typeface="Arial Bold"/>
                  <a:cs typeface="Arial Bold"/>
                  <a:sym typeface="Arial Bold"/>
                </a:rPr>
                <a:t>PrimeRx Flow – Business &amp; Case Study Overview</a:t>
              </a:r>
            </a:p>
          </p:txBody>
        </p:sp>
      </p:grpSp>
      <p:grpSp>
        <p:nvGrpSpPr>
          <p:cNvPr name="Group 8" id="8"/>
          <p:cNvGrpSpPr/>
          <p:nvPr/>
        </p:nvGrpSpPr>
        <p:grpSpPr>
          <a:xfrm rot="0">
            <a:off x="17245555" y="9874129"/>
            <a:ext cx="540001" cy="269996"/>
            <a:chOff x="0" y="0"/>
            <a:chExt cx="720001" cy="359994"/>
          </a:xfrm>
        </p:grpSpPr>
        <p:sp>
          <p:nvSpPr>
            <p:cNvPr name="Freeform 9" id="9"/>
            <p:cNvSpPr/>
            <p:nvPr/>
          </p:nvSpPr>
          <p:spPr>
            <a:xfrm flipH="false" flipV="false" rot="0">
              <a:off x="0" y="0"/>
              <a:ext cx="720000" cy="360000"/>
            </a:xfrm>
            <a:custGeom>
              <a:avLst/>
              <a:gdLst/>
              <a:ahLst/>
              <a:cxnLst/>
              <a:rect r="r" b="b" t="t" l="l"/>
              <a:pathLst>
                <a:path h="360000" w="720000">
                  <a:moveTo>
                    <a:pt x="0" y="0"/>
                  </a:moveTo>
                  <a:lnTo>
                    <a:pt x="720000" y="0"/>
                  </a:lnTo>
                  <a:lnTo>
                    <a:pt x="720000" y="360000"/>
                  </a:lnTo>
                  <a:lnTo>
                    <a:pt x="0" y="360000"/>
                  </a:lnTo>
                  <a:close/>
                </a:path>
              </a:pathLst>
            </a:custGeom>
            <a:blipFill>
              <a:blip r:embed="rId3">
                <a:alphaModFix amt="0"/>
              </a:blip>
              <a:stretch>
                <a:fillRect l="-14150" t="0" r="-14150" b="1"/>
              </a:stretch>
            </a:blipFill>
          </p:spPr>
        </p:sp>
        <p:sp>
          <p:nvSpPr>
            <p:cNvPr name="TextBox 10" id="10"/>
            <p:cNvSpPr txBox="true"/>
            <p:nvPr/>
          </p:nvSpPr>
          <p:spPr>
            <a:xfrm>
              <a:off x="0" y="-19050"/>
              <a:ext cx="720001" cy="379044"/>
            </a:xfrm>
            <a:prstGeom prst="rect">
              <a:avLst/>
            </a:prstGeom>
          </p:spPr>
          <p:txBody>
            <a:bodyPr anchor="b" rtlCol="false" tIns="0" lIns="0" bIns="0" rIns="0"/>
            <a:lstStyle/>
            <a:p>
              <a:pPr algn="r">
                <a:lnSpc>
                  <a:spcPts val="1439"/>
                </a:lnSpc>
              </a:pPr>
              <a:r>
                <a:rPr lang="en-US" sz="1200">
                  <a:solidFill>
                    <a:srgbClr val="808080"/>
                  </a:solidFill>
                  <a:latin typeface="Arial"/>
                  <a:ea typeface="Arial"/>
                  <a:cs typeface="Arial"/>
                  <a:sym typeface="Arial"/>
                </a:rPr>
                <a:t>2</a:t>
              </a:r>
            </a:p>
          </p:txBody>
        </p:sp>
      </p:grpSp>
      <p:grpSp>
        <p:nvGrpSpPr>
          <p:cNvPr name="Group 11" id="11"/>
          <p:cNvGrpSpPr/>
          <p:nvPr/>
        </p:nvGrpSpPr>
        <p:grpSpPr>
          <a:xfrm rot="0">
            <a:off x="502444" y="9874129"/>
            <a:ext cx="1620002" cy="269996"/>
            <a:chOff x="0" y="0"/>
            <a:chExt cx="2160003" cy="359994"/>
          </a:xfrm>
        </p:grpSpPr>
        <p:sp>
          <p:nvSpPr>
            <p:cNvPr name="Freeform 12" id="12"/>
            <p:cNvSpPr/>
            <p:nvPr/>
          </p:nvSpPr>
          <p:spPr>
            <a:xfrm flipH="false" flipV="false" rot="0">
              <a:off x="0" y="0"/>
              <a:ext cx="2160000" cy="360000"/>
            </a:xfrm>
            <a:custGeom>
              <a:avLst/>
              <a:gdLst/>
              <a:ahLst/>
              <a:cxnLst/>
              <a:rect r="r" b="b" t="t" l="l"/>
              <a:pathLst>
                <a:path h="360000" w="2160000">
                  <a:moveTo>
                    <a:pt x="0" y="0"/>
                  </a:moveTo>
                  <a:lnTo>
                    <a:pt x="2160000" y="0"/>
                  </a:lnTo>
                  <a:lnTo>
                    <a:pt x="2160000" y="360000"/>
                  </a:lnTo>
                  <a:lnTo>
                    <a:pt x="0" y="360000"/>
                  </a:lnTo>
                  <a:close/>
                </a:path>
              </a:pathLst>
            </a:custGeom>
            <a:blipFill>
              <a:blip r:embed="rId3">
                <a:alphaModFix amt="0"/>
              </a:blip>
              <a:stretch>
                <a:fillRect l="0" t="-66911" r="0" b="-66909"/>
              </a:stretch>
            </a:blipFill>
          </p:spPr>
        </p:sp>
        <p:sp>
          <p:nvSpPr>
            <p:cNvPr name="TextBox 13" id="13"/>
            <p:cNvSpPr txBox="true"/>
            <p:nvPr/>
          </p:nvSpPr>
          <p:spPr>
            <a:xfrm>
              <a:off x="0" y="-19050"/>
              <a:ext cx="2160003" cy="379044"/>
            </a:xfrm>
            <a:prstGeom prst="rect">
              <a:avLst/>
            </a:prstGeom>
          </p:spPr>
          <p:txBody>
            <a:bodyPr anchor="b" rtlCol="false" tIns="0" lIns="0" bIns="0" rIns="0"/>
            <a:lstStyle/>
            <a:p>
              <a:pPr algn="l">
                <a:lnSpc>
                  <a:spcPts val="1439"/>
                </a:lnSpc>
              </a:pPr>
              <a:r>
                <a:rPr lang="en-US" sz="1200">
                  <a:solidFill>
                    <a:srgbClr val="808080"/>
                  </a:solidFill>
                  <a:latin typeface="Arial"/>
                  <a:ea typeface="Arial"/>
                  <a:cs typeface="Arial"/>
                  <a:sym typeface="Arial"/>
                </a:rPr>
                <a:t>© 2026 ProcDNA</a:t>
              </a:r>
            </a:p>
          </p:txBody>
        </p:sp>
      </p:grpSp>
      <p:grpSp>
        <p:nvGrpSpPr>
          <p:cNvPr name="Group 14" id="14"/>
          <p:cNvGrpSpPr/>
          <p:nvPr/>
        </p:nvGrpSpPr>
        <p:grpSpPr>
          <a:xfrm rot="0">
            <a:off x="542287" y="1984296"/>
            <a:ext cx="17203436" cy="2575004"/>
            <a:chOff x="0" y="0"/>
            <a:chExt cx="22937914" cy="3433338"/>
          </a:xfrm>
        </p:grpSpPr>
        <p:sp>
          <p:nvSpPr>
            <p:cNvPr name="Freeform 15" id="15"/>
            <p:cNvSpPr/>
            <p:nvPr/>
          </p:nvSpPr>
          <p:spPr>
            <a:xfrm flipH="false" flipV="false" rot="0">
              <a:off x="0" y="0"/>
              <a:ext cx="22937851" cy="3433313"/>
            </a:xfrm>
            <a:custGeom>
              <a:avLst/>
              <a:gdLst/>
              <a:ahLst/>
              <a:cxnLst/>
              <a:rect r="r" b="b" t="t" l="l"/>
              <a:pathLst>
                <a:path h="3433313" w="22937851">
                  <a:moveTo>
                    <a:pt x="0" y="0"/>
                  </a:moveTo>
                  <a:lnTo>
                    <a:pt x="22937851" y="0"/>
                  </a:lnTo>
                  <a:lnTo>
                    <a:pt x="22937851" y="3433313"/>
                  </a:lnTo>
                  <a:lnTo>
                    <a:pt x="0" y="3433313"/>
                  </a:lnTo>
                  <a:close/>
                </a:path>
              </a:pathLst>
            </a:custGeom>
            <a:solidFill>
              <a:srgbClr val="C6E9FF"/>
            </a:solidFill>
          </p:spPr>
        </p:sp>
        <p:sp>
          <p:nvSpPr>
            <p:cNvPr name="TextBox 16" id="16"/>
            <p:cNvSpPr txBox="true"/>
            <p:nvPr/>
          </p:nvSpPr>
          <p:spPr>
            <a:xfrm>
              <a:off x="0" y="-19050"/>
              <a:ext cx="22937914" cy="3452388"/>
            </a:xfrm>
            <a:prstGeom prst="rect">
              <a:avLst/>
            </a:prstGeom>
          </p:spPr>
          <p:txBody>
            <a:bodyPr anchor="t" rtlCol="false" tIns="50800" lIns="50800" bIns="50800" rIns="50800"/>
            <a:lstStyle/>
            <a:p>
              <a:pPr algn="l">
                <a:lnSpc>
                  <a:spcPts val="3240"/>
                </a:lnSpc>
              </a:pPr>
              <a:r>
                <a:rPr lang="en-US" sz="2700" b="true">
                  <a:solidFill>
                    <a:srgbClr val="000000"/>
                  </a:solidFill>
                  <a:latin typeface="Arial Bold"/>
                  <a:ea typeface="Arial Bold"/>
                  <a:cs typeface="Arial Bold"/>
                  <a:sym typeface="Arial Bold"/>
                </a:rPr>
                <a:t>Business Overview:</a:t>
              </a:r>
            </a:p>
            <a:p>
              <a:pPr algn="l" marL="407194" indent="-203597" lvl="1">
                <a:lnSpc>
                  <a:spcPts val="2700"/>
                </a:lnSpc>
                <a:buFont typeface="Arial"/>
                <a:buChar char="•"/>
              </a:pPr>
              <a:r>
                <a:rPr lang="en-US" b="true" sz="2250">
                  <a:solidFill>
                    <a:srgbClr val="000000"/>
                  </a:solidFill>
                  <a:latin typeface="Arial Bold"/>
                  <a:ea typeface="Arial Bold"/>
                  <a:cs typeface="Arial Bold"/>
                  <a:sym typeface="Arial Bold"/>
                </a:rPr>
                <a:t>PrimeRx</a:t>
              </a:r>
              <a:r>
                <a:rPr lang="en-US" sz="2250">
                  <a:solidFill>
                    <a:srgbClr val="000000"/>
                  </a:solidFill>
                  <a:latin typeface="Arial"/>
                  <a:ea typeface="Arial"/>
                  <a:cs typeface="Arial"/>
                  <a:sym typeface="Arial"/>
                </a:rPr>
                <a:t> is a pharmaceutical company operating across the U.S. healthcare landscape, and its flagship product is </a:t>
              </a:r>
              <a:r>
                <a:rPr lang="en-US" b="true" sz="2250">
                  <a:solidFill>
                    <a:srgbClr val="000000"/>
                  </a:solidFill>
                  <a:latin typeface="Arial Bold"/>
                  <a:ea typeface="Arial Bold"/>
                  <a:cs typeface="Arial Bold"/>
                  <a:sym typeface="Arial Bold"/>
                </a:rPr>
                <a:t>Nexavir</a:t>
              </a:r>
              <a:r>
                <a:rPr lang="en-US" sz="2250">
                  <a:solidFill>
                    <a:srgbClr val="000000"/>
                  </a:solidFill>
                  <a:latin typeface="Arial"/>
                  <a:ea typeface="Arial"/>
                  <a:cs typeface="Arial"/>
                  <a:sym typeface="Arial"/>
                </a:rPr>
                <a:t> (DRG001), a treatment designed for high clinical need and broad prescriber adoption.</a:t>
              </a:r>
            </a:p>
            <a:p>
              <a:pPr algn="l" marL="407194" indent="-203597" lvl="1">
                <a:lnSpc>
                  <a:spcPts val="2700"/>
                </a:lnSpc>
                <a:buFont typeface="Arial"/>
                <a:buChar char="•"/>
              </a:pPr>
              <a:r>
                <a:rPr lang="en-US" sz="2250">
                  <a:solidFill>
                    <a:srgbClr val="000000"/>
                  </a:solidFill>
                  <a:latin typeface="Arial"/>
                  <a:ea typeface="Arial"/>
                  <a:cs typeface="Arial"/>
                  <a:sym typeface="Arial"/>
                </a:rPr>
                <a:t>You have been assigned to analyze PrimeRx’s Rx flow, HCP, account, sales, and alert datasets collected over the last 18 months and provide recommendations to help the sales team act on the most valuable commercial opportunities.</a:t>
              </a:r>
            </a:p>
          </p:txBody>
        </p:sp>
      </p:grpSp>
      <p:grpSp>
        <p:nvGrpSpPr>
          <p:cNvPr name="Group 17" id="17"/>
          <p:cNvGrpSpPr/>
          <p:nvPr/>
        </p:nvGrpSpPr>
        <p:grpSpPr>
          <a:xfrm rot="0">
            <a:off x="542287" y="4947266"/>
            <a:ext cx="17203436" cy="3637948"/>
            <a:chOff x="0" y="0"/>
            <a:chExt cx="22937914" cy="4850598"/>
          </a:xfrm>
        </p:grpSpPr>
        <p:sp>
          <p:nvSpPr>
            <p:cNvPr name="Freeform 18" id="18"/>
            <p:cNvSpPr/>
            <p:nvPr/>
          </p:nvSpPr>
          <p:spPr>
            <a:xfrm flipH="false" flipV="false" rot="0">
              <a:off x="0" y="0"/>
              <a:ext cx="22937851" cy="4850636"/>
            </a:xfrm>
            <a:custGeom>
              <a:avLst/>
              <a:gdLst/>
              <a:ahLst/>
              <a:cxnLst/>
              <a:rect r="r" b="b" t="t" l="l"/>
              <a:pathLst>
                <a:path h="4850636" w="22937851">
                  <a:moveTo>
                    <a:pt x="0" y="0"/>
                  </a:moveTo>
                  <a:lnTo>
                    <a:pt x="22937851" y="0"/>
                  </a:lnTo>
                  <a:lnTo>
                    <a:pt x="22937851" y="4850636"/>
                  </a:lnTo>
                  <a:lnTo>
                    <a:pt x="0" y="4850636"/>
                  </a:lnTo>
                  <a:close/>
                </a:path>
              </a:pathLst>
            </a:custGeom>
            <a:solidFill>
              <a:srgbClr val="FFE8D1"/>
            </a:solidFill>
          </p:spPr>
        </p:sp>
        <p:sp>
          <p:nvSpPr>
            <p:cNvPr name="TextBox 19" id="19"/>
            <p:cNvSpPr txBox="true"/>
            <p:nvPr/>
          </p:nvSpPr>
          <p:spPr>
            <a:xfrm>
              <a:off x="0" y="-19050"/>
              <a:ext cx="22937914" cy="4869648"/>
            </a:xfrm>
            <a:prstGeom prst="rect">
              <a:avLst/>
            </a:prstGeom>
          </p:spPr>
          <p:txBody>
            <a:bodyPr anchor="t" rtlCol="false" tIns="50800" lIns="50800" bIns="50800" rIns="50800"/>
            <a:lstStyle/>
            <a:p>
              <a:pPr algn="l">
                <a:lnSpc>
                  <a:spcPts val="3240"/>
                </a:lnSpc>
              </a:pPr>
              <a:r>
                <a:rPr lang="en-US" sz="2700" b="true">
                  <a:solidFill>
                    <a:srgbClr val="000000"/>
                  </a:solidFill>
                  <a:latin typeface="Arial Bold"/>
                  <a:ea typeface="Arial Bold"/>
                  <a:cs typeface="Arial Bold"/>
                  <a:sym typeface="Arial Bold"/>
                </a:rPr>
                <a:t>Case Study Overview:</a:t>
              </a:r>
            </a:p>
            <a:p>
              <a:pPr algn="l">
                <a:lnSpc>
                  <a:spcPts val="2700"/>
                </a:lnSpc>
              </a:pPr>
              <a:r>
                <a:rPr lang="en-US" sz="2250">
                  <a:solidFill>
                    <a:srgbClr val="000000"/>
                  </a:solidFill>
                  <a:latin typeface="Arial"/>
                  <a:ea typeface="Arial"/>
                  <a:cs typeface="Arial"/>
                  <a:sym typeface="Arial"/>
                </a:rPr>
                <a:t>This case study explores a pharma commercial analytics problem: </a:t>
              </a:r>
              <a:r>
                <a:rPr lang="en-US" sz="2250" b="true">
                  <a:solidFill>
                    <a:srgbClr val="000000"/>
                  </a:solidFill>
                  <a:latin typeface="Arial Bold"/>
                  <a:ea typeface="Arial Bold"/>
                  <a:cs typeface="Arial Bold"/>
                  <a:sym typeface="Arial Bold"/>
                </a:rPr>
                <a:t>doctors (HCPs) are diagnosing patients who may need treatment, but not all of them are prescribing our drug</a:t>
              </a:r>
              <a:r>
                <a:rPr lang="en-US" sz="2250">
                  <a:solidFill>
                    <a:srgbClr val="000000"/>
                  </a:solidFill>
                  <a:latin typeface="Arial"/>
                  <a:ea typeface="Arial"/>
                  <a:cs typeface="Arial"/>
                  <a:sym typeface="Arial"/>
                </a:rPr>
                <a:t>.</a:t>
              </a:r>
            </a:p>
            <a:p>
              <a:pPr algn="l">
                <a:lnSpc>
                  <a:spcPts val="2700"/>
                </a:lnSpc>
              </a:pPr>
            </a:p>
            <a:p>
              <a:pPr algn="l">
                <a:lnSpc>
                  <a:spcPts val="2700"/>
                </a:lnSpc>
              </a:pPr>
              <a:r>
                <a:rPr lang="en-US" sz="2250">
                  <a:solidFill>
                    <a:srgbClr val="000000"/>
                  </a:solidFill>
                  <a:latin typeface="Arial"/>
                  <a:ea typeface="Arial"/>
                  <a:cs typeface="Arial"/>
                  <a:sym typeface="Arial"/>
                </a:rPr>
                <a:t>You will use clinical alert, doctor affiliation, and prescription sales data to identify:</a:t>
              </a:r>
            </a:p>
            <a:p>
              <a:pPr algn="l" marL="407194" indent="-203597" lvl="1">
                <a:lnSpc>
                  <a:spcPts val="2700"/>
                </a:lnSpc>
                <a:buFont typeface="Arial"/>
                <a:buChar char="•"/>
              </a:pPr>
              <a:r>
                <a:rPr lang="en-US" sz="2250">
                  <a:solidFill>
                    <a:srgbClr val="000000"/>
                  </a:solidFill>
                  <a:latin typeface="Arial"/>
                  <a:ea typeface="Arial"/>
                  <a:cs typeface="Arial"/>
                  <a:sym typeface="Arial"/>
                </a:rPr>
                <a:t>HCPs and accounts with high prescription and alert activity</a:t>
              </a:r>
            </a:p>
            <a:p>
              <a:pPr algn="l" marL="407194" indent="-203597" lvl="1">
                <a:lnSpc>
                  <a:spcPts val="2700"/>
                </a:lnSpc>
                <a:buFont typeface="Arial"/>
                <a:buChar char="•"/>
              </a:pPr>
              <a:r>
                <a:rPr lang="en-US" sz="2250">
                  <a:solidFill>
                    <a:srgbClr val="000000"/>
                  </a:solidFill>
                  <a:latin typeface="Arial"/>
                  <a:ea typeface="Arial"/>
                  <a:cs typeface="Arial"/>
                  <a:sym typeface="Arial"/>
                </a:rPr>
                <a:t>Doctors receiving strong clinical signals but writing few or no prescriptions</a:t>
              </a:r>
            </a:p>
            <a:p>
              <a:pPr algn="l" marL="407194" indent="-203597" lvl="1">
                <a:lnSpc>
                  <a:spcPts val="2700"/>
                </a:lnSpc>
                <a:buFont typeface="Arial"/>
                <a:buChar char="•"/>
              </a:pPr>
              <a:r>
                <a:rPr lang="en-US" sz="2250">
                  <a:solidFill>
                    <a:srgbClr val="000000"/>
                  </a:solidFill>
                  <a:latin typeface="Arial"/>
                  <a:ea typeface="Arial"/>
                  <a:cs typeface="Arial"/>
                  <a:sym typeface="Arial"/>
                </a:rPr>
                <a:t>Accounts with low prescription activity relative to their doctor base</a:t>
              </a:r>
            </a:p>
            <a:p>
              <a:pPr algn="l" marL="407194" indent="-203597" lvl="1">
                <a:lnSpc>
                  <a:spcPts val="2700"/>
                </a:lnSpc>
                <a:buFont typeface="Arial"/>
                <a:buChar char="•"/>
              </a:pPr>
              <a:r>
                <a:rPr lang="en-US" sz="2250">
                  <a:solidFill>
                    <a:srgbClr val="000000"/>
                  </a:solidFill>
                  <a:latin typeface="Arial"/>
                  <a:ea typeface="Arial"/>
                  <a:cs typeface="Arial"/>
                  <a:sym typeface="Arial"/>
                </a:rPr>
                <a:t>HCPs and accounts that should be prioritized by the sales team</a:t>
              </a:r>
            </a:p>
          </p:txBody>
        </p:sp>
      </p:grpSp>
      <p:grpSp>
        <p:nvGrpSpPr>
          <p:cNvPr name="Group 20" id="20"/>
          <p:cNvGrpSpPr/>
          <p:nvPr/>
        </p:nvGrpSpPr>
        <p:grpSpPr>
          <a:xfrm rot="0">
            <a:off x="542287" y="8966214"/>
            <a:ext cx="17203436" cy="796301"/>
            <a:chOff x="0" y="0"/>
            <a:chExt cx="22937914" cy="1061734"/>
          </a:xfrm>
        </p:grpSpPr>
        <p:sp>
          <p:nvSpPr>
            <p:cNvPr name="Freeform 21" id="21"/>
            <p:cNvSpPr/>
            <p:nvPr/>
          </p:nvSpPr>
          <p:spPr>
            <a:xfrm flipH="false" flipV="false" rot="0">
              <a:off x="0" y="0"/>
              <a:ext cx="22937851" cy="1061747"/>
            </a:xfrm>
            <a:custGeom>
              <a:avLst/>
              <a:gdLst/>
              <a:ahLst/>
              <a:cxnLst/>
              <a:rect r="r" b="b" t="t" l="l"/>
              <a:pathLst>
                <a:path h="1061747" w="22937851">
                  <a:moveTo>
                    <a:pt x="0" y="0"/>
                  </a:moveTo>
                  <a:lnTo>
                    <a:pt x="22937851" y="0"/>
                  </a:lnTo>
                  <a:lnTo>
                    <a:pt x="22937851" y="1061747"/>
                  </a:lnTo>
                  <a:lnTo>
                    <a:pt x="0" y="1061747"/>
                  </a:lnTo>
                  <a:close/>
                </a:path>
              </a:pathLst>
            </a:custGeom>
            <a:solidFill>
              <a:srgbClr val="D3F1DF"/>
            </a:solidFill>
          </p:spPr>
        </p:sp>
        <p:sp>
          <p:nvSpPr>
            <p:cNvPr name="TextBox 22" id="22"/>
            <p:cNvSpPr txBox="true"/>
            <p:nvPr/>
          </p:nvSpPr>
          <p:spPr>
            <a:xfrm>
              <a:off x="0" y="-19050"/>
              <a:ext cx="22937914" cy="1080784"/>
            </a:xfrm>
            <a:prstGeom prst="rect">
              <a:avLst/>
            </a:prstGeom>
          </p:spPr>
          <p:txBody>
            <a:bodyPr anchor="t" rtlCol="false" tIns="50800" lIns="50800" bIns="50800" rIns="50800"/>
            <a:lstStyle/>
            <a:p>
              <a:pPr algn="l">
                <a:lnSpc>
                  <a:spcPts val="2700"/>
                </a:lnSpc>
              </a:pPr>
              <a:r>
                <a:rPr lang="en-US" sz="2250">
                  <a:solidFill>
                    <a:srgbClr val="000000"/>
                  </a:solidFill>
                  <a:latin typeface="Arial"/>
                  <a:ea typeface="Arial"/>
                  <a:cs typeface="Arial"/>
                  <a:sym typeface="Arial"/>
                </a:rPr>
                <a:t>The goal is to connect </a:t>
              </a:r>
              <a:r>
                <a:rPr lang="en-US" sz="2250" b="true">
                  <a:solidFill>
                    <a:srgbClr val="000000"/>
                  </a:solidFill>
                  <a:latin typeface="Arial Bold"/>
                  <a:ea typeface="Arial Bold"/>
                  <a:cs typeface="Arial Bold"/>
                  <a:sym typeface="Arial Bold"/>
                </a:rPr>
                <a:t>diagnostic activity </a:t>
              </a:r>
              <a:r>
                <a:rPr lang="en-US" sz="2250">
                  <a:solidFill>
                    <a:srgbClr val="000000"/>
                  </a:solidFill>
                  <a:latin typeface="Arial"/>
                  <a:ea typeface="Arial"/>
                  <a:cs typeface="Arial"/>
                  <a:sym typeface="Arial"/>
                </a:rPr>
                <a:t>with </a:t>
              </a:r>
              <a:r>
                <a:rPr lang="en-US" sz="2250" b="true">
                  <a:solidFill>
                    <a:srgbClr val="000000"/>
                  </a:solidFill>
                  <a:latin typeface="Arial Bold"/>
                  <a:ea typeface="Arial Bold"/>
                  <a:cs typeface="Arial Bold"/>
                  <a:sym typeface="Arial Bold"/>
                </a:rPr>
                <a:t>prescribing behavior </a:t>
              </a:r>
              <a:r>
                <a:rPr lang="en-US" sz="2250">
                  <a:solidFill>
                    <a:srgbClr val="000000"/>
                  </a:solidFill>
                  <a:latin typeface="Arial"/>
                  <a:ea typeface="Arial"/>
                  <a:cs typeface="Arial"/>
                  <a:sym typeface="Arial"/>
                </a:rPr>
                <a:t>and translate the insights into a clear, data-driven action plan</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4998"/>
            <a:chOff x="0" y="0"/>
            <a:chExt cx="24384000" cy="179997"/>
          </a:xfrm>
        </p:grpSpPr>
        <p:sp>
          <p:nvSpPr>
            <p:cNvPr name="Freeform 3" id="3"/>
            <p:cNvSpPr/>
            <p:nvPr/>
          </p:nvSpPr>
          <p:spPr>
            <a:xfrm flipH="false" flipV="false" rot="0">
              <a:off x="0" y="0"/>
              <a:ext cx="24384000" cy="179959"/>
            </a:xfrm>
            <a:custGeom>
              <a:avLst/>
              <a:gdLst/>
              <a:ahLst/>
              <a:cxnLst/>
              <a:rect r="r" b="b" t="t" l="l"/>
              <a:pathLst>
                <a:path h="179959" w="24384000">
                  <a:moveTo>
                    <a:pt x="0" y="0"/>
                  </a:moveTo>
                  <a:lnTo>
                    <a:pt x="24384000" y="0"/>
                  </a:lnTo>
                  <a:lnTo>
                    <a:pt x="24384000" y="179959"/>
                  </a:lnTo>
                  <a:lnTo>
                    <a:pt x="0" y="179959"/>
                  </a:lnTo>
                  <a:close/>
                </a:path>
              </a:pathLst>
            </a:custGeom>
            <a:gradFill rotWithShape="true">
              <a:gsLst>
                <a:gs pos="0">
                  <a:srgbClr val="005CD9">
                    <a:alpha val="100000"/>
                  </a:srgbClr>
                </a:gs>
                <a:gs pos="50000">
                  <a:srgbClr val="007ECC">
                    <a:alpha val="100000"/>
                  </a:srgbClr>
                </a:gs>
                <a:gs pos="100000">
                  <a:srgbClr val="001E96">
                    <a:alpha val="100000"/>
                  </a:srgbClr>
                </a:gs>
              </a:gsLst>
              <a:lin ang="0"/>
            </a:gradFill>
          </p:spPr>
        </p:sp>
      </p:grpSp>
      <p:sp>
        <p:nvSpPr>
          <p:cNvPr name="AutoShape 4" id="4"/>
          <p:cNvSpPr/>
          <p:nvPr/>
        </p:nvSpPr>
        <p:spPr>
          <a:xfrm rot="3780">
            <a:off x="492919" y="1755696"/>
            <a:ext cx="17299057" cy="0"/>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502444" y="613600"/>
            <a:ext cx="17279998" cy="989457"/>
            <a:chOff x="0" y="0"/>
            <a:chExt cx="23039997" cy="1319276"/>
          </a:xfrm>
        </p:grpSpPr>
        <p:sp>
          <p:nvSpPr>
            <p:cNvPr name="Freeform 6" id="6"/>
            <p:cNvSpPr/>
            <p:nvPr/>
          </p:nvSpPr>
          <p:spPr>
            <a:xfrm flipH="false" flipV="false" rot="0">
              <a:off x="0" y="0"/>
              <a:ext cx="23040000" cy="1319272"/>
            </a:xfrm>
            <a:custGeom>
              <a:avLst/>
              <a:gdLst/>
              <a:ahLst/>
              <a:cxnLst/>
              <a:rect r="r" b="b" t="t" l="l"/>
              <a:pathLst>
                <a:path h="1319272" w="23040000">
                  <a:moveTo>
                    <a:pt x="0" y="0"/>
                  </a:moveTo>
                  <a:lnTo>
                    <a:pt x="23040000" y="0"/>
                  </a:lnTo>
                  <a:lnTo>
                    <a:pt x="23040000" y="1319272"/>
                  </a:lnTo>
                  <a:lnTo>
                    <a:pt x="0" y="1319272"/>
                  </a:lnTo>
                  <a:close/>
                </a:path>
              </a:pathLst>
            </a:custGeom>
            <a:blipFill>
              <a:blip r:embed="rId3">
                <a:alphaModFix amt="0"/>
              </a:blip>
              <a:stretch>
                <a:fillRect l="0" t="-290289" r="0" b="-290290"/>
              </a:stretch>
            </a:blipFill>
          </p:spPr>
        </p:sp>
        <p:sp>
          <p:nvSpPr>
            <p:cNvPr name="TextBox 7" id="7"/>
            <p:cNvSpPr txBox="true"/>
            <p:nvPr/>
          </p:nvSpPr>
          <p:spPr>
            <a:xfrm>
              <a:off x="0" y="9525"/>
              <a:ext cx="23039997" cy="1309751"/>
            </a:xfrm>
            <a:prstGeom prst="rect">
              <a:avLst/>
            </a:prstGeom>
          </p:spPr>
          <p:txBody>
            <a:bodyPr anchor="b" rtlCol="false" tIns="0" lIns="0" bIns="0" rIns="0"/>
            <a:lstStyle/>
            <a:p>
              <a:pPr algn="l">
                <a:lnSpc>
                  <a:spcPts val="3564"/>
                </a:lnSpc>
              </a:pPr>
              <a:r>
                <a:rPr lang="en-US" sz="3300" b="true">
                  <a:solidFill>
                    <a:srgbClr val="001E96"/>
                  </a:solidFill>
                  <a:latin typeface="Arial Bold"/>
                  <a:ea typeface="Arial Bold"/>
                  <a:cs typeface="Arial Bold"/>
                  <a:sym typeface="Arial Bold"/>
                </a:rPr>
                <a:t>PrimeRx Flow – Datasets Overview</a:t>
              </a:r>
            </a:p>
          </p:txBody>
        </p:sp>
      </p:grpSp>
      <p:grpSp>
        <p:nvGrpSpPr>
          <p:cNvPr name="Group 8" id="8"/>
          <p:cNvGrpSpPr/>
          <p:nvPr/>
        </p:nvGrpSpPr>
        <p:grpSpPr>
          <a:xfrm rot="0">
            <a:off x="502444" y="9874129"/>
            <a:ext cx="1620002" cy="269996"/>
            <a:chOff x="0" y="0"/>
            <a:chExt cx="2160003" cy="359994"/>
          </a:xfrm>
        </p:grpSpPr>
        <p:sp>
          <p:nvSpPr>
            <p:cNvPr name="Freeform 9" id="9"/>
            <p:cNvSpPr/>
            <p:nvPr/>
          </p:nvSpPr>
          <p:spPr>
            <a:xfrm flipH="false" flipV="false" rot="0">
              <a:off x="0" y="0"/>
              <a:ext cx="2160000" cy="360000"/>
            </a:xfrm>
            <a:custGeom>
              <a:avLst/>
              <a:gdLst/>
              <a:ahLst/>
              <a:cxnLst/>
              <a:rect r="r" b="b" t="t" l="l"/>
              <a:pathLst>
                <a:path h="360000" w="2160000">
                  <a:moveTo>
                    <a:pt x="0" y="0"/>
                  </a:moveTo>
                  <a:lnTo>
                    <a:pt x="2160000" y="0"/>
                  </a:lnTo>
                  <a:lnTo>
                    <a:pt x="2160000" y="360000"/>
                  </a:lnTo>
                  <a:lnTo>
                    <a:pt x="0" y="360000"/>
                  </a:lnTo>
                  <a:close/>
                </a:path>
              </a:pathLst>
            </a:custGeom>
            <a:blipFill>
              <a:blip r:embed="rId3">
                <a:alphaModFix amt="0"/>
              </a:blip>
              <a:stretch>
                <a:fillRect l="0" t="-66911" r="0" b="-66909"/>
              </a:stretch>
            </a:blipFill>
          </p:spPr>
        </p:sp>
        <p:sp>
          <p:nvSpPr>
            <p:cNvPr name="TextBox 10" id="10"/>
            <p:cNvSpPr txBox="true"/>
            <p:nvPr/>
          </p:nvSpPr>
          <p:spPr>
            <a:xfrm>
              <a:off x="0" y="-19050"/>
              <a:ext cx="2160003" cy="379044"/>
            </a:xfrm>
            <a:prstGeom prst="rect">
              <a:avLst/>
            </a:prstGeom>
          </p:spPr>
          <p:txBody>
            <a:bodyPr anchor="b" rtlCol="false" tIns="0" lIns="0" bIns="0" rIns="0"/>
            <a:lstStyle/>
            <a:p>
              <a:pPr algn="l">
                <a:lnSpc>
                  <a:spcPts val="1439"/>
                </a:lnSpc>
              </a:pPr>
              <a:r>
                <a:rPr lang="en-US" sz="1200">
                  <a:solidFill>
                    <a:srgbClr val="808080"/>
                  </a:solidFill>
                  <a:latin typeface="Arial"/>
                  <a:ea typeface="Arial"/>
                  <a:cs typeface="Arial"/>
                  <a:sym typeface="Arial"/>
                </a:rPr>
                <a:t>© 2026 ProcDNA</a:t>
              </a:r>
            </a:p>
          </p:txBody>
        </p:sp>
      </p:grpSp>
      <p:graphicFrame>
        <p:nvGraphicFramePr>
          <p:cNvPr name="Table 11" id="11"/>
          <p:cNvGraphicFramePr>
            <a:graphicFrameLocks noGrp="true"/>
          </p:cNvGraphicFramePr>
          <p:nvPr/>
        </p:nvGraphicFramePr>
        <p:xfrm>
          <a:off x="502444" y="4735406"/>
          <a:ext cx="17297400" cy="4819650"/>
        </p:xfrm>
        <a:graphic>
          <a:graphicData uri="http://schemas.openxmlformats.org/drawingml/2006/table">
            <a:tbl>
              <a:tblPr/>
              <a:tblGrid>
                <a:gridCol w="1851687"/>
                <a:gridCol w="2024703"/>
                <a:gridCol w="6376712"/>
                <a:gridCol w="7044298"/>
              </a:tblGrid>
              <a:tr h="409513">
                <a:tc>
                  <a:txBody>
                    <a:bodyPr anchor="t" rtlCol="false"/>
                    <a:lstStyle/>
                    <a:p>
                      <a:pPr algn="ctr">
                        <a:lnSpc>
                          <a:spcPts val="2160"/>
                        </a:lnSpc>
                        <a:defRPr/>
                      </a:pPr>
                      <a:r>
                        <a:rPr lang="en-US" sz="1800">
                          <a:solidFill>
                            <a:srgbClr val="FFFFFF"/>
                          </a:solidFill>
                          <a:latin typeface="Arial"/>
                          <a:ea typeface="Arial"/>
                          <a:cs typeface="Arial"/>
                          <a:sym typeface="Arial"/>
                        </a:rPr>
                        <a:t>Dataset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01E96"/>
                    </a:solidFill>
                  </a:tcPr>
                </a:tc>
                <a:tc>
                  <a:txBody>
                    <a:bodyPr anchor="t" rtlCol="false"/>
                    <a:lstStyle/>
                    <a:p>
                      <a:pPr algn="ctr">
                        <a:lnSpc>
                          <a:spcPts val="2160"/>
                        </a:lnSpc>
                        <a:defRPr/>
                      </a:pPr>
                      <a:r>
                        <a:rPr lang="en-US" sz="1800">
                          <a:solidFill>
                            <a:srgbClr val="FFFFFF"/>
                          </a:solidFill>
                          <a:latin typeface="Arial"/>
                          <a:ea typeface="Arial"/>
                          <a:cs typeface="Arial"/>
                          <a:sym typeface="Arial"/>
                        </a:rPr>
                        <a:t>Rows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01E96"/>
                    </a:solidFill>
                  </a:tcPr>
                </a:tc>
                <a:tc>
                  <a:txBody>
                    <a:bodyPr anchor="t" rtlCol="false"/>
                    <a:lstStyle/>
                    <a:p>
                      <a:pPr algn="ctr">
                        <a:lnSpc>
                          <a:spcPts val="2160"/>
                        </a:lnSpc>
                        <a:defRPr/>
                      </a:pPr>
                      <a:r>
                        <a:rPr lang="en-US" sz="1800">
                          <a:solidFill>
                            <a:srgbClr val="FFFFFF"/>
                          </a:solidFill>
                          <a:latin typeface="Arial"/>
                          <a:ea typeface="Arial"/>
                          <a:cs typeface="Arial"/>
                          <a:sym typeface="Arial"/>
                        </a:rPr>
                        <a:t>Key Columns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01E96"/>
                    </a:solidFill>
                  </a:tcPr>
                </a:tc>
                <a:tc>
                  <a:txBody>
                    <a:bodyPr anchor="t" rtlCol="false"/>
                    <a:lstStyle/>
                    <a:p>
                      <a:pPr algn="ctr">
                        <a:lnSpc>
                          <a:spcPts val="2160"/>
                        </a:lnSpc>
                        <a:defRPr/>
                      </a:pPr>
                      <a:r>
                        <a:rPr lang="en-US" sz="1800">
                          <a:solidFill>
                            <a:srgbClr val="FFFFFF"/>
                          </a:solidFill>
                          <a:latin typeface="Arial"/>
                          <a:ea typeface="Arial"/>
                          <a:cs typeface="Arial"/>
                          <a:sym typeface="Arial"/>
                        </a:rPr>
                        <a:t>Dataset Purpose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01E96"/>
                    </a:solidFill>
                  </a:tcPr>
                </a:tc>
              </a:tr>
              <a:tr h="1361200">
                <a:tc>
                  <a:txBody>
                    <a:bodyPr anchor="t" rtlCol="false"/>
                    <a:lstStyle/>
                    <a:p>
                      <a:pPr algn="ctr">
                        <a:lnSpc>
                          <a:spcPts val="2160"/>
                        </a:lnSpc>
                        <a:defRPr/>
                      </a:pPr>
                      <a:r>
                        <a:rPr lang="en-US" sz="1800">
                          <a:solidFill>
                            <a:srgbClr val="000000"/>
                          </a:solidFill>
                          <a:latin typeface="Arial"/>
                          <a:ea typeface="Arial"/>
                          <a:cs typeface="Arial"/>
                          <a:sym typeface="Arial"/>
                        </a:rPr>
                        <a:t>Alerts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3175">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6E9FF"/>
                    </a:solidFill>
                  </a:tcPr>
                </a:tc>
                <a:tc>
                  <a:txBody>
                    <a:bodyPr anchor="t" rtlCol="false"/>
                    <a:lstStyle/>
                    <a:p>
                      <a:pPr algn="ctr">
                        <a:lnSpc>
                          <a:spcPts val="2160"/>
                        </a:lnSpc>
                        <a:defRPr/>
                      </a:pPr>
                      <a:r>
                        <a:rPr lang="en-US" sz="1800">
                          <a:solidFill>
                            <a:srgbClr val="000000"/>
                          </a:solidFill>
                          <a:latin typeface="Arial"/>
                          <a:ea typeface="Arial"/>
                          <a:cs typeface="Arial"/>
                          <a:sym typeface="Arial"/>
                        </a:rPr>
                        <a:t>9,537</a:t>
                      </a:r>
                      <a:endParaRPr lang="en-US" sz="1100"/>
                    </a:p>
                  </a:txBody>
                  <a:tcPr marL="91440" marR="91440" marT="91440" marB="91440" anchor="ctr">
                    <a:lnL cmpd="sng" algn="ctr" cap="flat" w="3175">
                      <a:solidFill>
                        <a:srgbClr val="000000"/>
                      </a:solidFill>
                      <a:prstDash val="solid"/>
                      <a:round/>
                      <a:headEnd type="none" w="med" len="med"/>
                      <a:tailEnd type="none" w="med" len="med"/>
                    </a:lnL>
                    <a:lnR cmpd="sng" algn="ctr" cap="flat" w="3175">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l">
                        <a:lnSpc>
                          <a:spcPts val="2160"/>
                        </a:lnSpc>
                        <a:defRPr/>
                      </a:pPr>
                      <a:r>
                        <a:rPr lang="en-US" sz="1800">
                          <a:solidFill>
                            <a:srgbClr val="000000"/>
                          </a:solidFill>
                          <a:latin typeface="Arial"/>
                          <a:ea typeface="Arial"/>
                          <a:cs typeface="Arial"/>
                          <a:sym typeface="Arial"/>
                        </a:rPr>
                        <a:t>Alert_ID (unique alert), </a:t>
                      </a:r>
                      <a:endParaRPr lang="en-US" sz="1100"/>
                    </a:p>
                    <a:p>
                      <a:pPr algn="l">
                        <a:lnSpc>
                          <a:spcPts val="2160"/>
                        </a:lnSpc>
                      </a:pPr>
                      <a:r>
                        <a:rPr lang="en-US" sz="1800">
                          <a:solidFill>
                            <a:srgbClr val="000000"/>
                          </a:solidFill>
                          <a:latin typeface="Arial"/>
                          <a:ea typeface="Arial"/>
                          <a:cs typeface="Arial"/>
                          <a:sym typeface="Arial"/>
                        </a:rPr>
                        <a:t>Alert_Date, </a:t>
                      </a:r>
                    </a:p>
                    <a:p>
                      <a:pPr algn="l">
                        <a:lnSpc>
                          <a:spcPts val="2160"/>
                        </a:lnSpc>
                      </a:pPr>
                      <a:r>
                        <a:rPr lang="en-US" sz="1800">
                          <a:solidFill>
                            <a:srgbClr val="000000"/>
                          </a:solidFill>
                          <a:latin typeface="Arial"/>
                          <a:ea typeface="Arial"/>
                          <a:cs typeface="Arial"/>
                          <a:sym typeface="Arial"/>
                        </a:rPr>
                        <a:t>HCP_ID, </a:t>
                      </a:r>
                    </a:p>
                    <a:p>
                      <a:pPr algn="l">
                        <a:lnSpc>
                          <a:spcPts val="2160"/>
                        </a:lnSpc>
                      </a:pPr>
                      <a:r>
                        <a:rPr lang="en-US" sz="1800">
                          <a:solidFill>
                            <a:srgbClr val="000000"/>
                          </a:solidFill>
                          <a:latin typeface="Arial"/>
                          <a:ea typeface="Arial"/>
                          <a:cs typeface="Arial"/>
                          <a:sym typeface="Arial"/>
                        </a:rPr>
                        <a:t>Lab_Result (positive/negative)</a:t>
                      </a:r>
                    </a:p>
                  </a:txBody>
                  <a:tcPr marL="91440" marR="91440" marT="91440" marB="91440" anchor="ctr">
                    <a:lnL cmpd="sng" algn="ctr" cap="flat" w="3175">
                      <a:solidFill>
                        <a:srgbClr val="000000"/>
                      </a:solidFill>
                      <a:prstDash val="solid"/>
                      <a:round/>
                      <a:headEnd type="none" w="med" len="med"/>
                      <a:tailEnd type="none" w="med" len="med"/>
                    </a:lnL>
                    <a:lnR cmpd="sng" algn="ctr" cap="flat" w="3175">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000000"/>
                          </a:solidFill>
                          <a:latin typeface="Arial"/>
                          <a:ea typeface="Arial"/>
                          <a:cs typeface="Arial"/>
                          <a:sym typeface="Arial"/>
                        </a:rPr>
                        <a:t>Clinical alerts tied to doctors indicating potential treatment need</a:t>
                      </a:r>
                      <a:endParaRPr lang="en-US" sz="1100"/>
                    </a:p>
                  </a:txBody>
                  <a:tcPr marL="91440" marR="91440" marT="91440" marB="91440" anchor="ctr">
                    <a:lnL cmpd="sng" algn="ctr" cap="flat" w="3175">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2000312">
                <a:tc>
                  <a:txBody>
                    <a:bodyPr anchor="t" rtlCol="false"/>
                    <a:lstStyle/>
                    <a:p>
                      <a:pPr algn="ctr">
                        <a:lnSpc>
                          <a:spcPts val="2160"/>
                        </a:lnSpc>
                        <a:defRPr/>
                      </a:pPr>
                      <a:r>
                        <a:rPr lang="en-US" sz="1800">
                          <a:solidFill>
                            <a:srgbClr val="000000"/>
                          </a:solidFill>
                          <a:latin typeface="Arial"/>
                          <a:ea typeface="Arial"/>
                          <a:cs typeface="Arial"/>
                          <a:sym typeface="Arial"/>
                        </a:rPr>
                        <a:t>Sales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317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6E9FF"/>
                    </a:solidFill>
                  </a:tcPr>
                </a:tc>
                <a:tc>
                  <a:txBody>
                    <a:bodyPr anchor="t" rtlCol="false"/>
                    <a:lstStyle/>
                    <a:p>
                      <a:pPr algn="ctr">
                        <a:lnSpc>
                          <a:spcPts val="2160"/>
                        </a:lnSpc>
                        <a:defRPr/>
                      </a:pPr>
                      <a:r>
                        <a:rPr lang="en-US" sz="1800">
                          <a:solidFill>
                            <a:srgbClr val="000000"/>
                          </a:solidFill>
                          <a:latin typeface="Arial"/>
                          <a:ea typeface="Arial"/>
                          <a:cs typeface="Arial"/>
                          <a:sym typeface="Arial"/>
                        </a:rPr>
                        <a:t>5,917</a:t>
                      </a:r>
                      <a:endParaRPr lang="en-US" sz="1100"/>
                    </a:p>
                  </a:txBody>
                  <a:tcPr marL="91440" marR="91440" marT="91440" marB="91440" anchor="ctr">
                    <a:lnL cmpd="sng" algn="ctr" cap="flat" w="3175">
                      <a:solidFill>
                        <a:srgbClr val="000000"/>
                      </a:solidFill>
                      <a:prstDash val="solid"/>
                      <a:round/>
                      <a:headEnd type="none" w="med" len="med"/>
                      <a:tailEnd type="none" w="med" len="med"/>
                    </a:lnL>
                    <a:lnR cmpd="sng" algn="ctr" cap="flat" w="317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l">
                        <a:lnSpc>
                          <a:spcPts val="2160"/>
                        </a:lnSpc>
                        <a:defRPr/>
                      </a:pPr>
                      <a:r>
                        <a:rPr lang="en-US" sz="1800">
                          <a:solidFill>
                            <a:srgbClr val="000000"/>
                          </a:solidFill>
                          <a:latin typeface="Arial"/>
                          <a:ea typeface="Arial"/>
                          <a:cs typeface="Arial"/>
                          <a:sym typeface="Arial"/>
                        </a:rPr>
                        <a:t>Prescription_ID (unique Rx event), </a:t>
                      </a:r>
                      <a:endParaRPr lang="en-US" sz="1100"/>
                    </a:p>
                    <a:p>
                      <a:pPr algn="l">
                        <a:lnSpc>
                          <a:spcPts val="2160"/>
                        </a:lnSpc>
                      </a:pPr>
                      <a:r>
                        <a:rPr lang="en-US" sz="1800">
                          <a:solidFill>
                            <a:srgbClr val="000000"/>
                          </a:solidFill>
                          <a:latin typeface="Arial"/>
                          <a:ea typeface="Arial"/>
                          <a:cs typeface="Arial"/>
                          <a:sym typeface="Arial"/>
                        </a:rPr>
                        <a:t>Prescription_Date, </a:t>
                      </a:r>
                    </a:p>
                    <a:p>
                      <a:pPr algn="l">
                        <a:lnSpc>
                          <a:spcPts val="2160"/>
                        </a:lnSpc>
                      </a:pPr>
                      <a:r>
                        <a:rPr lang="en-US" sz="1800">
                          <a:solidFill>
                            <a:srgbClr val="000000"/>
                          </a:solidFill>
                          <a:latin typeface="Arial"/>
                          <a:ea typeface="Arial"/>
                          <a:cs typeface="Arial"/>
                          <a:sym typeface="Arial"/>
                        </a:rPr>
                        <a:t>HCP_ID, </a:t>
                      </a:r>
                    </a:p>
                    <a:p>
                      <a:pPr algn="l">
                        <a:lnSpc>
                          <a:spcPts val="2160"/>
                        </a:lnSpc>
                      </a:pPr>
                      <a:r>
                        <a:rPr lang="en-US" sz="1800">
                          <a:solidFill>
                            <a:srgbClr val="000000"/>
                          </a:solidFill>
                          <a:latin typeface="Arial"/>
                          <a:ea typeface="Arial"/>
                          <a:cs typeface="Arial"/>
                          <a:sym typeface="Arial"/>
                        </a:rPr>
                        <a:t>Drug_Name, </a:t>
                      </a:r>
                    </a:p>
                    <a:p>
                      <a:pPr algn="l">
                        <a:lnSpc>
                          <a:spcPts val="2160"/>
                        </a:lnSpc>
                      </a:pPr>
                      <a:r>
                        <a:rPr lang="en-US" sz="1800">
                          <a:solidFill>
                            <a:srgbClr val="000000"/>
                          </a:solidFill>
                          <a:latin typeface="Arial"/>
                          <a:ea typeface="Arial"/>
                          <a:cs typeface="Arial"/>
                          <a:sym typeface="Arial"/>
                        </a:rPr>
                        <a:t>Drug_ID, </a:t>
                      </a:r>
                    </a:p>
                    <a:p>
                      <a:pPr algn="l">
                        <a:lnSpc>
                          <a:spcPts val="2160"/>
                        </a:lnSpc>
                      </a:pPr>
                      <a:r>
                        <a:rPr lang="en-US" sz="1800">
                          <a:solidFill>
                            <a:srgbClr val="000000"/>
                          </a:solidFill>
                          <a:latin typeface="Arial"/>
                          <a:ea typeface="Arial"/>
                          <a:cs typeface="Arial"/>
                          <a:sym typeface="Arial"/>
                        </a:rPr>
                        <a:t>Prescription_Volume (units/scripts prescribed)</a:t>
                      </a:r>
                    </a:p>
                  </a:txBody>
                  <a:tcPr marL="91440" marR="91440" marT="91440" marB="91440" anchor="ctr">
                    <a:lnL cmpd="sng" algn="ctr" cap="flat" w="3175">
                      <a:solidFill>
                        <a:srgbClr val="000000"/>
                      </a:solidFill>
                      <a:prstDash val="solid"/>
                      <a:round/>
                      <a:headEnd type="none" w="med" len="med"/>
                      <a:tailEnd type="none" w="med" len="med"/>
                    </a:lnL>
                    <a:lnR cmpd="sng" algn="ctr" cap="flat" w="317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000000"/>
                          </a:solidFill>
                          <a:latin typeface="Arial"/>
                          <a:ea typeface="Arial"/>
                          <a:cs typeface="Arial"/>
                          <a:sym typeface="Arial"/>
                        </a:rPr>
                        <a:t>Prescription activity across doctors and drugs</a:t>
                      </a:r>
                      <a:endParaRPr lang="en-US" sz="1100"/>
                    </a:p>
                  </a:txBody>
                  <a:tcPr marL="91440" marR="91440" marT="91440" marB="91440" anchor="ctr">
                    <a:lnL cmpd="sng" algn="ctr" cap="flat" w="3175">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1048625">
                <a:tc>
                  <a:txBody>
                    <a:bodyPr anchor="t" rtlCol="false"/>
                    <a:lstStyle/>
                    <a:p>
                      <a:pPr algn="ctr">
                        <a:lnSpc>
                          <a:spcPts val="2160"/>
                        </a:lnSpc>
                        <a:defRPr/>
                      </a:pPr>
                      <a:r>
                        <a:rPr lang="en-US" sz="1800">
                          <a:solidFill>
                            <a:srgbClr val="000000"/>
                          </a:solidFill>
                          <a:latin typeface="Arial"/>
                          <a:ea typeface="Arial"/>
                          <a:cs typeface="Arial"/>
                          <a:sym typeface="Arial"/>
                        </a:rPr>
                        <a:t>Affiliation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317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6E9FF"/>
                    </a:solidFill>
                  </a:tcPr>
                </a:tc>
                <a:tc>
                  <a:txBody>
                    <a:bodyPr anchor="t" rtlCol="false"/>
                    <a:lstStyle/>
                    <a:p>
                      <a:pPr algn="ctr">
                        <a:lnSpc>
                          <a:spcPts val="2160"/>
                        </a:lnSpc>
                        <a:defRPr/>
                      </a:pPr>
                      <a:r>
                        <a:rPr lang="en-US" sz="1800">
                          <a:solidFill>
                            <a:srgbClr val="000000"/>
                          </a:solidFill>
                          <a:latin typeface="Arial"/>
                          <a:ea typeface="Arial"/>
                          <a:cs typeface="Arial"/>
                          <a:sym typeface="Arial"/>
                        </a:rPr>
                        <a:t>216</a:t>
                      </a:r>
                      <a:endParaRPr lang="en-US" sz="1100"/>
                    </a:p>
                  </a:txBody>
                  <a:tcPr marL="91440" marR="91440" marT="91440" marB="91440" anchor="ctr">
                    <a:lnL cmpd="sng" algn="ctr" cap="flat" w="3175">
                      <a:solidFill>
                        <a:srgbClr val="000000"/>
                      </a:solidFill>
                      <a:prstDash val="solid"/>
                      <a:round/>
                      <a:headEnd type="none" w="med" len="med"/>
                      <a:tailEnd type="none" w="med" len="med"/>
                    </a:lnL>
                    <a:lnR cmpd="sng" algn="ctr" cap="flat" w="317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0"/>
                        </a:lnSpc>
                        <a:defRPr/>
                      </a:pPr>
                      <a:r>
                        <a:rPr lang="en-US" sz="1800">
                          <a:solidFill>
                            <a:srgbClr val="000000"/>
                          </a:solidFill>
                          <a:latin typeface="Arial"/>
                          <a:ea typeface="Arial"/>
                          <a:cs typeface="Arial"/>
                          <a:sym typeface="Arial"/>
                        </a:rPr>
                        <a:t>HCP_ID, </a:t>
                      </a:r>
                      <a:endParaRPr lang="en-US" sz="1100"/>
                    </a:p>
                    <a:p>
                      <a:pPr algn="l">
                        <a:lnSpc>
                          <a:spcPts val="2160"/>
                        </a:lnSpc>
                      </a:pPr>
                      <a:r>
                        <a:rPr lang="en-US" sz="1800">
                          <a:solidFill>
                            <a:srgbClr val="000000"/>
                          </a:solidFill>
                          <a:latin typeface="Arial"/>
                          <a:ea typeface="Arial"/>
                          <a:cs typeface="Arial"/>
                          <a:sym typeface="Arial"/>
                        </a:rPr>
                        <a:t>Account_ID, </a:t>
                      </a:r>
                    </a:p>
                    <a:p>
                      <a:pPr algn="l">
                        <a:lnSpc>
                          <a:spcPts val="2160"/>
                        </a:lnSpc>
                      </a:pPr>
                      <a:r>
                        <a:rPr lang="en-US" sz="1800">
                          <a:solidFill>
                            <a:srgbClr val="000000"/>
                          </a:solidFill>
                          <a:latin typeface="Arial"/>
                          <a:ea typeface="Arial"/>
                          <a:cs typeface="Arial"/>
                          <a:sym typeface="Arial"/>
                        </a:rPr>
                        <a:t>Account_Name</a:t>
                      </a:r>
                    </a:p>
                  </a:txBody>
                  <a:tcPr marL="91440" marR="91440" marT="91440" marB="91440" anchor="ctr">
                    <a:lnL cmpd="sng" algn="ctr" cap="flat" w="3175">
                      <a:solidFill>
                        <a:srgbClr val="000000"/>
                      </a:solidFill>
                      <a:prstDash val="solid"/>
                      <a:round/>
                      <a:headEnd type="none" w="med" len="med"/>
                      <a:tailEnd type="none" w="med" len="med"/>
                    </a:lnL>
                    <a:lnR cmpd="sng" algn="ctr" cap="flat" w="317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000000"/>
                          </a:solidFill>
                          <a:latin typeface="Arial"/>
                          <a:ea typeface="Arial"/>
                          <a:cs typeface="Arial"/>
                          <a:sym typeface="Arial"/>
                        </a:rPr>
                        <a:t>Maps doctors to hospitals/clinics/accounts</a:t>
                      </a:r>
                      <a:endParaRPr lang="en-US" sz="1100"/>
                    </a:p>
                  </a:txBody>
                  <a:tcPr marL="91440" marR="91440" marT="91440" marB="91440" anchor="ctr">
                    <a:lnL cmpd="sng" algn="ctr" cap="flat" w="3175">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pSp>
        <p:nvGrpSpPr>
          <p:cNvPr name="Group 12" id="12"/>
          <p:cNvGrpSpPr/>
          <p:nvPr/>
        </p:nvGrpSpPr>
        <p:grpSpPr>
          <a:xfrm rot="0">
            <a:off x="480060" y="1958721"/>
            <a:ext cx="17350740" cy="2606135"/>
            <a:chOff x="0" y="0"/>
            <a:chExt cx="23134320" cy="3474847"/>
          </a:xfrm>
        </p:grpSpPr>
        <p:sp>
          <p:nvSpPr>
            <p:cNvPr name="Freeform 13" id="13"/>
            <p:cNvSpPr/>
            <p:nvPr/>
          </p:nvSpPr>
          <p:spPr>
            <a:xfrm flipH="false" flipV="false" rot="0">
              <a:off x="0" y="0"/>
              <a:ext cx="23134320" cy="3474848"/>
            </a:xfrm>
            <a:custGeom>
              <a:avLst/>
              <a:gdLst/>
              <a:ahLst/>
              <a:cxnLst/>
              <a:rect r="r" b="b" t="t" l="l"/>
              <a:pathLst>
                <a:path h="3474848" w="23134320">
                  <a:moveTo>
                    <a:pt x="0" y="0"/>
                  </a:moveTo>
                  <a:lnTo>
                    <a:pt x="23134320" y="0"/>
                  </a:lnTo>
                  <a:lnTo>
                    <a:pt x="23134320" y="3474848"/>
                  </a:lnTo>
                  <a:lnTo>
                    <a:pt x="0" y="3474848"/>
                  </a:lnTo>
                  <a:close/>
                </a:path>
              </a:pathLst>
            </a:custGeom>
            <a:blipFill>
              <a:blip r:embed="rId3">
                <a:alphaModFix amt="0"/>
              </a:blip>
              <a:stretch>
                <a:fillRect l="0" t="-79724" r="0" b="-79724"/>
              </a:stretch>
            </a:blipFill>
          </p:spPr>
        </p:sp>
        <p:sp>
          <p:nvSpPr>
            <p:cNvPr name="TextBox 14" id="14"/>
            <p:cNvSpPr txBox="true"/>
            <p:nvPr/>
          </p:nvSpPr>
          <p:spPr>
            <a:xfrm>
              <a:off x="0" y="-9525"/>
              <a:ext cx="23134320" cy="3484372"/>
            </a:xfrm>
            <a:prstGeom prst="rect">
              <a:avLst/>
            </a:prstGeom>
          </p:spPr>
          <p:txBody>
            <a:bodyPr anchor="ctr" rtlCol="false" tIns="0" lIns="0" bIns="0" rIns="0"/>
            <a:lstStyle/>
            <a:p>
              <a:pPr algn="l">
                <a:lnSpc>
                  <a:spcPts val="2520"/>
                </a:lnSpc>
              </a:pPr>
              <a:r>
                <a:rPr lang="en-US" sz="2100">
                  <a:solidFill>
                    <a:srgbClr val="000000"/>
                  </a:solidFill>
                  <a:latin typeface="Arial"/>
                  <a:ea typeface="Arial"/>
                  <a:cs typeface="Arial"/>
                  <a:sym typeface="Arial"/>
                </a:rPr>
                <a:t>You are provided with three datasets capturing different aspects of the patient treatment journey:</a:t>
              </a:r>
            </a:p>
            <a:p>
              <a:pPr algn="l" marL="380048" indent="-190024" lvl="1">
                <a:lnSpc>
                  <a:spcPts val="2520"/>
                </a:lnSpc>
                <a:buFont typeface="Arial"/>
                <a:buChar char="•"/>
              </a:pPr>
              <a:r>
                <a:rPr lang="en-US" b="true" sz="2100">
                  <a:solidFill>
                    <a:srgbClr val="000000"/>
                  </a:solidFill>
                  <a:latin typeface="Arial Bold"/>
                  <a:ea typeface="Arial Bold"/>
                  <a:cs typeface="Arial Bold"/>
                  <a:sym typeface="Arial Bold"/>
                </a:rPr>
                <a:t>Alerts</a:t>
              </a:r>
              <a:r>
                <a:rPr lang="en-US" sz="2100">
                  <a:solidFill>
                    <a:srgbClr val="000000"/>
                  </a:solidFill>
                  <a:latin typeface="Arial"/>
                  <a:ea typeface="Arial"/>
                  <a:cs typeface="Arial"/>
                  <a:sym typeface="Arial"/>
                </a:rPr>
                <a:t>: Clinical signals indicating potential treatment need at the doctor level</a:t>
              </a:r>
            </a:p>
            <a:p>
              <a:pPr algn="l" marL="380048" indent="-190024" lvl="1">
                <a:lnSpc>
                  <a:spcPts val="2520"/>
                </a:lnSpc>
                <a:buFont typeface="Arial"/>
                <a:buChar char="•"/>
              </a:pPr>
              <a:r>
                <a:rPr lang="en-US" b="true" sz="2100">
                  <a:solidFill>
                    <a:srgbClr val="000000"/>
                  </a:solidFill>
                  <a:latin typeface="Arial Bold"/>
                  <a:ea typeface="Arial Bold"/>
                  <a:cs typeface="Arial Bold"/>
                  <a:sym typeface="Arial Bold"/>
                </a:rPr>
                <a:t>Sales</a:t>
              </a:r>
              <a:r>
                <a:rPr lang="en-US" sz="2100">
                  <a:solidFill>
                    <a:srgbClr val="000000"/>
                  </a:solidFill>
                  <a:latin typeface="Arial"/>
                  <a:ea typeface="Arial"/>
                  <a:cs typeface="Arial"/>
                  <a:sym typeface="Arial"/>
                </a:rPr>
                <a:t>: Prescription activity across doctors and therapies</a:t>
              </a:r>
            </a:p>
            <a:p>
              <a:pPr algn="l" marL="380048" indent="-190024" lvl="1">
                <a:lnSpc>
                  <a:spcPts val="2520"/>
                </a:lnSpc>
                <a:buFont typeface="Arial"/>
                <a:buChar char="•"/>
              </a:pPr>
              <a:r>
                <a:rPr lang="en-US" b="true" sz="2100">
                  <a:solidFill>
                    <a:srgbClr val="000000"/>
                  </a:solidFill>
                  <a:latin typeface="Arial Bold"/>
                  <a:ea typeface="Arial Bold"/>
                  <a:cs typeface="Arial Bold"/>
                  <a:sym typeface="Arial Bold"/>
                </a:rPr>
                <a:t>Affiliation</a:t>
              </a:r>
              <a:r>
                <a:rPr lang="en-US" sz="2100">
                  <a:solidFill>
                    <a:srgbClr val="000000"/>
                  </a:solidFill>
                  <a:latin typeface="Arial"/>
                  <a:ea typeface="Arial"/>
                  <a:cs typeface="Arial"/>
                  <a:sym typeface="Arial"/>
                </a:rPr>
                <a:t>: Mapping of doctors to hospitals/healthcare accounts</a:t>
              </a:r>
            </a:p>
            <a:p>
              <a:pPr algn="l" marL="380048" indent="-190024" lvl="1">
                <a:lnSpc>
                  <a:spcPts val="2520"/>
                </a:lnSpc>
              </a:pPr>
              <a:r>
                <a:rPr lang="en-US" sz="2100">
                  <a:solidFill>
                    <a:srgbClr val="000000"/>
                  </a:solidFill>
                  <a:latin typeface="Arial"/>
                  <a:ea typeface="Arial"/>
                  <a:cs typeface="Arial"/>
                  <a:sym typeface="Arial"/>
                </a:rPr>
                <a:t>These datasets can be linked using </a:t>
              </a:r>
              <a:r>
                <a:rPr lang="en-US" b="true" sz="2100">
                  <a:solidFill>
                    <a:srgbClr val="000000"/>
                  </a:solidFill>
                  <a:latin typeface="Arial Bold"/>
                  <a:ea typeface="Arial Bold"/>
                  <a:cs typeface="Arial Bold"/>
                  <a:sym typeface="Arial Bold"/>
                </a:rPr>
                <a:t>HCP_ID</a:t>
              </a:r>
              <a:r>
                <a:rPr lang="en-US" sz="2100">
                  <a:solidFill>
                    <a:srgbClr val="000000"/>
                  </a:solidFill>
                  <a:latin typeface="Arial"/>
                  <a:ea typeface="Arial"/>
                  <a:cs typeface="Arial"/>
                  <a:sym typeface="Arial"/>
                </a:rPr>
                <a:t>. Your task is to connect clinical activity with prescribing behavior to identify missed opportunities and recommend actionable strategies for the commercial team.</a:t>
              </a:r>
            </a:p>
          </p:txBody>
        </p:sp>
      </p:grpSp>
      <p:grpSp>
        <p:nvGrpSpPr>
          <p:cNvPr name="Group 15" id="15"/>
          <p:cNvGrpSpPr/>
          <p:nvPr/>
        </p:nvGrpSpPr>
        <p:grpSpPr>
          <a:xfrm rot="0">
            <a:off x="17245555" y="9874129"/>
            <a:ext cx="540001" cy="269996"/>
            <a:chOff x="0" y="0"/>
            <a:chExt cx="720001" cy="359994"/>
          </a:xfrm>
        </p:grpSpPr>
        <p:sp>
          <p:nvSpPr>
            <p:cNvPr name="Freeform 16" id="16"/>
            <p:cNvSpPr/>
            <p:nvPr/>
          </p:nvSpPr>
          <p:spPr>
            <a:xfrm flipH="false" flipV="false" rot="0">
              <a:off x="0" y="0"/>
              <a:ext cx="720000" cy="360000"/>
            </a:xfrm>
            <a:custGeom>
              <a:avLst/>
              <a:gdLst/>
              <a:ahLst/>
              <a:cxnLst/>
              <a:rect r="r" b="b" t="t" l="l"/>
              <a:pathLst>
                <a:path h="360000" w="720000">
                  <a:moveTo>
                    <a:pt x="0" y="0"/>
                  </a:moveTo>
                  <a:lnTo>
                    <a:pt x="720000" y="0"/>
                  </a:lnTo>
                  <a:lnTo>
                    <a:pt x="720000" y="360000"/>
                  </a:lnTo>
                  <a:lnTo>
                    <a:pt x="0" y="360000"/>
                  </a:lnTo>
                  <a:close/>
                </a:path>
              </a:pathLst>
            </a:custGeom>
            <a:blipFill>
              <a:blip r:embed="rId3">
                <a:alphaModFix amt="0"/>
              </a:blip>
              <a:stretch>
                <a:fillRect l="-14150" t="0" r="-14150" b="1"/>
              </a:stretch>
            </a:blipFill>
          </p:spPr>
        </p:sp>
        <p:sp>
          <p:nvSpPr>
            <p:cNvPr name="TextBox 17" id="17"/>
            <p:cNvSpPr txBox="true"/>
            <p:nvPr/>
          </p:nvSpPr>
          <p:spPr>
            <a:xfrm>
              <a:off x="0" y="-19050"/>
              <a:ext cx="720001" cy="379044"/>
            </a:xfrm>
            <a:prstGeom prst="rect">
              <a:avLst/>
            </a:prstGeom>
          </p:spPr>
          <p:txBody>
            <a:bodyPr anchor="b" rtlCol="false" tIns="0" lIns="0" bIns="0" rIns="0"/>
            <a:lstStyle/>
            <a:p>
              <a:pPr algn="r">
                <a:lnSpc>
                  <a:spcPts val="1439"/>
                </a:lnSpc>
              </a:pPr>
              <a:r>
                <a:rPr lang="en-US" sz="1200">
                  <a:solidFill>
                    <a:srgbClr val="808080"/>
                  </a:solidFill>
                  <a:latin typeface="Arial"/>
                  <a:ea typeface="Arial"/>
                  <a:cs typeface="Arial"/>
                  <a:sym typeface="Arial"/>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4998"/>
            <a:chOff x="0" y="0"/>
            <a:chExt cx="24384000" cy="179997"/>
          </a:xfrm>
        </p:grpSpPr>
        <p:sp>
          <p:nvSpPr>
            <p:cNvPr name="Freeform 3" id="3"/>
            <p:cNvSpPr/>
            <p:nvPr/>
          </p:nvSpPr>
          <p:spPr>
            <a:xfrm flipH="false" flipV="false" rot="0">
              <a:off x="0" y="0"/>
              <a:ext cx="24384000" cy="179959"/>
            </a:xfrm>
            <a:custGeom>
              <a:avLst/>
              <a:gdLst/>
              <a:ahLst/>
              <a:cxnLst/>
              <a:rect r="r" b="b" t="t" l="l"/>
              <a:pathLst>
                <a:path h="179959" w="24384000">
                  <a:moveTo>
                    <a:pt x="0" y="0"/>
                  </a:moveTo>
                  <a:lnTo>
                    <a:pt x="24384000" y="0"/>
                  </a:lnTo>
                  <a:lnTo>
                    <a:pt x="24384000" y="179959"/>
                  </a:lnTo>
                  <a:lnTo>
                    <a:pt x="0" y="179959"/>
                  </a:lnTo>
                  <a:close/>
                </a:path>
              </a:pathLst>
            </a:custGeom>
            <a:gradFill rotWithShape="true">
              <a:gsLst>
                <a:gs pos="0">
                  <a:srgbClr val="005CD9">
                    <a:alpha val="100000"/>
                  </a:srgbClr>
                </a:gs>
                <a:gs pos="50000">
                  <a:srgbClr val="007ECC">
                    <a:alpha val="100000"/>
                  </a:srgbClr>
                </a:gs>
                <a:gs pos="100000">
                  <a:srgbClr val="001E96">
                    <a:alpha val="100000"/>
                  </a:srgbClr>
                </a:gs>
              </a:gsLst>
              <a:lin ang="0"/>
            </a:gradFill>
          </p:spPr>
        </p:sp>
      </p:grpSp>
      <p:sp>
        <p:nvSpPr>
          <p:cNvPr name="AutoShape 4" id="4"/>
          <p:cNvSpPr/>
          <p:nvPr/>
        </p:nvSpPr>
        <p:spPr>
          <a:xfrm rot="3780">
            <a:off x="492919" y="1755696"/>
            <a:ext cx="17299057" cy="0"/>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502444" y="613600"/>
            <a:ext cx="17279998" cy="989457"/>
            <a:chOff x="0" y="0"/>
            <a:chExt cx="23039997" cy="1319276"/>
          </a:xfrm>
        </p:grpSpPr>
        <p:sp>
          <p:nvSpPr>
            <p:cNvPr name="Freeform 6" id="6"/>
            <p:cNvSpPr/>
            <p:nvPr/>
          </p:nvSpPr>
          <p:spPr>
            <a:xfrm flipH="false" flipV="false" rot="0">
              <a:off x="0" y="0"/>
              <a:ext cx="23040000" cy="1319272"/>
            </a:xfrm>
            <a:custGeom>
              <a:avLst/>
              <a:gdLst/>
              <a:ahLst/>
              <a:cxnLst/>
              <a:rect r="r" b="b" t="t" l="l"/>
              <a:pathLst>
                <a:path h="1319272" w="23040000">
                  <a:moveTo>
                    <a:pt x="0" y="0"/>
                  </a:moveTo>
                  <a:lnTo>
                    <a:pt x="23040000" y="0"/>
                  </a:lnTo>
                  <a:lnTo>
                    <a:pt x="23040000" y="1319272"/>
                  </a:lnTo>
                  <a:lnTo>
                    <a:pt x="0" y="1319272"/>
                  </a:lnTo>
                  <a:close/>
                </a:path>
              </a:pathLst>
            </a:custGeom>
            <a:blipFill>
              <a:blip r:embed="rId3">
                <a:alphaModFix amt="0"/>
              </a:blip>
              <a:stretch>
                <a:fillRect l="0" t="-290289" r="0" b="-290290"/>
              </a:stretch>
            </a:blipFill>
          </p:spPr>
        </p:sp>
        <p:sp>
          <p:nvSpPr>
            <p:cNvPr name="TextBox 7" id="7"/>
            <p:cNvSpPr txBox="true"/>
            <p:nvPr/>
          </p:nvSpPr>
          <p:spPr>
            <a:xfrm>
              <a:off x="0" y="9525"/>
              <a:ext cx="23039997" cy="1309751"/>
            </a:xfrm>
            <a:prstGeom prst="rect">
              <a:avLst/>
            </a:prstGeom>
          </p:spPr>
          <p:txBody>
            <a:bodyPr anchor="b" rtlCol="false" tIns="0" lIns="0" bIns="0" rIns="0"/>
            <a:lstStyle/>
            <a:p>
              <a:pPr algn="l">
                <a:lnSpc>
                  <a:spcPts val="3564"/>
                </a:lnSpc>
              </a:pPr>
              <a:r>
                <a:rPr lang="en-US" sz="3300" b="true">
                  <a:solidFill>
                    <a:srgbClr val="001E96"/>
                  </a:solidFill>
                  <a:latin typeface="Arial Bold"/>
                  <a:ea typeface="Arial Bold"/>
                  <a:cs typeface="Arial Bold"/>
                  <a:sym typeface="Arial Bold"/>
                </a:rPr>
                <a:t>Question 1: Who are the most active doctors and are they helping our product?</a:t>
              </a:r>
            </a:p>
          </p:txBody>
        </p:sp>
      </p:grpSp>
      <p:grpSp>
        <p:nvGrpSpPr>
          <p:cNvPr name="Group 8" id="8"/>
          <p:cNvGrpSpPr/>
          <p:nvPr/>
        </p:nvGrpSpPr>
        <p:grpSpPr>
          <a:xfrm rot="0">
            <a:off x="502444" y="9874129"/>
            <a:ext cx="1620002" cy="269996"/>
            <a:chOff x="0" y="0"/>
            <a:chExt cx="2160003" cy="359994"/>
          </a:xfrm>
        </p:grpSpPr>
        <p:sp>
          <p:nvSpPr>
            <p:cNvPr name="Freeform 9" id="9"/>
            <p:cNvSpPr/>
            <p:nvPr/>
          </p:nvSpPr>
          <p:spPr>
            <a:xfrm flipH="false" flipV="false" rot="0">
              <a:off x="0" y="0"/>
              <a:ext cx="2160000" cy="360000"/>
            </a:xfrm>
            <a:custGeom>
              <a:avLst/>
              <a:gdLst/>
              <a:ahLst/>
              <a:cxnLst/>
              <a:rect r="r" b="b" t="t" l="l"/>
              <a:pathLst>
                <a:path h="360000" w="2160000">
                  <a:moveTo>
                    <a:pt x="0" y="0"/>
                  </a:moveTo>
                  <a:lnTo>
                    <a:pt x="2160000" y="0"/>
                  </a:lnTo>
                  <a:lnTo>
                    <a:pt x="2160000" y="360000"/>
                  </a:lnTo>
                  <a:lnTo>
                    <a:pt x="0" y="360000"/>
                  </a:lnTo>
                  <a:close/>
                </a:path>
              </a:pathLst>
            </a:custGeom>
            <a:blipFill>
              <a:blip r:embed="rId3">
                <a:alphaModFix amt="0"/>
              </a:blip>
              <a:stretch>
                <a:fillRect l="0" t="-66911" r="0" b="-66909"/>
              </a:stretch>
            </a:blipFill>
          </p:spPr>
        </p:sp>
        <p:sp>
          <p:nvSpPr>
            <p:cNvPr name="TextBox 10" id="10"/>
            <p:cNvSpPr txBox="true"/>
            <p:nvPr/>
          </p:nvSpPr>
          <p:spPr>
            <a:xfrm>
              <a:off x="0" y="-19050"/>
              <a:ext cx="2160003" cy="379044"/>
            </a:xfrm>
            <a:prstGeom prst="rect">
              <a:avLst/>
            </a:prstGeom>
          </p:spPr>
          <p:txBody>
            <a:bodyPr anchor="b" rtlCol="false" tIns="0" lIns="0" bIns="0" rIns="0"/>
            <a:lstStyle/>
            <a:p>
              <a:pPr algn="l">
                <a:lnSpc>
                  <a:spcPts val="1439"/>
                </a:lnSpc>
              </a:pPr>
              <a:r>
                <a:rPr lang="en-US" sz="1200">
                  <a:solidFill>
                    <a:srgbClr val="808080"/>
                  </a:solidFill>
                  <a:latin typeface="Arial"/>
                  <a:ea typeface="Arial"/>
                  <a:cs typeface="Arial"/>
                  <a:sym typeface="Arial"/>
                </a:rPr>
                <a:t>© 2026 ProcDNA</a:t>
              </a:r>
            </a:p>
          </p:txBody>
        </p:sp>
      </p:grpSp>
      <p:grpSp>
        <p:nvGrpSpPr>
          <p:cNvPr name="Group 11" id="11"/>
          <p:cNvGrpSpPr/>
          <p:nvPr/>
        </p:nvGrpSpPr>
        <p:grpSpPr>
          <a:xfrm rot="0">
            <a:off x="17245555" y="9874129"/>
            <a:ext cx="540001" cy="269996"/>
            <a:chOff x="0" y="0"/>
            <a:chExt cx="720001" cy="359994"/>
          </a:xfrm>
        </p:grpSpPr>
        <p:sp>
          <p:nvSpPr>
            <p:cNvPr name="Freeform 12" id="12"/>
            <p:cNvSpPr/>
            <p:nvPr/>
          </p:nvSpPr>
          <p:spPr>
            <a:xfrm flipH="false" flipV="false" rot="0">
              <a:off x="0" y="0"/>
              <a:ext cx="720000" cy="360000"/>
            </a:xfrm>
            <a:custGeom>
              <a:avLst/>
              <a:gdLst/>
              <a:ahLst/>
              <a:cxnLst/>
              <a:rect r="r" b="b" t="t" l="l"/>
              <a:pathLst>
                <a:path h="360000" w="720000">
                  <a:moveTo>
                    <a:pt x="0" y="0"/>
                  </a:moveTo>
                  <a:lnTo>
                    <a:pt x="720000" y="0"/>
                  </a:lnTo>
                  <a:lnTo>
                    <a:pt x="720000" y="360000"/>
                  </a:lnTo>
                  <a:lnTo>
                    <a:pt x="0" y="360000"/>
                  </a:lnTo>
                  <a:close/>
                </a:path>
              </a:pathLst>
            </a:custGeom>
            <a:blipFill>
              <a:blip r:embed="rId3">
                <a:alphaModFix amt="0"/>
              </a:blip>
              <a:stretch>
                <a:fillRect l="-14150" t="0" r="-14150" b="1"/>
              </a:stretch>
            </a:blipFill>
          </p:spPr>
        </p:sp>
        <p:sp>
          <p:nvSpPr>
            <p:cNvPr name="TextBox 13" id="13"/>
            <p:cNvSpPr txBox="true"/>
            <p:nvPr/>
          </p:nvSpPr>
          <p:spPr>
            <a:xfrm>
              <a:off x="0" y="-19050"/>
              <a:ext cx="720001" cy="379044"/>
            </a:xfrm>
            <a:prstGeom prst="rect">
              <a:avLst/>
            </a:prstGeom>
          </p:spPr>
          <p:txBody>
            <a:bodyPr anchor="b" rtlCol="false" tIns="0" lIns="0" bIns="0" rIns="0"/>
            <a:lstStyle/>
            <a:p>
              <a:pPr algn="r">
                <a:lnSpc>
                  <a:spcPts val="1439"/>
                </a:lnSpc>
              </a:pPr>
              <a:r>
                <a:rPr lang="en-US" sz="1200">
                  <a:solidFill>
                    <a:srgbClr val="808080"/>
                  </a:solidFill>
                  <a:latin typeface="Arial"/>
                  <a:ea typeface="Arial"/>
                  <a:cs typeface="Arial"/>
                  <a:sym typeface="Arial"/>
                </a:rPr>
                <a:t>4</a:t>
              </a:r>
            </a:p>
          </p:txBody>
        </p:sp>
      </p:grpSp>
      <p:grpSp>
        <p:nvGrpSpPr>
          <p:cNvPr name="Group 14" id="14"/>
          <p:cNvGrpSpPr/>
          <p:nvPr/>
        </p:nvGrpSpPr>
        <p:grpSpPr>
          <a:xfrm rot="0">
            <a:off x="480060" y="1852632"/>
            <a:ext cx="17350740" cy="2369210"/>
            <a:chOff x="0" y="0"/>
            <a:chExt cx="23134320" cy="3158947"/>
          </a:xfrm>
        </p:grpSpPr>
        <p:sp>
          <p:nvSpPr>
            <p:cNvPr name="Freeform 15" id="15"/>
            <p:cNvSpPr/>
            <p:nvPr/>
          </p:nvSpPr>
          <p:spPr>
            <a:xfrm flipH="false" flipV="false" rot="0">
              <a:off x="0" y="0"/>
              <a:ext cx="23134320" cy="3158952"/>
            </a:xfrm>
            <a:custGeom>
              <a:avLst/>
              <a:gdLst/>
              <a:ahLst/>
              <a:cxnLst/>
              <a:rect r="r" b="b" t="t" l="l"/>
              <a:pathLst>
                <a:path h="3158952" w="23134320">
                  <a:moveTo>
                    <a:pt x="0" y="0"/>
                  </a:moveTo>
                  <a:lnTo>
                    <a:pt x="23134320" y="0"/>
                  </a:lnTo>
                  <a:lnTo>
                    <a:pt x="23134320" y="3158952"/>
                  </a:lnTo>
                  <a:lnTo>
                    <a:pt x="0" y="3158952"/>
                  </a:lnTo>
                  <a:close/>
                </a:path>
              </a:pathLst>
            </a:custGeom>
            <a:blipFill>
              <a:blip r:embed="rId3">
                <a:alphaModFix amt="0"/>
              </a:blip>
              <a:stretch>
                <a:fillRect l="0" t="-92697" r="0" b="-92696"/>
              </a:stretch>
            </a:blipFill>
          </p:spPr>
        </p:sp>
        <p:sp>
          <p:nvSpPr>
            <p:cNvPr name="TextBox 16" id="16"/>
            <p:cNvSpPr txBox="true"/>
            <p:nvPr/>
          </p:nvSpPr>
          <p:spPr>
            <a:xfrm>
              <a:off x="0" y="-9525"/>
              <a:ext cx="23134320" cy="3168472"/>
            </a:xfrm>
            <a:prstGeom prst="rect">
              <a:avLst/>
            </a:prstGeom>
          </p:spPr>
          <p:txBody>
            <a:bodyPr anchor="ctr" rtlCol="false" tIns="0" lIns="0" bIns="0" rIns="0"/>
            <a:lstStyle/>
            <a:p>
              <a:pPr algn="l">
                <a:lnSpc>
                  <a:spcPts val="2520"/>
                </a:lnSpc>
              </a:pPr>
              <a:r>
                <a:rPr lang="en-US" sz="2100">
                  <a:solidFill>
                    <a:srgbClr val="000000"/>
                  </a:solidFill>
                  <a:latin typeface="Arial"/>
                  <a:ea typeface="Arial"/>
                  <a:cs typeface="Arial"/>
                  <a:sym typeface="Arial"/>
                </a:rPr>
                <a:t>Your starting universe is only the doctors who appear in the </a:t>
              </a:r>
              <a:r>
                <a:rPr lang="en-US" sz="2100" b="true">
                  <a:solidFill>
                    <a:srgbClr val="000000"/>
                  </a:solidFill>
                  <a:latin typeface="Arial Bold"/>
                  <a:ea typeface="Arial Bold"/>
                  <a:cs typeface="Arial Bold"/>
                  <a:sym typeface="Arial Bold"/>
                </a:rPr>
                <a:t>Alerts</a:t>
              </a:r>
              <a:r>
                <a:rPr lang="en-US" sz="2100">
                  <a:solidFill>
                    <a:srgbClr val="000000"/>
                  </a:solidFill>
                  <a:latin typeface="Arial"/>
                  <a:ea typeface="Arial"/>
                  <a:cs typeface="Arial"/>
                  <a:sym typeface="Arial"/>
                </a:rPr>
                <a:t> dataset i.e., doctors for whom at least one alert has been generated. Do not include any doctor who has no alert record.</a:t>
              </a:r>
            </a:p>
            <a:p>
              <a:pPr algn="l">
                <a:lnSpc>
                  <a:spcPts val="2520"/>
                </a:lnSpc>
              </a:pPr>
              <a:r>
                <a:rPr lang="en-US" sz="2100">
                  <a:solidFill>
                    <a:srgbClr val="000000"/>
                  </a:solidFill>
                  <a:latin typeface="Arial"/>
                  <a:ea typeface="Arial"/>
                  <a:cs typeface="Arial"/>
                  <a:sym typeface="Arial"/>
                </a:rPr>
                <a:t>From this universe, produce two separate Top 10 lists using two different ranking metrics:</a:t>
              </a:r>
            </a:p>
            <a:p>
              <a:pPr algn="l" marL="380048" indent="-190024" lvl="1">
                <a:lnSpc>
                  <a:spcPts val="2520"/>
                </a:lnSpc>
                <a:buFont typeface="Arial"/>
                <a:buChar char="•"/>
              </a:pPr>
              <a:r>
                <a:rPr lang="en-US" b="true" sz="2100">
                  <a:solidFill>
                    <a:srgbClr val="000000"/>
                  </a:solidFill>
                  <a:latin typeface="Arial Bold"/>
                  <a:ea typeface="Arial Bold"/>
                  <a:cs typeface="Arial Bold"/>
                  <a:sym typeface="Arial Bold"/>
                </a:rPr>
                <a:t>Ranking 1 - Top 10 by Alert Volume</a:t>
              </a:r>
              <a:r>
                <a:rPr lang="en-US" sz="2100">
                  <a:solidFill>
                    <a:srgbClr val="000000"/>
                  </a:solidFill>
                  <a:latin typeface="Arial"/>
                  <a:ea typeface="Arial"/>
                  <a:cs typeface="Arial"/>
                  <a:sym typeface="Arial"/>
                </a:rPr>
                <a:t>: Which 10 doctors have the highest total number of alerts generated?</a:t>
              </a:r>
            </a:p>
            <a:p>
              <a:pPr algn="l" marL="380048" indent="-190024" lvl="1">
                <a:lnSpc>
                  <a:spcPts val="2520"/>
                </a:lnSpc>
                <a:buFont typeface="Arial"/>
                <a:buChar char="•"/>
              </a:pPr>
              <a:r>
                <a:rPr lang="en-US" b="true" sz="2100">
                  <a:solidFill>
                    <a:srgbClr val="000000"/>
                  </a:solidFill>
                  <a:latin typeface="Arial Bold"/>
                  <a:ea typeface="Arial Bold"/>
                  <a:cs typeface="Arial Bold"/>
                  <a:sym typeface="Arial Bold"/>
                </a:rPr>
                <a:t>Ranking 2 - Top 10 by Prescription Volume:</a:t>
              </a:r>
              <a:r>
                <a:rPr lang="en-US" sz="2100">
                  <a:solidFill>
                    <a:srgbClr val="000000"/>
                  </a:solidFill>
                  <a:latin typeface="Arial"/>
                  <a:ea typeface="Arial"/>
                  <a:cs typeface="Arial"/>
                  <a:sym typeface="Arial"/>
                </a:rPr>
                <a:t> Which 10 doctors </a:t>
              </a:r>
              <a:r>
                <a:rPr lang="en-US" b="true" sz="2100">
                  <a:solidFill>
                    <a:srgbClr val="000000"/>
                  </a:solidFill>
                  <a:latin typeface="Arial Bold"/>
                  <a:ea typeface="Arial Bold"/>
                  <a:cs typeface="Arial Bold"/>
                  <a:sym typeface="Arial Bold"/>
                </a:rPr>
                <a:t>from the alerts universe </a:t>
              </a:r>
              <a:r>
                <a:rPr lang="en-US" sz="2100">
                  <a:solidFill>
                    <a:srgbClr val="000000"/>
                  </a:solidFill>
                  <a:latin typeface="Arial"/>
                  <a:ea typeface="Arial"/>
                  <a:cs typeface="Arial"/>
                  <a:sym typeface="Arial"/>
                </a:rPr>
                <a:t>have written the highest prescription volume in the Sales data?</a:t>
              </a:r>
            </a:p>
          </p:txBody>
        </p:sp>
      </p:grpSp>
      <p:sp>
        <p:nvSpPr>
          <p:cNvPr name="TextBox 17" id="17"/>
          <p:cNvSpPr txBox="true"/>
          <p:nvPr/>
        </p:nvSpPr>
        <p:spPr>
          <a:xfrm rot="0">
            <a:off x="1517009" y="4611700"/>
            <a:ext cx="6337592" cy="459505"/>
          </a:xfrm>
          <a:prstGeom prst="rect">
            <a:avLst/>
          </a:prstGeom>
        </p:spPr>
        <p:txBody>
          <a:bodyPr anchor="t" rtlCol="false" tIns="0" lIns="0" bIns="0" rIns="0">
            <a:spAutoFit/>
          </a:bodyPr>
          <a:lstStyle/>
          <a:p>
            <a:pPr algn="l">
              <a:lnSpc>
                <a:spcPts val="2916"/>
              </a:lnSpc>
            </a:pPr>
            <a:r>
              <a:rPr lang="en-US" sz="2700" b="true">
                <a:solidFill>
                  <a:srgbClr val="001E96"/>
                </a:solidFill>
                <a:latin typeface="Arial Bold"/>
                <a:ea typeface="Arial Bold"/>
                <a:cs typeface="Arial Bold"/>
                <a:sym typeface="Arial Bold"/>
              </a:rPr>
              <a:t>Ranking 1 - Top 10 by alert volume</a:t>
            </a:r>
          </a:p>
        </p:txBody>
      </p:sp>
      <p:sp>
        <p:nvSpPr>
          <p:cNvPr name="TextBox 18" id="18"/>
          <p:cNvSpPr txBox="true"/>
          <p:nvPr/>
        </p:nvSpPr>
        <p:spPr>
          <a:xfrm rot="0">
            <a:off x="9959711" y="4611700"/>
            <a:ext cx="7266137" cy="459505"/>
          </a:xfrm>
          <a:prstGeom prst="rect">
            <a:avLst/>
          </a:prstGeom>
        </p:spPr>
        <p:txBody>
          <a:bodyPr anchor="t" rtlCol="false" tIns="0" lIns="0" bIns="0" rIns="0">
            <a:spAutoFit/>
          </a:bodyPr>
          <a:lstStyle/>
          <a:p>
            <a:pPr algn="l">
              <a:lnSpc>
                <a:spcPts val="2916"/>
              </a:lnSpc>
            </a:pPr>
            <a:r>
              <a:rPr lang="en-US" sz="2700" b="true">
                <a:solidFill>
                  <a:srgbClr val="001E96"/>
                </a:solidFill>
                <a:latin typeface="Arial Bold"/>
                <a:ea typeface="Arial Bold"/>
                <a:cs typeface="Arial Bold"/>
                <a:sym typeface="Arial Bold"/>
              </a:rPr>
              <a:t>Ranking 2 - Top 10 by prescription volume</a:t>
            </a:r>
          </a:p>
        </p:txBody>
      </p:sp>
      <p:graphicFrame>
        <p:nvGraphicFramePr>
          <p:cNvPr name="Table 19" id="19"/>
          <p:cNvGraphicFramePr>
            <a:graphicFrameLocks noGrp="true"/>
          </p:cNvGraphicFramePr>
          <p:nvPr/>
        </p:nvGraphicFramePr>
        <p:xfrm>
          <a:off x="387644" y="5250990"/>
          <a:ext cx="8572500" cy="4400550"/>
        </p:xfrm>
        <a:graphic>
          <a:graphicData uri="http://schemas.openxmlformats.org/drawingml/2006/table">
            <a:tbl>
              <a:tblPr/>
              <a:tblGrid>
                <a:gridCol w="2857500"/>
                <a:gridCol w="2857500"/>
                <a:gridCol w="2857500"/>
              </a:tblGrid>
              <a:tr h="402974">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Rank</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HCP_ID</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Total Alerts</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1</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HCP041</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200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2</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HCP011</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196</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3</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HCP035</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194</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4</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HCP029</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187</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5</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HCP021</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186</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6</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HCP044</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180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7</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HCP042</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174</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8</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HCP036</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171</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9</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HCP027</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165</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10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HCP010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163</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bl>
          </a:graphicData>
        </a:graphic>
      </p:graphicFrame>
      <p:graphicFrame>
        <p:nvGraphicFramePr>
          <p:cNvPr name="Table 20" id="20"/>
          <p:cNvGraphicFramePr>
            <a:graphicFrameLocks noGrp="true"/>
          </p:cNvGraphicFramePr>
          <p:nvPr/>
        </p:nvGraphicFramePr>
        <p:xfrm>
          <a:off x="9294620" y="5250990"/>
          <a:ext cx="8572500" cy="4400550"/>
        </p:xfrm>
        <a:graphic>
          <a:graphicData uri="http://schemas.openxmlformats.org/drawingml/2006/table">
            <a:tbl>
              <a:tblPr/>
              <a:tblGrid>
                <a:gridCol w="2857500"/>
                <a:gridCol w="2255775"/>
                <a:gridCol w="3459225"/>
              </a:tblGrid>
              <a:tr h="402974">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Rank</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HCP_ID</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Total Prescription Volume</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1</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HCP185</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2900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2</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HCP019</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2736</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3</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HCP192</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2710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4</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HCP187</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2680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5</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HCP188</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2650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6</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HCP183</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2620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7</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HCP189</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2590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8</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HCP186</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2560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9</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HCP184</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2530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399758">
                <a:tc>
                  <a:txBody>
                    <a:bodyPr anchor="t" rtlCol="false"/>
                    <a:lstStyle/>
                    <a:p>
                      <a:pPr algn="ctr">
                        <a:lnSpc>
                          <a:spcPts val="2520"/>
                        </a:lnSpc>
                        <a:defRPr/>
                      </a:pPr>
                      <a:r>
                        <a:rPr lang="en-US" sz="2100">
                          <a:solidFill>
                            <a:srgbClr val="000000"/>
                          </a:solidFill>
                          <a:latin typeface="Arial"/>
                          <a:ea typeface="Arial"/>
                          <a:cs typeface="Arial"/>
                          <a:sym typeface="Arial"/>
                        </a:rPr>
                        <a:t>10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HCP190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2500</a:t>
                      </a:r>
                      <a:endParaRPr lang="en-US" sz="1100"/>
                    </a:p>
                  </a:txBody>
                  <a:tcPr marL="10243" marR="10243" marT="10243" marB="1024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4998"/>
            <a:chOff x="0" y="0"/>
            <a:chExt cx="24384000" cy="179997"/>
          </a:xfrm>
        </p:grpSpPr>
        <p:sp>
          <p:nvSpPr>
            <p:cNvPr name="Freeform 3" id="3"/>
            <p:cNvSpPr/>
            <p:nvPr/>
          </p:nvSpPr>
          <p:spPr>
            <a:xfrm flipH="false" flipV="false" rot="0">
              <a:off x="0" y="0"/>
              <a:ext cx="24384000" cy="179959"/>
            </a:xfrm>
            <a:custGeom>
              <a:avLst/>
              <a:gdLst/>
              <a:ahLst/>
              <a:cxnLst/>
              <a:rect r="r" b="b" t="t" l="l"/>
              <a:pathLst>
                <a:path h="179959" w="24384000">
                  <a:moveTo>
                    <a:pt x="0" y="0"/>
                  </a:moveTo>
                  <a:lnTo>
                    <a:pt x="24384000" y="0"/>
                  </a:lnTo>
                  <a:lnTo>
                    <a:pt x="24384000" y="179959"/>
                  </a:lnTo>
                  <a:lnTo>
                    <a:pt x="0" y="179959"/>
                  </a:lnTo>
                  <a:close/>
                </a:path>
              </a:pathLst>
            </a:custGeom>
            <a:gradFill rotWithShape="true">
              <a:gsLst>
                <a:gs pos="0">
                  <a:srgbClr val="005CD9">
                    <a:alpha val="100000"/>
                  </a:srgbClr>
                </a:gs>
                <a:gs pos="50000">
                  <a:srgbClr val="007ECC">
                    <a:alpha val="100000"/>
                  </a:srgbClr>
                </a:gs>
                <a:gs pos="100000">
                  <a:srgbClr val="001E96">
                    <a:alpha val="100000"/>
                  </a:srgbClr>
                </a:gs>
              </a:gsLst>
              <a:lin ang="0"/>
            </a:gradFill>
          </p:spPr>
        </p:sp>
      </p:grpSp>
      <p:sp>
        <p:nvSpPr>
          <p:cNvPr name="AutoShape 4" id="4"/>
          <p:cNvSpPr/>
          <p:nvPr/>
        </p:nvSpPr>
        <p:spPr>
          <a:xfrm rot="3780">
            <a:off x="492919" y="1755696"/>
            <a:ext cx="17299057" cy="0"/>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502444" y="613600"/>
            <a:ext cx="17279998" cy="989457"/>
            <a:chOff x="0" y="0"/>
            <a:chExt cx="23039997" cy="1319276"/>
          </a:xfrm>
        </p:grpSpPr>
        <p:sp>
          <p:nvSpPr>
            <p:cNvPr name="Freeform 6" id="6"/>
            <p:cNvSpPr/>
            <p:nvPr/>
          </p:nvSpPr>
          <p:spPr>
            <a:xfrm flipH="false" flipV="false" rot="0">
              <a:off x="0" y="0"/>
              <a:ext cx="23040000" cy="1319272"/>
            </a:xfrm>
            <a:custGeom>
              <a:avLst/>
              <a:gdLst/>
              <a:ahLst/>
              <a:cxnLst/>
              <a:rect r="r" b="b" t="t" l="l"/>
              <a:pathLst>
                <a:path h="1319272" w="23040000">
                  <a:moveTo>
                    <a:pt x="0" y="0"/>
                  </a:moveTo>
                  <a:lnTo>
                    <a:pt x="23040000" y="0"/>
                  </a:lnTo>
                  <a:lnTo>
                    <a:pt x="23040000" y="1319272"/>
                  </a:lnTo>
                  <a:lnTo>
                    <a:pt x="0" y="1319272"/>
                  </a:lnTo>
                  <a:close/>
                </a:path>
              </a:pathLst>
            </a:custGeom>
            <a:blipFill>
              <a:blip r:embed="rId3">
                <a:alphaModFix amt="0"/>
              </a:blip>
              <a:stretch>
                <a:fillRect l="0" t="-290289" r="0" b="-290290"/>
              </a:stretch>
            </a:blipFill>
          </p:spPr>
        </p:sp>
        <p:sp>
          <p:nvSpPr>
            <p:cNvPr name="TextBox 7" id="7"/>
            <p:cNvSpPr txBox="true"/>
            <p:nvPr/>
          </p:nvSpPr>
          <p:spPr>
            <a:xfrm>
              <a:off x="0" y="9525"/>
              <a:ext cx="23039997" cy="1309751"/>
            </a:xfrm>
            <a:prstGeom prst="rect">
              <a:avLst/>
            </a:prstGeom>
          </p:spPr>
          <p:txBody>
            <a:bodyPr anchor="b" rtlCol="false" tIns="0" lIns="0" bIns="0" rIns="0"/>
            <a:lstStyle/>
            <a:p>
              <a:pPr algn="l">
                <a:lnSpc>
                  <a:spcPts val="3564"/>
                </a:lnSpc>
              </a:pPr>
              <a:r>
                <a:rPr lang="en-US" sz="3300" b="true">
                  <a:solidFill>
                    <a:srgbClr val="001E96"/>
                  </a:solidFill>
                  <a:latin typeface="Arial Bold"/>
                  <a:ea typeface="Arial Bold"/>
                  <a:cs typeface="Arial Bold"/>
                  <a:sym typeface="Arial Bold"/>
                </a:rPr>
                <a:t>Question 2: Which doctors see the need but don't act on it?</a:t>
              </a:r>
            </a:p>
          </p:txBody>
        </p:sp>
      </p:grpSp>
      <p:grpSp>
        <p:nvGrpSpPr>
          <p:cNvPr name="Group 8" id="8"/>
          <p:cNvGrpSpPr/>
          <p:nvPr/>
        </p:nvGrpSpPr>
        <p:grpSpPr>
          <a:xfrm rot="0">
            <a:off x="17245555" y="9874129"/>
            <a:ext cx="540001" cy="269996"/>
            <a:chOff x="0" y="0"/>
            <a:chExt cx="720001" cy="359994"/>
          </a:xfrm>
        </p:grpSpPr>
        <p:sp>
          <p:nvSpPr>
            <p:cNvPr name="Freeform 9" id="9"/>
            <p:cNvSpPr/>
            <p:nvPr/>
          </p:nvSpPr>
          <p:spPr>
            <a:xfrm flipH="false" flipV="false" rot="0">
              <a:off x="0" y="0"/>
              <a:ext cx="720000" cy="360000"/>
            </a:xfrm>
            <a:custGeom>
              <a:avLst/>
              <a:gdLst/>
              <a:ahLst/>
              <a:cxnLst/>
              <a:rect r="r" b="b" t="t" l="l"/>
              <a:pathLst>
                <a:path h="360000" w="720000">
                  <a:moveTo>
                    <a:pt x="0" y="0"/>
                  </a:moveTo>
                  <a:lnTo>
                    <a:pt x="720000" y="0"/>
                  </a:lnTo>
                  <a:lnTo>
                    <a:pt x="720000" y="360000"/>
                  </a:lnTo>
                  <a:lnTo>
                    <a:pt x="0" y="360000"/>
                  </a:lnTo>
                  <a:close/>
                </a:path>
              </a:pathLst>
            </a:custGeom>
            <a:blipFill>
              <a:blip r:embed="rId3">
                <a:alphaModFix amt="0"/>
              </a:blip>
              <a:stretch>
                <a:fillRect l="-14150" t="0" r="-14150" b="1"/>
              </a:stretch>
            </a:blipFill>
          </p:spPr>
        </p:sp>
        <p:sp>
          <p:nvSpPr>
            <p:cNvPr name="TextBox 10" id="10"/>
            <p:cNvSpPr txBox="true"/>
            <p:nvPr/>
          </p:nvSpPr>
          <p:spPr>
            <a:xfrm>
              <a:off x="0" y="-19050"/>
              <a:ext cx="720001" cy="379044"/>
            </a:xfrm>
            <a:prstGeom prst="rect">
              <a:avLst/>
            </a:prstGeom>
          </p:spPr>
          <p:txBody>
            <a:bodyPr anchor="b" rtlCol="false" tIns="0" lIns="0" bIns="0" rIns="0"/>
            <a:lstStyle/>
            <a:p>
              <a:pPr algn="r">
                <a:lnSpc>
                  <a:spcPts val="1439"/>
                </a:lnSpc>
              </a:pPr>
              <a:r>
                <a:rPr lang="en-US" sz="1200">
                  <a:solidFill>
                    <a:srgbClr val="808080"/>
                  </a:solidFill>
                  <a:latin typeface="Arial"/>
                  <a:ea typeface="Arial"/>
                  <a:cs typeface="Arial"/>
                  <a:sym typeface="Arial"/>
                </a:rPr>
                <a:t>5</a:t>
              </a:r>
            </a:p>
          </p:txBody>
        </p:sp>
      </p:grpSp>
      <p:grpSp>
        <p:nvGrpSpPr>
          <p:cNvPr name="Group 11" id="11"/>
          <p:cNvGrpSpPr/>
          <p:nvPr/>
        </p:nvGrpSpPr>
        <p:grpSpPr>
          <a:xfrm rot="0">
            <a:off x="480060" y="1970618"/>
            <a:ext cx="17350740" cy="1872739"/>
            <a:chOff x="0" y="0"/>
            <a:chExt cx="23134320" cy="2496985"/>
          </a:xfrm>
        </p:grpSpPr>
        <p:sp>
          <p:nvSpPr>
            <p:cNvPr name="Freeform 12" id="12"/>
            <p:cNvSpPr/>
            <p:nvPr/>
          </p:nvSpPr>
          <p:spPr>
            <a:xfrm flipH="false" flipV="false" rot="0">
              <a:off x="0" y="0"/>
              <a:ext cx="23134320" cy="2496988"/>
            </a:xfrm>
            <a:custGeom>
              <a:avLst/>
              <a:gdLst/>
              <a:ahLst/>
              <a:cxnLst/>
              <a:rect r="r" b="b" t="t" l="l"/>
              <a:pathLst>
                <a:path h="2496988" w="23134320">
                  <a:moveTo>
                    <a:pt x="0" y="0"/>
                  </a:moveTo>
                  <a:lnTo>
                    <a:pt x="23134320" y="0"/>
                  </a:lnTo>
                  <a:lnTo>
                    <a:pt x="23134320" y="2496988"/>
                  </a:lnTo>
                  <a:lnTo>
                    <a:pt x="0" y="2496988"/>
                  </a:lnTo>
                  <a:close/>
                </a:path>
              </a:pathLst>
            </a:custGeom>
            <a:blipFill>
              <a:blip r:embed="rId3">
                <a:alphaModFix amt="0"/>
              </a:blip>
              <a:stretch>
                <a:fillRect l="0" t="-130526" r="0" b="-130526"/>
              </a:stretch>
            </a:blipFill>
          </p:spPr>
        </p:sp>
        <p:sp>
          <p:nvSpPr>
            <p:cNvPr name="TextBox 13" id="13"/>
            <p:cNvSpPr txBox="true"/>
            <p:nvPr/>
          </p:nvSpPr>
          <p:spPr>
            <a:xfrm>
              <a:off x="0" y="-9525"/>
              <a:ext cx="23134320" cy="2506510"/>
            </a:xfrm>
            <a:prstGeom prst="rect">
              <a:avLst/>
            </a:prstGeom>
          </p:spPr>
          <p:txBody>
            <a:bodyPr anchor="ctr" rtlCol="false" tIns="0" lIns="0" bIns="0" rIns="0"/>
            <a:lstStyle/>
            <a:p>
              <a:pPr algn="l">
                <a:lnSpc>
                  <a:spcPts val="2520"/>
                </a:lnSpc>
              </a:pPr>
              <a:r>
                <a:rPr lang="en-US" sz="2100">
                  <a:solidFill>
                    <a:srgbClr val="000000"/>
                  </a:solidFill>
                  <a:latin typeface="Arial"/>
                  <a:ea typeface="Arial"/>
                  <a:cs typeface="Arial"/>
                  <a:sym typeface="Arial"/>
                </a:rPr>
                <a:t>Identify all doctors from the alerts universe who received </a:t>
              </a:r>
              <a:r>
                <a:rPr lang="en-US" sz="2100" b="true">
                  <a:solidFill>
                    <a:srgbClr val="000000"/>
                  </a:solidFill>
                  <a:latin typeface="Arial Bold"/>
                  <a:ea typeface="Arial Bold"/>
                  <a:cs typeface="Arial Bold"/>
                  <a:sym typeface="Arial Bold"/>
                </a:rPr>
                <a:t>positive lab test alerts</a:t>
              </a:r>
              <a:r>
                <a:rPr lang="en-US" sz="2100">
                  <a:solidFill>
                    <a:srgbClr val="000000"/>
                  </a:solidFill>
                  <a:latin typeface="Arial"/>
                  <a:ea typeface="Arial"/>
                  <a:cs typeface="Arial"/>
                  <a:sym typeface="Arial"/>
                </a:rPr>
                <a:t>, indicating that the patient likely required treatment. Evaluate whether these doctors showed any prescription activity for </a:t>
              </a:r>
              <a:r>
                <a:rPr lang="en-US" sz="2100" b="true">
                  <a:solidFill>
                    <a:srgbClr val="000000"/>
                  </a:solidFill>
                  <a:latin typeface="Arial Bold"/>
                  <a:ea typeface="Arial Bold"/>
                  <a:cs typeface="Arial Bold"/>
                  <a:sym typeface="Arial Bold"/>
                </a:rPr>
                <a:t>any drug within 30 days </a:t>
              </a:r>
              <a:r>
                <a:rPr lang="en-US" sz="2100">
                  <a:solidFill>
                    <a:srgbClr val="000000"/>
                  </a:solidFill>
                  <a:latin typeface="Arial"/>
                  <a:ea typeface="Arial"/>
                  <a:cs typeface="Arial"/>
                  <a:sym typeface="Arial"/>
                </a:rPr>
                <a:t>following their </a:t>
              </a:r>
              <a:r>
                <a:rPr lang="en-US" sz="2100" b="true">
                  <a:solidFill>
                    <a:srgbClr val="000000"/>
                  </a:solidFill>
                  <a:latin typeface="Arial Bold"/>
                  <a:ea typeface="Arial Bold"/>
                  <a:cs typeface="Arial Bold"/>
                  <a:sym typeface="Arial Bold"/>
                </a:rPr>
                <a:t>first positive alert</a:t>
              </a:r>
              <a:r>
                <a:rPr lang="en-US" sz="2100">
                  <a:solidFill>
                    <a:srgbClr val="000000"/>
                  </a:solidFill>
                  <a:latin typeface="Arial"/>
                  <a:ea typeface="Arial"/>
                  <a:cs typeface="Arial"/>
                  <a:sym typeface="Arial"/>
                </a:rPr>
                <a:t>. Among doctors with no prescribing activity during this post-alert window, rank the Top 10 HCPs by total </a:t>
              </a:r>
              <a:r>
                <a:rPr lang="en-US" sz="2100" b="true">
                  <a:solidFill>
                    <a:srgbClr val="000000"/>
                  </a:solidFill>
                  <a:latin typeface="Arial Bold"/>
                  <a:ea typeface="Arial Bold"/>
                  <a:cs typeface="Arial Bold"/>
                  <a:sym typeface="Arial Bold"/>
                </a:rPr>
                <a:t>positive alert volume</a:t>
              </a:r>
              <a:r>
                <a:rPr lang="en-US" sz="2100">
                  <a:solidFill>
                    <a:srgbClr val="000000"/>
                  </a:solidFill>
                  <a:latin typeface="Arial"/>
                  <a:ea typeface="Arial"/>
                  <a:cs typeface="Arial"/>
                  <a:sym typeface="Arial"/>
                </a:rPr>
                <a:t>.</a:t>
              </a:r>
            </a:p>
            <a:p>
              <a:pPr algn="l">
                <a:lnSpc>
                  <a:spcPts val="2520"/>
                </a:lnSpc>
              </a:pPr>
              <a:r>
                <a:rPr lang="en-US" sz="2100">
                  <a:solidFill>
                    <a:srgbClr val="000000"/>
                  </a:solidFill>
                  <a:latin typeface="Arial"/>
                  <a:ea typeface="Arial"/>
                  <a:cs typeface="Arial"/>
                  <a:sym typeface="Arial"/>
                </a:rPr>
                <a:t>Additionally, create a funnel showing HCPs with at least one positive alert, multiple positive alerts, and multiple positive alerts but zero prescribing activity within 30 days.</a:t>
              </a:r>
            </a:p>
          </p:txBody>
        </p:sp>
      </p:grpSp>
      <p:sp>
        <p:nvSpPr>
          <p:cNvPr name="TextBox 14" id="14"/>
          <p:cNvSpPr txBox="true"/>
          <p:nvPr/>
        </p:nvSpPr>
        <p:spPr>
          <a:xfrm rot="0">
            <a:off x="673589" y="4079986"/>
            <a:ext cx="8299256" cy="409718"/>
          </a:xfrm>
          <a:prstGeom prst="rect">
            <a:avLst/>
          </a:prstGeom>
        </p:spPr>
        <p:txBody>
          <a:bodyPr anchor="t" rtlCol="false" tIns="0" lIns="0" bIns="0" rIns="0">
            <a:spAutoFit/>
          </a:bodyPr>
          <a:lstStyle/>
          <a:p>
            <a:pPr algn="l">
              <a:lnSpc>
                <a:spcPts val="2592"/>
              </a:lnSpc>
            </a:pPr>
            <a:r>
              <a:rPr lang="en-US" sz="2400" b="true">
                <a:solidFill>
                  <a:srgbClr val="001E96"/>
                </a:solidFill>
                <a:latin typeface="Arial Bold"/>
                <a:ea typeface="Arial Bold"/>
                <a:cs typeface="Arial Bold"/>
                <a:sym typeface="Arial Bold"/>
              </a:rPr>
              <a:t>Positive-alert doctors and 30-day prescription follow-up</a:t>
            </a:r>
          </a:p>
          <a:p>
            <a:pPr algn="l">
              <a:lnSpc>
                <a:spcPts val="2592"/>
              </a:lnSpc>
            </a:pPr>
          </a:p>
        </p:txBody>
      </p:sp>
      <p:graphicFrame>
        <p:nvGraphicFramePr>
          <p:cNvPr name="Table 15" id="15"/>
          <p:cNvGraphicFramePr>
            <a:graphicFrameLocks noGrp="true"/>
          </p:cNvGraphicFramePr>
          <p:nvPr/>
        </p:nvGraphicFramePr>
        <p:xfrm>
          <a:off x="502444" y="4555428"/>
          <a:ext cx="8629650" cy="5048250"/>
        </p:xfrm>
        <a:graphic>
          <a:graphicData uri="http://schemas.openxmlformats.org/drawingml/2006/table">
            <a:tbl>
              <a:tblPr/>
              <a:tblGrid>
                <a:gridCol w="2876550"/>
                <a:gridCol w="2876550"/>
                <a:gridCol w="2876550"/>
              </a:tblGrid>
              <a:tr h="468527">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Rank</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HCP_ID</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Positive Alerts</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r>
              <a:tr h="457972">
                <a:tc>
                  <a:txBody>
                    <a:bodyPr anchor="t" rtlCol="false"/>
                    <a:lstStyle/>
                    <a:p>
                      <a:pPr algn="ctr">
                        <a:lnSpc>
                          <a:spcPts val="2520"/>
                        </a:lnSpc>
                        <a:defRPr/>
                      </a:pPr>
                      <a:r>
                        <a:rPr lang="en-US" sz="2100">
                          <a:solidFill>
                            <a:srgbClr val="000000"/>
                          </a:solidFill>
                          <a:latin typeface="Arial"/>
                          <a:ea typeface="Arial"/>
                          <a:cs typeface="Arial"/>
                          <a:sym typeface="Arial"/>
                        </a:rPr>
                        <a:t>1</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HCP041</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127</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972">
                <a:tc>
                  <a:txBody>
                    <a:bodyPr anchor="t" rtlCol="false"/>
                    <a:lstStyle/>
                    <a:p>
                      <a:pPr algn="ctr">
                        <a:lnSpc>
                          <a:spcPts val="2520"/>
                        </a:lnSpc>
                        <a:defRPr/>
                      </a:pPr>
                      <a:r>
                        <a:rPr lang="en-US" sz="2100">
                          <a:solidFill>
                            <a:srgbClr val="000000"/>
                          </a:solidFill>
                          <a:latin typeface="Arial"/>
                          <a:ea typeface="Arial"/>
                          <a:cs typeface="Arial"/>
                          <a:sym typeface="Arial"/>
                        </a:rPr>
                        <a:t>2</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HCP011</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118</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972">
                <a:tc>
                  <a:txBody>
                    <a:bodyPr anchor="t" rtlCol="false"/>
                    <a:lstStyle/>
                    <a:p>
                      <a:pPr algn="ctr">
                        <a:lnSpc>
                          <a:spcPts val="2520"/>
                        </a:lnSpc>
                        <a:defRPr/>
                      </a:pPr>
                      <a:r>
                        <a:rPr lang="en-US" sz="2100">
                          <a:solidFill>
                            <a:srgbClr val="000000"/>
                          </a:solidFill>
                          <a:latin typeface="Arial"/>
                          <a:ea typeface="Arial"/>
                          <a:cs typeface="Arial"/>
                          <a:sym typeface="Arial"/>
                        </a:rPr>
                        <a:t>3</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HCP035</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112</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972">
                <a:tc>
                  <a:txBody>
                    <a:bodyPr anchor="t" rtlCol="false"/>
                    <a:lstStyle/>
                    <a:p>
                      <a:pPr algn="ctr">
                        <a:lnSpc>
                          <a:spcPts val="2520"/>
                        </a:lnSpc>
                        <a:defRPr/>
                      </a:pPr>
                      <a:r>
                        <a:rPr lang="en-US" sz="2100">
                          <a:solidFill>
                            <a:srgbClr val="000000"/>
                          </a:solidFill>
                          <a:latin typeface="Arial"/>
                          <a:ea typeface="Arial"/>
                          <a:cs typeface="Arial"/>
                          <a:sym typeface="Arial"/>
                        </a:rPr>
                        <a:t>4</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HCP029</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108</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972">
                <a:tc>
                  <a:txBody>
                    <a:bodyPr anchor="t" rtlCol="false"/>
                    <a:lstStyle/>
                    <a:p>
                      <a:pPr algn="ctr">
                        <a:lnSpc>
                          <a:spcPts val="2520"/>
                        </a:lnSpc>
                        <a:defRPr/>
                      </a:pPr>
                      <a:r>
                        <a:rPr lang="en-US" sz="2100">
                          <a:solidFill>
                            <a:srgbClr val="000000"/>
                          </a:solidFill>
                          <a:latin typeface="Arial"/>
                          <a:ea typeface="Arial"/>
                          <a:cs typeface="Arial"/>
                          <a:sym typeface="Arial"/>
                        </a:rPr>
                        <a:t>5</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HCP021</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104</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972">
                <a:tc>
                  <a:txBody>
                    <a:bodyPr anchor="t" rtlCol="false"/>
                    <a:lstStyle/>
                    <a:p>
                      <a:pPr algn="ctr">
                        <a:lnSpc>
                          <a:spcPts val="2520"/>
                        </a:lnSpc>
                        <a:defRPr/>
                      </a:pPr>
                      <a:r>
                        <a:rPr lang="en-US" sz="2100">
                          <a:solidFill>
                            <a:srgbClr val="000000"/>
                          </a:solidFill>
                          <a:latin typeface="Arial"/>
                          <a:ea typeface="Arial"/>
                          <a:cs typeface="Arial"/>
                          <a:sym typeface="Arial"/>
                        </a:rPr>
                        <a:t>6</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HCP044</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99</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972">
                <a:tc>
                  <a:txBody>
                    <a:bodyPr anchor="t" rtlCol="false"/>
                    <a:lstStyle/>
                    <a:p>
                      <a:pPr algn="ctr">
                        <a:lnSpc>
                          <a:spcPts val="2520"/>
                        </a:lnSpc>
                        <a:defRPr/>
                      </a:pPr>
                      <a:r>
                        <a:rPr lang="en-US" sz="2100">
                          <a:solidFill>
                            <a:srgbClr val="000000"/>
                          </a:solidFill>
                          <a:latin typeface="Arial"/>
                          <a:ea typeface="Arial"/>
                          <a:cs typeface="Arial"/>
                          <a:sym typeface="Arial"/>
                        </a:rPr>
                        <a:t>7</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HCP042</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96</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972">
                <a:tc>
                  <a:txBody>
                    <a:bodyPr anchor="t" rtlCol="false"/>
                    <a:lstStyle/>
                    <a:p>
                      <a:pPr algn="ctr">
                        <a:lnSpc>
                          <a:spcPts val="2520"/>
                        </a:lnSpc>
                        <a:defRPr/>
                      </a:pPr>
                      <a:r>
                        <a:rPr lang="en-US" sz="2100">
                          <a:solidFill>
                            <a:srgbClr val="000000"/>
                          </a:solidFill>
                          <a:latin typeface="Arial"/>
                          <a:ea typeface="Arial"/>
                          <a:cs typeface="Arial"/>
                          <a:sym typeface="Arial"/>
                        </a:rPr>
                        <a:t>8</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HCP036</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93</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972">
                <a:tc>
                  <a:txBody>
                    <a:bodyPr anchor="t" rtlCol="false"/>
                    <a:lstStyle/>
                    <a:p>
                      <a:pPr algn="ctr">
                        <a:lnSpc>
                          <a:spcPts val="2520"/>
                        </a:lnSpc>
                        <a:defRPr/>
                      </a:pPr>
                      <a:r>
                        <a:rPr lang="en-US" sz="2100">
                          <a:solidFill>
                            <a:srgbClr val="000000"/>
                          </a:solidFill>
                          <a:latin typeface="Arial"/>
                          <a:ea typeface="Arial"/>
                          <a:cs typeface="Arial"/>
                          <a:sym typeface="Arial"/>
                        </a:rPr>
                        <a:t>9</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HCP027</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89</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972">
                <a:tc>
                  <a:txBody>
                    <a:bodyPr anchor="t" rtlCol="false"/>
                    <a:lstStyle/>
                    <a:p>
                      <a:pPr algn="ctr">
                        <a:lnSpc>
                          <a:spcPts val="2520"/>
                        </a:lnSpc>
                        <a:defRPr/>
                      </a:pPr>
                      <a:r>
                        <a:rPr lang="en-US" sz="2100">
                          <a:solidFill>
                            <a:srgbClr val="000000"/>
                          </a:solidFill>
                          <a:latin typeface="Arial"/>
                          <a:ea typeface="Arial"/>
                          <a:cs typeface="Arial"/>
                          <a:sym typeface="Arial"/>
                        </a:rPr>
                        <a:t>10</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HCP010</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85</a:t>
                      </a:r>
                      <a:endParaRPr lang="en-US" sz="1100"/>
                    </a:p>
                  </a:txBody>
                  <a:tcPr marL="9732" marR="9732" marT="9732" marB="973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bl>
          </a:graphicData>
        </a:graphic>
      </p:graphicFrame>
      <p:grpSp>
        <p:nvGrpSpPr>
          <p:cNvPr name="Group 16" id="16"/>
          <p:cNvGrpSpPr/>
          <p:nvPr/>
        </p:nvGrpSpPr>
        <p:grpSpPr>
          <a:xfrm rot="0">
            <a:off x="12086549" y="4780769"/>
            <a:ext cx="5159007" cy="4660373"/>
            <a:chOff x="0" y="0"/>
            <a:chExt cx="6878676" cy="6213831"/>
          </a:xfrm>
        </p:grpSpPr>
        <p:grpSp>
          <p:nvGrpSpPr>
            <p:cNvPr name="Group 17" id="17"/>
            <p:cNvGrpSpPr/>
            <p:nvPr/>
          </p:nvGrpSpPr>
          <p:grpSpPr>
            <a:xfrm rot="0">
              <a:off x="0" y="0"/>
              <a:ext cx="6878676" cy="6213831"/>
              <a:chOff x="0" y="0"/>
              <a:chExt cx="6878676" cy="6213831"/>
            </a:xfrm>
          </p:grpSpPr>
          <p:sp>
            <p:nvSpPr>
              <p:cNvPr name="Freeform 18" id="18"/>
              <p:cNvSpPr/>
              <p:nvPr/>
            </p:nvSpPr>
            <p:spPr>
              <a:xfrm flipH="false" flipV="false" rot="0">
                <a:off x="0" y="0"/>
                <a:ext cx="6878701" cy="6213928"/>
              </a:xfrm>
              <a:custGeom>
                <a:avLst/>
                <a:gdLst/>
                <a:ahLst/>
                <a:cxnLst/>
                <a:rect r="r" b="b" t="t" l="l"/>
                <a:pathLst>
                  <a:path h="6213928" w="6878701">
                    <a:moveTo>
                      <a:pt x="0" y="0"/>
                    </a:moveTo>
                    <a:cubicBezTo>
                      <a:pt x="1294384" y="1922526"/>
                      <a:pt x="2195576" y="3557397"/>
                      <a:pt x="2911475" y="5962650"/>
                    </a:cubicBezTo>
                    <a:cubicBezTo>
                      <a:pt x="3134106" y="6106160"/>
                      <a:pt x="2879471" y="6234430"/>
                      <a:pt x="3467989" y="6211189"/>
                    </a:cubicBezTo>
                    <a:cubicBezTo>
                      <a:pt x="3887597" y="6229477"/>
                      <a:pt x="3847338" y="6133973"/>
                      <a:pt x="4089273" y="6038469"/>
                    </a:cubicBezTo>
                    <a:cubicBezTo>
                      <a:pt x="4656709" y="3940048"/>
                      <a:pt x="5485003" y="1937639"/>
                      <a:pt x="6878701" y="0"/>
                    </a:cubicBezTo>
                    <a:lnTo>
                      <a:pt x="0" y="0"/>
                    </a:lnTo>
                    <a:close/>
                  </a:path>
                </a:pathLst>
              </a:custGeom>
              <a:solidFill>
                <a:srgbClr val="001E96"/>
              </a:solidFill>
            </p:spPr>
          </p:sp>
        </p:grpSp>
        <p:grpSp>
          <p:nvGrpSpPr>
            <p:cNvPr name="Group 19" id="19"/>
            <p:cNvGrpSpPr/>
            <p:nvPr/>
          </p:nvGrpSpPr>
          <p:grpSpPr>
            <a:xfrm rot="-10800000">
              <a:off x="0" y="0"/>
              <a:ext cx="6878676" cy="6213831"/>
              <a:chOff x="0" y="0"/>
              <a:chExt cx="6878676" cy="6213831"/>
            </a:xfrm>
          </p:grpSpPr>
          <p:sp>
            <p:nvSpPr>
              <p:cNvPr name="Freeform 20" id="20"/>
              <p:cNvSpPr/>
              <p:nvPr/>
            </p:nvSpPr>
            <p:spPr>
              <a:xfrm flipH="false" flipV="false" rot="0">
                <a:off x="0" y="0"/>
                <a:ext cx="6878670" cy="6213829"/>
              </a:xfrm>
              <a:custGeom>
                <a:avLst/>
                <a:gdLst/>
                <a:ahLst/>
                <a:cxnLst/>
                <a:rect r="r" b="b" t="t" l="l"/>
                <a:pathLst>
                  <a:path h="6213829" w="6878670">
                    <a:moveTo>
                      <a:pt x="0" y="0"/>
                    </a:moveTo>
                    <a:lnTo>
                      <a:pt x="6878670" y="0"/>
                    </a:lnTo>
                    <a:lnTo>
                      <a:pt x="6878670" y="6213829"/>
                    </a:lnTo>
                    <a:lnTo>
                      <a:pt x="0" y="6213829"/>
                    </a:lnTo>
                    <a:close/>
                  </a:path>
                </a:pathLst>
              </a:custGeom>
              <a:blipFill>
                <a:blip r:embed="rId3">
                  <a:alphaModFix amt="0"/>
                </a:blip>
                <a:stretch>
                  <a:fillRect l="-65902" t="0" r="-65902" b="0"/>
                </a:stretch>
              </a:blipFill>
            </p:spPr>
          </p:sp>
          <p:sp>
            <p:nvSpPr>
              <p:cNvPr name="TextBox 21" id="21"/>
              <p:cNvSpPr txBox="true"/>
              <p:nvPr/>
            </p:nvSpPr>
            <p:spPr>
              <a:xfrm>
                <a:off x="0" y="-9525"/>
                <a:ext cx="6878676" cy="6223356"/>
              </a:xfrm>
              <a:prstGeom prst="rect">
                <a:avLst/>
              </a:prstGeom>
            </p:spPr>
            <p:txBody>
              <a:bodyPr anchor="ctr" rtlCol="false" tIns="0" lIns="0" bIns="0" rIns="0"/>
              <a:lstStyle/>
              <a:p>
                <a:pPr algn="ctr">
                  <a:lnSpc>
                    <a:spcPts val="1260"/>
                  </a:lnSpc>
                </a:pPr>
                <a:r>
                  <a:rPr lang="en-US" sz="1050" b="true">
                    <a:solidFill>
                      <a:srgbClr val="FFFFFF"/>
                    </a:solidFill>
                    <a:latin typeface="Arial Bold"/>
                    <a:ea typeface="Arial Bold"/>
                    <a:cs typeface="Arial Bold"/>
                    <a:sym typeface="Arial Bold"/>
                  </a:rPr>
                  <a:t>214 HCPs with &gt;=1 positive alert</a:t>
                </a:r>
              </a:p>
            </p:txBody>
          </p:sp>
        </p:grpSp>
      </p:grpSp>
      <p:grpSp>
        <p:nvGrpSpPr>
          <p:cNvPr name="Group 22" id="22"/>
          <p:cNvGrpSpPr/>
          <p:nvPr/>
        </p:nvGrpSpPr>
        <p:grpSpPr>
          <a:xfrm rot="0">
            <a:off x="12086549" y="4609509"/>
            <a:ext cx="5159007" cy="342529"/>
            <a:chOff x="0" y="0"/>
            <a:chExt cx="6878676" cy="456705"/>
          </a:xfrm>
        </p:grpSpPr>
        <p:sp>
          <p:nvSpPr>
            <p:cNvPr name="Freeform 23" id="23"/>
            <p:cNvSpPr/>
            <p:nvPr/>
          </p:nvSpPr>
          <p:spPr>
            <a:xfrm flipH="false" flipV="false" rot="0">
              <a:off x="0" y="0"/>
              <a:ext cx="6878701" cy="456692"/>
            </a:xfrm>
            <a:custGeom>
              <a:avLst/>
              <a:gdLst/>
              <a:ahLst/>
              <a:cxnLst/>
              <a:rect r="r" b="b" t="t" l="l"/>
              <a:pathLst>
                <a:path h="456692" w="6878701">
                  <a:moveTo>
                    <a:pt x="0" y="228346"/>
                  </a:moveTo>
                  <a:cubicBezTo>
                    <a:pt x="0" y="102235"/>
                    <a:pt x="1539875" y="0"/>
                    <a:pt x="3439287" y="0"/>
                  </a:cubicBezTo>
                  <a:cubicBezTo>
                    <a:pt x="5338699" y="0"/>
                    <a:pt x="6878701" y="102235"/>
                    <a:pt x="6878701" y="228346"/>
                  </a:cubicBezTo>
                  <a:cubicBezTo>
                    <a:pt x="6878701" y="354457"/>
                    <a:pt x="5338826" y="456692"/>
                    <a:pt x="3439287" y="456692"/>
                  </a:cubicBezTo>
                  <a:cubicBezTo>
                    <a:pt x="1539748" y="456692"/>
                    <a:pt x="0" y="354457"/>
                    <a:pt x="0" y="228346"/>
                  </a:cubicBezTo>
                  <a:close/>
                </a:path>
              </a:pathLst>
            </a:custGeom>
            <a:solidFill>
              <a:srgbClr val="2752FF"/>
            </a:solidFill>
          </p:spPr>
        </p:sp>
        <p:sp>
          <p:nvSpPr>
            <p:cNvPr name="TextBox 24" id="24"/>
            <p:cNvSpPr txBox="true"/>
            <p:nvPr/>
          </p:nvSpPr>
          <p:spPr>
            <a:xfrm>
              <a:off x="0" y="-19050"/>
              <a:ext cx="6878676" cy="475755"/>
            </a:xfrm>
            <a:prstGeom prst="rect">
              <a:avLst/>
            </a:prstGeom>
          </p:spPr>
          <p:txBody>
            <a:bodyPr anchor="ctr" rtlCol="false" tIns="50800" lIns="50800" bIns="50800" rIns="50800"/>
            <a:lstStyle/>
            <a:p>
              <a:pPr algn="ctr">
                <a:lnSpc>
                  <a:spcPts val="1439"/>
                </a:lnSpc>
              </a:pPr>
              <a:r>
                <a:rPr lang="en-US" sz="1200" b="true">
                  <a:solidFill>
                    <a:srgbClr val="FFFFFF"/>
                  </a:solidFill>
                  <a:latin typeface="Arial Bold"/>
                  <a:ea typeface="Arial Bold"/>
                  <a:cs typeface="Arial Bold"/>
                  <a:sym typeface="Arial Bold"/>
                </a:rPr>
                <a:t>214</a:t>
              </a:r>
            </a:p>
          </p:txBody>
        </p:sp>
      </p:grpSp>
      <p:grpSp>
        <p:nvGrpSpPr>
          <p:cNvPr name="Group 25" id="25"/>
          <p:cNvGrpSpPr/>
          <p:nvPr/>
        </p:nvGrpSpPr>
        <p:grpSpPr>
          <a:xfrm rot="0">
            <a:off x="13795210" y="8137331"/>
            <a:ext cx="1734617" cy="71571"/>
            <a:chOff x="0" y="0"/>
            <a:chExt cx="2312822" cy="95428"/>
          </a:xfrm>
        </p:grpSpPr>
        <p:sp>
          <p:nvSpPr>
            <p:cNvPr name="Freeform 26" id="26"/>
            <p:cNvSpPr/>
            <p:nvPr/>
          </p:nvSpPr>
          <p:spPr>
            <a:xfrm flipH="false" flipV="false" rot="0">
              <a:off x="0" y="0"/>
              <a:ext cx="2312924" cy="95504"/>
            </a:xfrm>
            <a:custGeom>
              <a:avLst/>
              <a:gdLst/>
              <a:ahLst/>
              <a:cxnLst/>
              <a:rect r="r" b="b" t="t" l="l"/>
              <a:pathLst>
                <a:path h="95504" w="2312924">
                  <a:moveTo>
                    <a:pt x="0" y="47752"/>
                  </a:moveTo>
                  <a:cubicBezTo>
                    <a:pt x="0" y="21336"/>
                    <a:pt x="517779" y="0"/>
                    <a:pt x="1156462" y="0"/>
                  </a:cubicBezTo>
                  <a:cubicBezTo>
                    <a:pt x="1795145" y="0"/>
                    <a:pt x="2312924" y="21336"/>
                    <a:pt x="2312924" y="47752"/>
                  </a:cubicBezTo>
                  <a:cubicBezTo>
                    <a:pt x="2312924" y="74168"/>
                    <a:pt x="1795145" y="95504"/>
                    <a:pt x="1156462" y="95504"/>
                  </a:cubicBezTo>
                  <a:cubicBezTo>
                    <a:pt x="517779" y="95504"/>
                    <a:pt x="0" y="74041"/>
                    <a:pt x="0" y="47752"/>
                  </a:cubicBezTo>
                  <a:close/>
                </a:path>
              </a:pathLst>
            </a:custGeom>
            <a:solidFill>
              <a:srgbClr val="2752FF"/>
            </a:solidFill>
          </p:spPr>
        </p:sp>
      </p:grpSp>
      <p:grpSp>
        <p:nvGrpSpPr>
          <p:cNvPr name="Group 27" id="27"/>
          <p:cNvGrpSpPr/>
          <p:nvPr/>
        </p:nvGrpSpPr>
        <p:grpSpPr>
          <a:xfrm rot="0">
            <a:off x="13048936" y="6350497"/>
            <a:ext cx="3237948" cy="1869855"/>
            <a:chOff x="0" y="0"/>
            <a:chExt cx="4317263" cy="2493139"/>
          </a:xfrm>
        </p:grpSpPr>
        <p:grpSp>
          <p:nvGrpSpPr>
            <p:cNvPr name="Group 28" id="28"/>
            <p:cNvGrpSpPr/>
            <p:nvPr/>
          </p:nvGrpSpPr>
          <p:grpSpPr>
            <a:xfrm rot="0">
              <a:off x="0" y="0"/>
              <a:ext cx="4317263" cy="2493139"/>
              <a:chOff x="0" y="0"/>
              <a:chExt cx="4317263" cy="2493139"/>
            </a:xfrm>
          </p:grpSpPr>
          <p:sp>
            <p:nvSpPr>
              <p:cNvPr name="Freeform 29" id="29"/>
              <p:cNvSpPr/>
              <p:nvPr/>
            </p:nvSpPr>
            <p:spPr>
              <a:xfrm flipH="false" flipV="false" rot="0">
                <a:off x="0" y="0"/>
                <a:ext cx="4317238" cy="2493130"/>
              </a:xfrm>
              <a:custGeom>
                <a:avLst/>
                <a:gdLst/>
                <a:ahLst/>
                <a:cxnLst/>
                <a:rect r="r" b="b" t="t" l="l"/>
                <a:pathLst>
                  <a:path h="2493130" w="4317238">
                    <a:moveTo>
                      <a:pt x="0" y="0"/>
                    </a:moveTo>
                    <a:cubicBezTo>
                      <a:pt x="386334" y="773939"/>
                      <a:pt x="753872" y="1573786"/>
                      <a:pt x="990854" y="2459992"/>
                    </a:cubicBezTo>
                    <a:cubicBezTo>
                      <a:pt x="1129284" y="2517142"/>
                      <a:pt x="1789684" y="2485011"/>
                      <a:pt x="2155571" y="2475741"/>
                    </a:cubicBezTo>
                    <a:cubicBezTo>
                      <a:pt x="2416429" y="2482979"/>
                      <a:pt x="3168269" y="2467739"/>
                      <a:pt x="3318637" y="2429639"/>
                    </a:cubicBezTo>
                    <a:cubicBezTo>
                      <a:pt x="3456940" y="1735203"/>
                      <a:pt x="3816985" y="1060324"/>
                      <a:pt x="4317238" y="0"/>
                    </a:cubicBezTo>
                    <a:lnTo>
                      <a:pt x="0" y="0"/>
                    </a:lnTo>
                    <a:close/>
                  </a:path>
                </a:pathLst>
              </a:custGeom>
              <a:solidFill>
                <a:srgbClr val="008CE3"/>
              </a:solidFill>
            </p:spPr>
          </p:sp>
        </p:grpSp>
        <p:grpSp>
          <p:nvGrpSpPr>
            <p:cNvPr name="Group 30" id="30"/>
            <p:cNvGrpSpPr/>
            <p:nvPr/>
          </p:nvGrpSpPr>
          <p:grpSpPr>
            <a:xfrm rot="0">
              <a:off x="941783" y="297308"/>
              <a:ext cx="2433697" cy="1898523"/>
              <a:chOff x="0" y="0"/>
              <a:chExt cx="3195931" cy="2493139"/>
            </a:xfrm>
          </p:grpSpPr>
          <p:sp>
            <p:nvSpPr>
              <p:cNvPr name="Freeform 31" id="31"/>
              <p:cNvSpPr/>
              <p:nvPr/>
            </p:nvSpPr>
            <p:spPr>
              <a:xfrm flipH="false" flipV="false" rot="0">
                <a:off x="0" y="0"/>
                <a:ext cx="3195932" cy="2493142"/>
              </a:xfrm>
              <a:custGeom>
                <a:avLst/>
                <a:gdLst/>
                <a:ahLst/>
                <a:cxnLst/>
                <a:rect r="r" b="b" t="t" l="l"/>
                <a:pathLst>
                  <a:path h="2493142" w="3195932">
                    <a:moveTo>
                      <a:pt x="0" y="0"/>
                    </a:moveTo>
                    <a:lnTo>
                      <a:pt x="3195932" y="0"/>
                    </a:lnTo>
                    <a:lnTo>
                      <a:pt x="3195932" y="2493142"/>
                    </a:lnTo>
                    <a:lnTo>
                      <a:pt x="0" y="2493142"/>
                    </a:lnTo>
                    <a:close/>
                  </a:path>
                </a:pathLst>
              </a:custGeom>
              <a:blipFill>
                <a:blip r:embed="rId3">
                  <a:alphaModFix amt="0"/>
                </a:blip>
                <a:stretch>
                  <a:fillRect l="-32546" t="0" r="-67632" b="0"/>
                </a:stretch>
              </a:blipFill>
            </p:spPr>
          </p:sp>
          <p:sp>
            <p:nvSpPr>
              <p:cNvPr name="TextBox 32" id="32"/>
              <p:cNvSpPr txBox="true"/>
              <p:nvPr/>
            </p:nvSpPr>
            <p:spPr>
              <a:xfrm>
                <a:off x="0" y="-19050"/>
                <a:ext cx="3195931" cy="2512189"/>
              </a:xfrm>
              <a:prstGeom prst="rect">
                <a:avLst/>
              </a:prstGeom>
            </p:spPr>
            <p:txBody>
              <a:bodyPr anchor="ctr" rtlCol="false" tIns="0" lIns="0" bIns="0" rIns="0"/>
              <a:lstStyle/>
              <a:p>
                <a:pPr algn="ctr">
                  <a:lnSpc>
                    <a:spcPts val="1523"/>
                  </a:lnSpc>
                </a:pPr>
                <a:r>
                  <a:rPr lang="en-US" sz="1269" b="true">
                    <a:solidFill>
                      <a:srgbClr val="FFFFFF"/>
                    </a:solidFill>
                    <a:latin typeface="Arial Bold"/>
                    <a:ea typeface="Arial Bold"/>
                    <a:cs typeface="Arial Bold"/>
                    <a:sym typeface="Arial Bold"/>
                  </a:rPr>
                  <a:t>198 HCPs with multiple positive alerts</a:t>
                </a:r>
              </a:p>
            </p:txBody>
          </p:sp>
        </p:grpSp>
      </p:grpSp>
      <p:grpSp>
        <p:nvGrpSpPr>
          <p:cNvPr name="Group 33" id="33"/>
          <p:cNvGrpSpPr/>
          <p:nvPr/>
        </p:nvGrpSpPr>
        <p:grpSpPr>
          <a:xfrm rot="0">
            <a:off x="13768588" y="8134960"/>
            <a:ext cx="1777079" cy="1403128"/>
            <a:chOff x="0" y="0"/>
            <a:chExt cx="2369439" cy="1870837"/>
          </a:xfrm>
        </p:grpSpPr>
        <p:grpSp>
          <p:nvGrpSpPr>
            <p:cNvPr name="Group 34" id="34"/>
            <p:cNvGrpSpPr/>
            <p:nvPr/>
          </p:nvGrpSpPr>
          <p:grpSpPr>
            <a:xfrm rot="0">
              <a:off x="0" y="0"/>
              <a:ext cx="2369439" cy="1870837"/>
              <a:chOff x="0" y="0"/>
              <a:chExt cx="2369439" cy="1870837"/>
            </a:xfrm>
          </p:grpSpPr>
          <p:sp>
            <p:nvSpPr>
              <p:cNvPr name="Freeform 35" id="35"/>
              <p:cNvSpPr/>
              <p:nvPr/>
            </p:nvSpPr>
            <p:spPr>
              <a:xfrm flipH="false" flipV="false" rot="0">
                <a:off x="0" y="0"/>
                <a:ext cx="2369439" cy="1870787"/>
              </a:xfrm>
              <a:custGeom>
                <a:avLst/>
                <a:gdLst/>
                <a:ahLst/>
                <a:cxnLst/>
                <a:rect r="r" b="b" t="t" l="l"/>
                <a:pathLst>
                  <a:path h="1870787" w="2369439">
                    <a:moveTo>
                      <a:pt x="0" y="0"/>
                    </a:moveTo>
                    <a:cubicBezTo>
                      <a:pt x="207010" y="583184"/>
                      <a:pt x="309753" y="1154430"/>
                      <a:pt x="436753" y="1822196"/>
                    </a:cubicBezTo>
                    <a:cubicBezTo>
                      <a:pt x="510921" y="1865249"/>
                      <a:pt x="980567" y="1875790"/>
                      <a:pt x="1176528" y="1868805"/>
                    </a:cubicBezTo>
                    <a:cubicBezTo>
                      <a:pt x="1316228" y="1874266"/>
                      <a:pt x="1875790" y="1862709"/>
                      <a:pt x="1956435" y="1834007"/>
                    </a:cubicBezTo>
                    <a:cubicBezTo>
                      <a:pt x="2030603" y="1310640"/>
                      <a:pt x="2101469" y="802132"/>
                      <a:pt x="2369439" y="3048"/>
                    </a:cubicBezTo>
                    <a:lnTo>
                      <a:pt x="0" y="0"/>
                    </a:lnTo>
                    <a:close/>
                  </a:path>
                </a:pathLst>
              </a:custGeom>
              <a:solidFill>
                <a:srgbClr val="57C785"/>
              </a:solidFill>
            </p:spPr>
          </p:sp>
        </p:grpSp>
        <p:grpSp>
          <p:nvGrpSpPr>
            <p:cNvPr name="Group 36" id="36"/>
            <p:cNvGrpSpPr/>
            <p:nvPr/>
          </p:nvGrpSpPr>
          <p:grpSpPr>
            <a:xfrm rot="-10800000">
              <a:off x="0" y="0"/>
              <a:ext cx="2369439" cy="1870837"/>
              <a:chOff x="0" y="0"/>
              <a:chExt cx="2369439" cy="1870837"/>
            </a:xfrm>
          </p:grpSpPr>
          <p:sp>
            <p:nvSpPr>
              <p:cNvPr name="Freeform 37" id="37"/>
              <p:cNvSpPr/>
              <p:nvPr/>
            </p:nvSpPr>
            <p:spPr>
              <a:xfrm flipH="false" flipV="false" rot="0">
                <a:off x="0" y="0"/>
                <a:ext cx="2369443" cy="1870838"/>
              </a:xfrm>
              <a:custGeom>
                <a:avLst/>
                <a:gdLst/>
                <a:ahLst/>
                <a:cxnLst/>
                <a:rect r="r" b="b" t="t" l="l"/>
                <a:pathLst>
                  <a:path h="1870838" w="2369443">
                    <a:moveTo>
                      <a:pt x="0" y="0"/>
                    </a:moveTo>
                    <a:lnTo>
                      <a:pt x="2369443" y="0"/>
                    </a:lnTo>
                    <a:lnTo>
                      <a:pt x="2369443" y="1870838"/>
                    </a:lnTo>
                    <a:lnTo>
                      <a:pt x="0" y="1870838"/>
                    </a:lnTo>
                    <a:close/>
                  </a:path>
                </a:pathLst>
              </a:custGeom>
              <a:blipFill>
                <a:blip r:embed="rId3">
                  <a:alphaModFix amt="0"/>
                </a:blip>
                <a:stretch>
                  <a:fillRect l="-51304" t="0" r="-51304" b="0"/>
                </a:stretch>
              </a:blipFill>
            </p:spPr>
          </p:sp>
          <p:sp>
            <p:nvSpPr>
              <p:cNvPr name="TextBox 38" id="38"/>
              <p:cNvSpPr txBox="true"/>
              <p:nvPr/>
            </p:nvSpPr>
            <p:spPr>
              <a:xfrm>
                <a:off x="0" y="-9525"/>
                <a:ext cx="2369439" cy="1880362"/>
              </a:xfrm>
              <a:prstGeom prst="rect">
                <a:avLst/>
              </a:prstGeom>
            </p:spPr>
            <p:txBody>
              <a:bodyPr anchor="ctr" rtlCol="false" tIns="0" lIns="0" bIns="0" rIns="0"/>
              <a:lstStyle/>
              <a:p>
                <a:pPr algn="ctr">
                  <a:lnSpc>
                    <a:spcPts val="1260"/>
                  </a:lnSpc>
                </a:pPr>
              </a:p>
            </p:txBody>
          </p:sp>
        </p:grpSp>
      </p:grpSp>
      <p:grpSp>
        <p:nvGrpSpPr>
          <p:cNvPr name="Group 39" id="39"/>
          <p:cNvGrpSpPr/>
          <p:nvPr/>
        </p:nvGrpSpPr>
        <p:grpSpPr>
          <a:xfrm rot="0">
            <a:off x="13048936" y="6179239"/>
            <a:ext cx="3237948" cy="342529"/>
            <a:chOff x="0" y="0"/>
            <a:chExt cx="4317263" cy="456705"/>
          </a:xfrm>
        </p:grpSpPr>
        <p:sp>
          <p:nvSpPr>
            <p:cNvPr name="Freeform 40" id="40"/>
            <p:cNvSpPr/>
            <p:nvPr/>
          </p:nvSpPr>
          <p:spPr>
            <a:xfrm flipH="false" flipV="false" rot="0">
              <a:off x="0" y="0"/>
              <a:ext cx="4317238" cy="456692"/>
            </a:xfrm>
            <a:custGeom>
              <a:avLst/>
              <a:gdLst/>
              <a:ahLst/>
              <a:cxnLst/>
              <a:rect r="r" b="b" t="t" l="l"/>
              <a:pathLst>
                <a:path h="456692" w="4317238">
                  <a:moveTo>
                    <a:pt x="0" y="228346"/>
                  </a:moveTo>
                  <a:cubicBezTo>
                    <a:pt x="0" y="102235"/>
                    <a:pt x="966470" y="0"/>
                    <a:pt x="2158619" y="0"/>
                  </a:cubicBezTo>
                  <a:cubicBezTo>
                    <a:pt x="3350768" y="0"/>
                    <a:pt x="4317238" y="102235"/>
                    <a:pt x="4317238" y="228346"/>
                  </a:cubicBezTo>
                  <a:cubicBezTo>
                    <a:pt x="4317238" y="354457"/>
                    <a:pt x="3350768" y="456692"/>
                    <a:pt x="2158619" y="456692"/>
                  </a:cubicBezTo>
                  <a:cubicBezTo>
                    <a:pt x="966470" y="456692"/>
                    <a:pt x="0" y="354457"/>
                    <a:pt x="0" y="228346"/>
                  </a:cubicBezTo>
                  <a:close/>
                </a:path>
              </a:pathLst>
            </a:custGeom>
            <a:solidFill>
              <a:srgbClr val="8ED4FF"/>
            </a:solidFill>
          </p:spPr>
        </p:sp>
        <p:sp>
          <p:nvSpPr>
            <p:cNvPr name="TextBox 41" id="41"/>
            <p:cNvSpPr txBox="true"/>
            <p:nvPr/>
          </p:nvSpPr>
          <p:spPr>
            <a:xfrm>
              <a:off x="0" y="-19050"/>
              <a:ext cx="4317263" cy="475755"/>
            </a:xfrm>
            <a:prstGeom prst="rect">
              <a:avLst/>
            </a:prstGeom>
          </p:spPr>
          <p:txBody>
            <a:bodyPr anchor="ctr" rtlCol="false" tIns="50800" lIns="50800" bIns="50800" rIns="50800"/>
            <a:lstStyle/>
            <a:p>
              <a:pPr algn="ctr">
                <a:lnSpc>
                  <a:spcPts val="1439"/>
                </a:lnSpc>
              </a:pPr>
              <a:r>
                <a:rPr lang="en-US" sz="1200" b="true">
                  <a:solidFill>
                    <a:srgbClr val="FFFFFF"/>
                  </a:solidFill>
                  <a:latin typeface="Arial Bold"/>
                  <a:ea typeface="Arial Bold"/>
                  <a:cs typeface="Arial Bold"/>
                  <a:sym typeface="Arial Bold"/>
                </a:rPr>
                <a:t>198</a:t>
              </a:r>
            </a:p>
          </p:txBody>
        </p:sp>
      </p:grpSp>
      <p:grpSp>
        <p:nvGrpSpPr>
          <p:cNvPr name="Group 42" id="42"/>
          <p:cNvGrpSpPr/>
          <p:nvPr/>
        </p:nvGrpSpPr>
        <p:grpSpPr>
          <a:xfrm rot="0">
            <a:off x="13768588" y="8042319"/>
            <a:ext cx="1777079" cy="185290"/>
            <a:chOff x="0" y="0"/>
            <a:chExt cx="2369439" cy="247053"/>
          </a:xfrm>
        </p:grpSpPr>
        <p:sp>
          <p:nvSpPr>
            <p:cNvPr name="Freeform 43" id="43"/>
            <p:cNvSpPr/>
            <p:nvPr/>
          </p:nvSpPr>
          <p:spPr>
            <a:xfrm flipH="false" flipV="false" rot="0">
              <a:off x="0" y="0"/>
              <a:ext cx="2369566" cy="247142"/>
            </a:xfrm>
            <a:custGeom>
              <a:avLst/>
              <a:gdLst/>
              <a:ahLst/>
              <a:cxnLst/>
              <a:rect r="r" b="b" t="t" l="l"/>
              <a:pathLst>
                <a:path h="247142" w="2369566">
                  <a:moveTo>
                    <a:pt x="0" y="123571"/>
                  </a:moveTo>
                  <a:cubicBezTo>
                    <a:pt x="0" y="55245"/>
                    <a:pt x="530479" y="0"/>
                    <a:pt x="1184783" y="0"/>
                  </a:cubicBezTo>
                  <a:cubicBezTo>
                    <a:pt x="1839087" y="0"/>
                    <a:pt x="2369566" y="55245"/>
                    <a:pt x="2369566" y="123571"/>
                  </a:cubicBezTo>
                  <a:cubicBezTo>
                    <a:pt x="2369566" y="191897"/>
                    <a:pt x="1839087" y="247142"/>
                    <a:pt x="1184783" y="247142"/>
                  </a:cubicBezTo>
                  <a:cubicBezTo>
                    <a:pt x="530479" y="247142"/>
                    <a:pt x="0" y="191770"/>
                    <a:pt x="0" y="123571"/>
                  </a:cubicBezTo>
                  <a:close/>
                </a:path>
              </a:pathLst>
            </a:custGeom>
            <a:solidFill>
              <a:srgbClr val="8ED4FF"/>
            </a:solidFill>
          </p:spPr>
        </p:sp>
        <p:sp>
          <p:nvSpPr>
            <p:cNvPr name="TextBox 44" id="44"/>
            <p:cNvSpPr txBox="true"/>
            <p:nvPr/>
          </p:nvSpPr>
          <p:spPr>
            <a:xfrm>
              <a:off x="0" y="-19050"/>
              <a:ext cx="2369439" cy="266103"/>
            </a:xfrm>
            <a:prstGeom prst="rect">
              <a:avLst/>
            </a:prstGeom>
          </p:spPr>
          <p:txBody>
            <a:bodyPr anchor="ctr" rtlCol="false" tIns="50800" lIns="50800" bIns="50800" rIns="50800"/>
            <a:lstStyle/>
            <a:p>
              <a:pPr algn="ctr">
                <a:lnSpc>
                  <a:spcPts val="1439"/>
                </a:lnSpc>
              </a:pPr>
              <a:r>
                <a:rPr lang="en-US" sz="1200" b="true">
                  <a:solidFill>
                    <a:srgbClr val="FFFFFF"/>
                  </a:solidFill>
                  <a:latin typeface="Arial Bold"/>
                  <a:ea typeface="Arial Bold"/>
                  <a:cs typeface="Arial Bold"/>
                  <a:sym typeface="Arial Bold"/>
                </a:rPr>
                <a:t>68</a:t>
              </a:r>
            </a:p>
          </p:txBody>
        </p:sp>
      </p:grpSp>
      <p:grpSp>
        <p:nvGrpSpPr>
          <p:cNvPr name="Group 45" id="45"/>
          <p:cNvGrpSpPr/>
          <p:nvPr/>
        </p:nvGrpSpPr>
        <p:grpSpPr>
          <a:xfrm rot="0">
            <a:off x="14100439" y="9330861"/>
            <a:ext cx="1139266" cy="342529"/>
            <a:chOff x="0" y="0"/>
            <a:chExt cx="1519022" cy="456705"/>
          </a:xfrm>
        </p:grpSpPr>
        <p:sp>
          <p:nvSpPr>
            <p:cNvPr name="Freeform 46" id="46"/>
            <p:cNvSpPr/>
            <p:nvPr/>
          </p:nvSpPr>
          <p:spPr>
            <a:xfrm flipH="false" flipV="false" rot="0">
              <a:off x="0" y="0"/>
              <a:ext cx="1518920" cy="456692"/>
            </a:xfrm>
            <a:custGeom>
              <a:avLst/>
              <a:gdLst/>
              <a:ahLst/>
              <a:cxnLst/>
              <a:rect r="r" b="b" t="t" l="l"/>
              <a:pathLst>
                <a:path h="456692" w="1518920">
                  <a:moveTo>
                    <a:pt x="0" y="228346"/>
                  </a:moveTo>
                  <a:cubicBezTo>
                    <a:pt x="0" y="102235"/>
                    <a:pt x="340106" y="0"/>
                    <a:pt x="759460" y="0"/>
                  </a:cubicBezTo>
                  <a:cubicBezTo>
                    <a:pt x="1178814" y="0"/>
                    <a:pt x="1518920" y="102235"/>
                    <a:pt x="1518920" y="228346"/>
                  </a:cubicBezTo>
                  <a:cubicBezTo>
                    <a:pt x="1518920" y="354457"/>
                    <a:pt x="1178941" y="456692"/>
                    <a:pt x="759460" y="456692"/>
                  </a:cubicBezTo>
                  <a:cubicBezTo>
                    <a:pt x="339979" y="456692"/>
                    <a:pt x="0" y="354457"/>
                    <a:pt x="0" y="228346"/>
                  </a:cubicBezTo>
                  <a:close/>
                </a:path>
              </a:pathLst>
            </a:custGeom>
            <a:solidFill>
              <a:srgbClr val="57C785"/>
            </a:solidFill>
          </p:spPr>
        </p:sp>
      </p:grpSp>
      <p:grpSp>
        <p:nvGrpSpPr>
          <p:cNvPr name="Group 47" id="47"/>
          <p:cNvGrpSpPr/>
          <p:nvPr/>
        </p:nvGrpSpPr>
        <p:grpSpPr>
          <a:xfrm rot="0">
            <a:off x="502444" y="9874129"/>
            <a:ext cx="1620002" cy="269996"/>
            <a:chOff x="0" y="0"/>
            <a:chExt cx="2160003" cy="359994"/>
          </a:xfrm>
        </p:grpSpPr>
        <p:sp>
          <p:nvSpPr>
            <p:cNvPr name="Freeform 48" id="48"/>
            <p:cNvSpPr/>
            <p:nvPr/>
          </p:nvSpPr>
          <p:spPr>
            <a:xfrm flipH="false" flipV="false" rot="0">
              <a:off x="0" y="0"/>
              <a:ext cx="2160000" cy="360000"/>
            </a:xfrm>
            <a:custGeom>
              <a:avLst/>
              <a:gdLst/>
              <a:ahLst/>
              <a:cxnLst/>
              <a:rect r="r" b="b" t="t" l="l"/>
              <a:pathLst>
                <a:path h="360000" w="2160000">
                  <a:moveTo>
                    <a:pt x="0" y="0"/>
                  </a:moveTo>
                  <a:lnTo>
                    <a:pt x="2160000" y="0"/>
                  </a:lnTo>
                  <a:lnTo>
                    <a:pt x="2160000" y="360000"/>
                  </a:lnTo>
                  <a:lnTo>
                    <a:pt x="0" y="360000"/>
                  </a:lnTo>
                  <a:close/>
                </a:path>
              </a:pathLst>
            </a:custGeom>
            <a:blipFill>
              <a:blip r:embed="rId3">
                <a:alphaModFix amt="0"/>
              </a:blip>
              <a:stretch>
                <a:fillRect l="0" t="-66911" r="0" b="-66909"/>
              </a:stretch>
            </a:blipFill>
          </p:spPr>
        </p:sp>
        <p:sp>
          <p:nvSpPr>
            <p:cNvPr name="TextBox 49" id="49"/>
            <p:cNvSpPr txBox="true"/>
            <p:nvPr/>
          </p:nvSpPr>
          <p:spPr>
            <a:xfrm>
              <a:off x="0" y="-19050"/>
              <a:ext cx="2160003" cy="379044"/>
            </a:xfrm>
            <a:prstGeom prst="rect">
              <a:avLst/>
            </a:prstGeom>
          </p:spPr>
          <p:txBody>
            <a:bodyPr anchor="b" rtlCol="false" tIns="0" lIns="0" bIns="0" rIns="0"/>
            <a:lstStyle/>
            <a:p>
              <a:pPr algn="l">
                <a:lnSpc>
                  <a:spcPts val="1439"/>
                </a:lnSpc>
              </a:pPr>
              <a:r>
                <a:rPr lang="en-US" sz="1200">
                  <a:solidFill>
                    <a:srgbClr val="808080"/>
                  </a:solidFill>
                  <a:latin typeface="Arial"/>
                  <a:ea typeface="Arial"/>
                  <a:cs typeface="Arial"/>
                  <a:sym typeface="Arial"/>
                </a:rPr>
                <a:t>© 2026 ProcDNA</a:t>
              </a:r>
            </a:p>
          </p:txBody>
        </p:sp>
      </p:grpSp>
      <p:sp>
        <p:nvSpPr>
          <p:cNvPr name="TextBox 50" id="50"/>
          <p:cNvSpPr txBox="true"/>
          <p:nvPr/>
        </p:nvSpPr>
        <p:spPr>
          <a:xfrm rot="0">
            <a:off x="14041084" y="8599084"/>
            <a:ext cx="1198621" cy="533715"/>
          </a:xfrm>
          <a:prstGeom prst="rect">
            <a:avLst/>
          </a:prstGeom>
        </p:spPr>
        <p:txBody>
          <a:bodyPr anchor="t" rtlCol="false" tIns="0" lIns="0" bIns="0" rIns="0">
            <a:spAutoFit/>
          </a:bodyPr>
          <a:lstStyle/>
          <a:p>
            <a:pPr algn="ctr">
              <a:lnSpc>
                <a:spcPts val="1372"/>
              </a:lnSpc>
              <a:spcBef>
                <a:spcPct val="0"/>
              </a:spcBef>
            </a:pPr>
            <a:r>
              <a:rPr lang="en-US" b="true" sz="1270">
                <a:solidFill>
                  <a:srgbClr val="FFFFFF"/>
                </a:solidFill>
                <a:latin typeface="Arial Bold"/>
                <a:ea typeface="Arial Bold"/>
                <a:cs typeface="Arial Bold"/>
                <a:sym typeface="Arial Bold"/>
              </a:rPr>
              <a:t>68 HCPs: multiple alerts, zero Rx (30d)</a:t>
            </a:r>
          </a:p>
        </p:txBody>
      </p:sp>
      <p:sp>
        <p:nvSpPr>
          <p:cNvPr name="TextBox 51" id="51"/>
          <p:cNvSpPr txBox="true"/>
          <p:nvPr/>
        </p:nvSpPr>
        <p:spPr>
          <a:xfrm rot="0">
            <a:off x="12681323" y="5428288"/>
            <a:ext cx="3918142" cy="190805"/>
          </a:xfrm>
          <a:prstGeom prst="rect">
            <a:avLst/>
          </a:prstGeom>
        </p:spPr>
        <p:txBody>
          <a:bodyPr anchor="t" rtlCol="false" tIns="0" lIns="0" bIns="0" rIns="0">
            <a:spAutoFit/>
          </a:bodyPr>
          <a:lstStyle/>
          <a:p>
            <a:pPr algn="ctr">
              <a:lnSpc>
                <a:spcPts val="1371"/>
              </a:lnSpc>
              <a:spcBef>
                <a:spcPct val="0"/>
              </a:spcBef>
            </a:pPr>
            <a:r>
              <a:rPr lang="en-US" b="true" sz="1269">
                <a:solidFill>
                  <a:srgbClr val="FFFFFF"/>
                </a:solidFill>
                <a:latin typeface="Arial Bold"/>
                <a:ea typeface="Arial Bold"/>
                <a:cs typeface="Arial Bold"/>
                <a:sym typeface="Arial Bold"/>
              </a:rPr>
              <a:t>214 HCPs with ≥ 1 Positive Alert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4998"/>
            <a:chOff x="0" y="0"/>
            <a:chExt cx="24384000" cy="179997"/>
          </a:xfrm>
        </p:grpSpPr>
        <p:sp>
          <p:nvSpPr>
            <p:cNvPr name="Freeform 3" id="3"/>
            <p:cNvSpPr/>
            <p:nvPr/>
          </p:nvSpPr>
          <p:spPr>
            <a:xfrm flipH="false" flipV="false" rot="0">
              <a:off x="0" y="0"/>
              <a:ext cx="24384000" cy="179959"/>
            </a:xfrm>
            <a:custGeom>
              <a:avLst/>
              <a:gdLst/>
              <a:ahLst/>
              <a:cxnLst/>
              <a:rect r="r" b="b" t="t" l="l"/>
              <a:pathLst>
                <a:path h="179959" w="24384000">
                  <a:moveTo>
                    <a:pt x="0" y="0"/>
                  </a:moveTo>
                  <a:lnTo>
                    <a:pt x="24384000" y="0"/>
                  </a:lnTo>
                  <a:lnTo>
                    <a:pt x="24384000" y="179959"/>
                  </a:lnTo>
                  <a:lnTo>
                    <a:pt x="0" y="179959"/>
                  </a:lnTo>
                  <a:close/>
                </a:path>
              </a:pathLst>
            </a:custGeom>
            <a:gradFill rotWithShape="true">
              <a:gsLst>
                <a:gs pos="0">
                  <a:srgbClr val="005CD9">
                    <a:alpha val="100000"/>
                  </a:srgbClr>
                </a:gs>
                <a:gs pos="50000">
                  <a:srgbClr val="007ECC">
                    <a:alpha val="100000"/>
                  </a:srgbClr>
                </a:gs>
                <a:gs pos="100000">
                  <a:srgbClr val="001E96">
                    <a:alpha val="100000"/>
                  </a:srgbClr>
                </a:gs>
              </a:gsLst>
              <a:lin ang="0"/>
            </a:gradFill>
          </p:spPr>
        </p:sp>
      </p:grpSp>
      <p:sp>
        <p:nvSpPr>
          <p:cNvPr name="AutoShape 4" id="4"/>
          <p:cNvSpPr/>
          <p:nvPr/>
        </p:nvSpPr>
        <p:spPr>
          <a:xfrm rot="3780">
            <a:off x="492919" y="1755696"/>
            <a:ext cx="17299057" cy="0"/>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502444" y="613600"/>
            <a:ext cx="17279998" cy="989457"/>
            <a:chOff x="0" y="0"/>
            <a:chExt cx="23039997" cy="1319276"/>
          </a:xfrm>
        </p:grpSpPr>
        <p:sp>
          <p:nvSpPr>
            <p:cNvPr name="Freeform 6" id="6"/>
            <p:cNvSpPr/>
            <p:nvPr/>
          </p:nvSpPr>
          <p:spPr>
            <a:xfrm flipH="false" flipV="false" rot="0">
              <a:off x="0" y="0"/>
              <a:ext cx="23040000" cy="1319272"/>
            </a:xfrm>
            <a:custGeom>
              <a:avLst/>
              <a:gdLst/>
              <a:ahLst/>
              <a:cxnLst/>
              <a:rect r="r" b="b" t="t" l="l"/>
              <a:pathLst>
                <a:path h="1319272" w="23040000">
                  <a:moveTo>
                    <a:pt x="0" y="0"/>
                  </a:moveTo>
                  <a:lnTo>
                    <a:pt x="23040000" y="0"/>
                  </a:lnTo>
                  <a:lnTo>
                    <a:pt x="23040000" y="1319272"/>
                  </a:lnTo>
                  <a:lnTo>
                    <a:pt x="0" y="1319272"/>
                  </a:lnTo>
                  <a:close/>
                </a:path>
              </a:pathLst>
            </a:custGeom>
            <a:blipFill>
              <a:blip r:embed="rId3">
                <a:alphaModFix amt="0"/>
              </a:blip>
              <a:stretch>
                <a:fillRect l="0" t="-290289" r="0" b="-290290"/>
              </a:stretch>
            </a:blipFill>
          </p:spPr>
        </p:sp>
        <p:sp>
          <p:nvSpPr>
            <p:cNvPr name="TextBox 7" id="7"/>
            <p:cNvSpPr txBox="true"/>
            <p:nvPr/>
          </p:nvSpPr>
          <p:spPr>
            <a:xfrm>
              <a:off x="0" y="9525"/>
              <a:ext cx="23039997" cy="1309751"/>
            </a:xfrm>
            <a:prstGeom prst="rect">
              <a:avLst/>
            </a:prstGeom>
          </p:spPr>
          <p:txBody>
            <a:bodyPr anchor="b" rtlCol="false" tIns="0" lIns="0" bIns="0" rIns="0"/>
            <a:lstStyle/>
            <a:p>
              <a:pPr algn="l">
                <a:lnSpc>
                  <a:spcPts val="3564"/>
                </a:lnSpc>
              </a:pPr>
              <a:r>
                <a:rPr lang="en-US" sz="3300" b="true">
                  <a:solidFill>
                    <a:srgbClr val="001E96"/>
                  </a:solidFill>
                  <a:latin typeface="Arial Bold"/>
                  <a:ea typeface="Arial Bold"/>
                  <a:cs typeface="Arial Bold"/>
                  <a:sym typeface="Arial Bold"/>
                </a:rPr>
                <a:t>Question 3: Among our top doctors, how much business is going to competitors?</a:t>
              </a:r>
            </a:p>
          </p:txBody>
        </p:sp>
      </p:grpSp>
      <p:grpSp>
        <p:nvGrpSpPr>
          <p:cNvPr name="Group 8" id="8"/>
          <p:cNvGrpSpPr/>
          <p:nvPr/>
        </p:nvGrpSpPr>
        <p:grpSpPr>
          <a:xfrm rot="0">
            <a:off x="502444" y="9874129"/>
            <a:ext cx="1620002" cy="269996"/>
            <a:chOff x="0" y="0"/>
            <a:chExt cx="2160003" cy="359994"/>
          </a:xfrm>
        </p:grpSpPr>
        <p:sp>
          <p:nvSpPr>
            <p:cNvPr name="Freeform 9" id="9"/>
            <p:cNvSpPr/>
            <p:nvPr/>
          </p:nvSpPr>
          <p:spPr>
            <a:xfrm flipH="false" flipV="false" rot="0">
              <a:off x="0" y="0"/>
              <a:ext cx="2160000" cy="360000"/>
            </a:xfrm>
            <a:custGeom>
              <a:avLst/>
              <a:gdLst/>
              <a:ahLst/>
              <a:cxnLst/>
              <a:rect r="r" b="b" t="t" l="l"/>
              <a:pathLst>
                <a:path h="360000" w="2160000">
                  <a:moveTo>
                    <a:pt x="0" y="0"/>
                  </a:moveTo>
                  <a:lnTo>
                    <a:pt x="2160000" y="0"/>
                  </a:lnTo>
                  <a:lnTo>
                    <a:pt x="2160000" y="360000"/>
                  </a:lnTo>
                  <a:lnTo>
                    <a:pt x="0" y="360000"/>
                  </a:lnTo>
                  <a:close/>
                </a:path>
              </a:pathLst>
            </a:custGeom>
            <a:blipFill>
              <a:blip r:embed="rId3">
                <a:alphaModFix amt="0"/>
              </a:blip>
              <a:stretch>
                <a:fillRect l="0" t="-66911" r="0" b="-66909"/>
              </a:stretch>
            </a:blipFill>
          </p:spPr>
        </p:sp>
        <p:sp>
          <p:nvSpPr>
            <p:cNvPr name="TextBox 10" id="10"/>
            <p:cNvSpPr txBox="true"/>
            <p:nvPr/>
          </p:nvSpPr>
          <p:spPr>
            <a:xfrm>
              <a:off x="0" y="-19050"/>
              <a:ext cx="2160003" cy="379044"/>
            </a:xfrm>
            <a:prstGeom prst="rect">
              <a:avLst/>
            </a:prstGeom>
          </p:spPr>
          <p:txBody>
            <a:bodyPr anchor="b" rtlCol="false" tIns="0" lIns="0" bIns="0" rIns="0"/>
            <a:lstStyle/>
            <a:p>
              <a:pPr algn="l">
                <a:lnSpc>
                  <a:spcPts val="1439"/>
                </a:lnSpc>
              </a:pPr>
              <a:r>
                <a:rPr lang="en-US" sz="1200">
                  <a:solidFill>
                    <a:srgbClr val="808080"/>
                  </a:solidFill>
                  <a:latin typeface="Arial"/>
                  <a:ea typeface="Arial"/>
                  <a:cs typeface="Arial"/>
                  <a:sym typeface="Arial"/>
                </a:rPr>
                <a:t>© 2026 ProcDNA</a:t>
              </a:r>
            </a:p>
          </p:txBody>
        </p:sp>
      </p:grpSp>
      <p:grpSp>
        <p:nvGrpSpPr>
          <p:cNvPr name="Group 11" id="11"/>
          <p:cNvGrpSpPr/>
          <p:nvPr/>
        </p:nvGrpSpPr>
        <p:grpSpPr>
          <a:xfrm rot="0">
            <a:off x="17245555" y="9874129"/>
            <a:ext cx="540001" cy="269996"/>
            <a:chOff x="0" y="0"/>
            <a:chExt cx="720001" cy="359994"/>
          </a:xfrm>
        </p:grpSpPr>
        <p:sp>
          <p:nvSpPr>
            <p:cNvPr name="Freeform 12" id="12"/>
            <p:cNvSpPr/>
            <p:nvPr/>
          </p:nvSpPr>
          <p:spPr>
            <a:xfrm flipH="false" flipV="false" rot="0">
              <a:off x="0" y="0"/>
              <a:ext cx="720000" cy="360000"/>
            </a:xfrm>
            <a:custGeom>
              <a:avLst/>
              <a:gdLst/>
              <a:ahLst/>
              <a:cxnLst/>
              <a:rect r="r" b="b" t="t" l="l"/>
              <a:pathLst>
                <a:path h="360000" w="720000">
                  <a:moveTo>
                    <a:pt x="0" y="0"/>
                  </a:moveTo>
                  <a:lnTo>
                    <a:pt x="720000" y="0"/>
                  </a:lnTo>
                  <a:lnTo>
                    <a:pt x="720000" y="360000"/>
                  </a:lnTo>
                  <a:lnTo>
                    <a:pt x="0" y="360000"/>
                  </a:lnTo>
                  <a:close/>
                </a:path>
              </a:pathLst>
            </a:custGeom>
            <a:blipFill>
              <a:blip r:embed="rId3">
                <a:alphaModFix amt="0"/>
              </a:blip>
              <a:stretch>
                <a:fillRect l="-14150" t="0" r="-14150" b="1"/>
              </a:stretch>
            </a:blipFill>
          </p:spPr>
        </p:sp>
        <p:sp>
          <p:nvSpPr>
            <p:cNvPr name="TextBox 13" id="13"/>
            <p:cNvSpPr txBox="true"/>
            <p:nvPr/>
          </p:nvSpPr>
          <p:spPr>
            <a:xfrm>
              <a:off x="0" y="-19050"/>
              <a:ext cx="720001" cy="379044"/>
            </a:xfrm>
            <a:prstGeom prst="rect">
              <a:avLst/>
            </a:prstGeom>
          </p:spPr>
          <p:txBody>
            <a:bodyPr anchor="b" rtlCol="false" tIns="0" lIns="0" bIns="0" rIns="0"/>
            <a:lstStyle/>
            <a:p>
              <a:pPr algn="r">
                <a:lnSpc>
                  <a:spcPts val="1439"/>
                </a:lnSpc>
              </a:pPr>
              <a:r>
                <a:rPr lang="en-US" sz="1200">
                  <a:solidFill>
                    <a:srgbClr val="808080"/>
                  </a:solidFill>
                  <a:latin typeface="Arial"/>
                  <a:ea typeface="Arial"/>
                  <a:cs typeface="Arial"/>
                  <a:sym typeface="Arial"/>
                </a:rPr>
                <a:t>6</a:t>
              </a:r>
            </a:p>
          </p:txBody>
        </p:sp>
      </p:grpSp>
      <p:grpSp>
        <p:nvGrpSpPr>
          <p:cNvPr name="Group 14" id="14"/>
          <p:cNvGrpSpPr/>
          <p:nvPr/>
        </p:nvGrpSpPr>
        <p:grpSpPr>
          <a:xfrm rot="0">
            <a:off x="480060" y="1852632"/>
            <a:ext cx="17350740" cy="2524839"/>
            <a:chOff x="0" y="0"/>
            <a:chExt cx="23134320" cy="3366452"/>
          </a:xfrm>
        </p:grpSpPr>
        <p:sp>
          <p:nvSpPr>
            <p:cNvPr name="Freeform 15" id="15"/>
            <p:cNvSpPr/>
            <p:nvPr/>
          </p:nvSpPr>
          <p:spPr>
            <a:xfrm flipH="false" flipV="false" rot="0">
              <a:off x="0" y="0"/>
              <a:ext cx="23134320" cy="3366458"/>
            </a:xfrm>
            <a:custGeom>
              <a:avLst/>
              <a:gdLst/>
              <a:ahLst/>
              <a:cxnLst/>
              <a:rect r="r" b="b" t="t" l="l"/>
              <a:pathLst>
                <a:path h="3366458" w="23134320">
                  <a:moveTo>
                    <a:pt x="0" y="0"/>
                  </a:moveTo>
                  <a:lnTo>
                    <a:pt x="23134320" y="0"/>
                  </a:lnTo>
                  <a:lnTo>
                    <a:pt x="23134320" y="3366458"/>
                  </a:lnTo>
                  <a:lnTo>
                    <a:pt x="0" y="3366458"/>
                  </a:lnTo>
                  <a:close/>
                </a:path>
              </a:pathLst>
            </a:custGeom>
            <a:blipFill>
              <a:blip r:embed="rId3">
                <a:alphaModFix amt="0"/>
              </a:blip>
              <a:stretch>
                <a:fillRect l="0" t="-83901" r="0" b="-83901"/>
              </a:stretch>
            </a:blipFill>
          </p:spPr>
        </p:sp>
        <p:sp>
          <p:nvSpPr>
            <p:cNvPr name="TextBox 16" id="16"/>
            <p:cNvSpPr txBox="true"/>
            <p:nvPr/>
          </p:nvSpPr>
          <p:spPr>
            <a:xfrm>
              <a:off x="0" y="-9525"/>
              <a:ext cx="23134320" cy="3375977"/>
            </a:xfrm>
            <a:prstGeom prst="rect">
              <a:avLst/>
            </a:prstGeom>
          </p:spPr>
          <p:txBody>
            <a:bodyPr anchor="ctr" rtlCol="false" tIns="0" lIns="0" bIns="0" rIns="0"/>
            <a:lstStyle/>
            <a:p>
              <a:pPr algn="l">
                <a:lnSpc>
                  <a:spcPts val="2520"/>
                </a:lnSpc>
              </a:pPr>
              <a:r>
                <a:rPr lang="en-US" sz="2100">
                  <a:solidFill>
                    <a:srgbClr val="000000"/>
                  </a:solidFill>
                  <a:latin typeface="Arial"/>
                  <a:ea typeface="Arial"/>
                  <a:cs typeface="Arial"/>
                  <a:sym typeface="Arial"/>
                </a:rPr>
                <a:t>Use the </a:t>
              </a:r>
              <a:r>
                <a:rPr lang="en-US" sz="2100" b="true">
                  <a:solidFill>
                    <a:srgbClr val="000000"/>
                  </a:solidFill>
                  <a:latin typeface="Arial Bold"/>
                  <a:ea typeface="Arial Bold"/>
                  <a:cs typeface="Arial Bold"/>
                  <a:sym typeface="Arial Bold"/>
                </a:rPr>
                <a:t>Top 10 doctors by total alert volume </a:t>
              </a:r>
              <a:r>
                <a:rPr lang="en-US" sz="2100">
                  <a:solidFill>
                    <a:srgbClr val="000000"/>
                  </a:solidFill>
                  <a:latin typeface="Arial"/>
                  <a:ea typeface="Arial"/>
                  <a:cs typeface="Arial"/>
                  <a:sym typeface="Arial"/>
                </a:rPr>
                <a:t>from Question 1.</a:t>
              </a:r>
            </a:p>
            <a:p>
              <a:pPr algn="l">
                <a:lnSpc>
                  <a:spcPts val="2520"/>
                </a:lnSpc>
              </a:pPr>
              <a:r>
                <a:rPr lang="en-US" sz="2100">
                  <a:solidFill>
                    <a:srgbClr val="000000"/>
                  </a:solidFill>
                  <a:latin typeface="Arial"/>
                  <a:ea typeface="Arial"/>
                  <a:cs typeface="Arial"/>
                  <a:sym typeface="Arial"/>
                </a:rPr>
                <a:t>For these 10 doctors, calculate the share of total prescription volume contributed by:</a:t>
              </a:r>
            </a:p>
            <a:p>
              <a:pPr algn="l" marL="1065848" indent="-355282" lvl="2">
                <a:lnSpc>
                  <a:spcPts val="2520"/>
                </a:lnSpc>
                <a:buFont typeface="Arial"/>
                <a:buChar char="⚬"/>
              </a:pPr>
              <a:r>
                <a:rPr lang="en-US" b="true" sz="2100">
                  <a:solidFill>
                    <a:srgbClr val="000000"/>
                  </a:solidFill>
                  <a:latin typeface="Arial Bold"/>
                  <a:ea typeface="Arial Bold"/>
                  <a:cs typeface="Arial Bold"/>
                  <a:sym typeface="Arial Bold"/>
                </a:rPr>
                <a:t>Our Drug (DRG001)</a:t>
              </a:r>
            </a:p>
            <a:p>
              <a:pPr algn="l" marL="1065848" indent="-355282" lvl="2">
                <a:lnSpc>
                  <a:spcPts val="2520"/>
                </a:lnSpc>
                <a:buFont typeface="Arial"/>
                <a:buChar char="⚬"/>
              </a:pPr>
              <a:r>
                <a:rPr lang="en-US" b="true" sz="2100">
                  <a:solidFill>
                    <a:srgbClr val="000000"/>
                  </a:solidFill>
                  <a:latin typeface="Arial Bold"/>
                  <a:ea typeface="Arial Bold"/>
                  <a:cs typeface="Arial Bold"/>
                  <a:sym typeface="Arial Bold"/>
                </a:rPr>
                <a:t>Competitor Drugs (all other drugs)</a:t>
              </a:r>
            </a:p>
            <a:p>
              <a:pPr algn="l" marL="1065848" indent="-355282" lvl="2">
                <a:lnSpc>
                  <a:spcPts val="2520"/>
                </a:lnSpc>
              </a:pPr>
              <a:r>
                <a:rPr lang="en-US" sz="2100">
                  <a:solidFill>
                    <a:srgbClr val="000000"/>
                  </a:solidFill>
                  <a:latin typeface="Arial"/>
                  <a:ea typeface="Arial"/>
                  <a:cs typeface="Arial"/>
                  <a:sym typeface="Arial"/>
                </a:rPr>
                <a:t>Next, identify which competitor drug accounts for the highest prescription volume and is capturing the largest share among your highest-alerting doctors.</a:t>
              </a:r>
            </a:p>
          </p:txBody>
        </p:sp>
      </p:grpSp>
      <p:sp>
        <p:nvSpPr>
          <p:cNvPr name="TextBox 17" id="17"/>
          <p:cNvSpPr txBox="true"/>
          <p:nvPr/>
        </p:nvSpPr>
        <p:spPr>
          <a:xfrm rot="0">
            <a:off x="9924574" y="4449756"/>
            <a:ext cx="8124749" cy="801367"/>
          </a:xfrm>
          <a:prstGeom prst="rect">
            <a:avLst/>
          </a:prstGeom>
        </p:spPr>
        <p:txBody>
          <a:bodyPr anchor="t" rtlCol="false" tIns="0" lIns="0" bIns="0" rIns="0">
            <a:spAutoFit/>
          </a:bodyPr>
          <a:lstStyle/>
          <a:p>
            <a:pPr algn="ctr">
              <a:lnSpc>
                <a:spcPts val="2592"/>
              </a:lnSpc>
            </a:pPr>
            <a:r>
              <a:rPr lang="en-US" sz="2400" b="true">
                <a:solidFill>
                  <a:srgbClr val="001E96"/>
                </a:solidFill>
                <a:latin typeface="Arial Bold"/>
                <a:ea typeface="Arial Bold"/>
                <a:cs typeface="Arial Bold"/>
                <a:sym typeface="Arial Bold"/>
              </a:rPr>
              <a:t>Most prescribed competitor drug among these HCPs</a:t>
            </a:r>
          </a:p>
        </p:txBody>
      </p:sp>
      <p:graphicFrame>
        <p:nvGraphicFramePr>
          <p:cNvPr name="Table 18" id="18"/>
          <p:cNvGraphicFramePr>
            <a:graphicFrameLocks noGrp="true"/>
          </p:cNvGraphicFramePr>
          <p:nvPr/>
        </p:nvGraphicFramePr>
        <p:xfrm>
          <a:off x="9889236" y="4964366"/>
          <a:ext cx="8115300" cy="1352550"/>
        </p:xfrm>
        <a:graphic>
          <a:graphicData uri="http://schemas.openxmlformats.org/drawingml/2006/table">
            <a:tbl>
              <a:tblPr/>
              <a:tblGrid>
                <a:gridCol w="2705100"/>
                <a:gridCol w="2705100"/>
                <a:gridCol w="2705100"/>
              </a:tblGrid>
              <a:tr h="679227">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Competitor Drug Name</a:t>
                      </a:r>
                      <a:endParaRPr lang="en-US" sz="1100"/>
                    </a:p>
                  </a:txBody>
                  <a:tcPr marL="8572" marR="8572" marT="8572" marB="857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Drug_ID</a:t>
                      </a:r>
                      <a:endParaRPr lang="en-US" sz="1100"/>
                    </a:p>
                  </a:txBody>
                  <a:tcPr marL="8572" marR="8572" marT="8572" marB="857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Total Prescription Volume</a:t>
                      </a:r>
                      <a:endParaRPr lang="en-US" sz="1100"/>
                    </a:p>
                  </a:txBody>
                  <a:tcPr marL="8572" marR="8572" marT="8572" marB="857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r>
              <a:tr h="673323">
                <a:tc>
                  <a:txBody>
                    <a:bodyPr anchor="t" rtlCol="false"/>
                    <a:lstStyle/>
                    <a:p>
                      <a:pPr algn="ctr">
                        <a:lnSpc>
                          <a:spcPts val="1620"/>
                        </a:lnSpc>
                        <a:defRPr/>
                      </a:pPr>
                      <a:r>
                        <a:rPr lang="en-US" sz="1350">
                          <a:solidFill>
                            <a:srgbClr val="000000"/>
                          </a:solidFill>
                          <a:latin typeface="Arial"/>
                          <a:ea typeface="Arial"/>
                          <a:cs typeface="Arial"/>
                          <a:sym typeface="Arial"/>
                        </a:rPr>
                        <a:t>Rivalex</a:t>
                      </a:r>
                      <a:endParaRPr lang="en-US" sz="1100"/>
                    </a:p>
                  </a:txBody>
                  <a:tcPr marL="8572" marR="8572" marT="8572" marB="857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DRG002</a:t>
                      </a:r>
                      <a:endParaRPr lang="en-US" sz="1100"/>
                    </a:p>
                  </a:txBody>
                  <a:tcPr marL="8572" marR="8572" marT="8572" marB="857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1470</a:t>
                      </a:r>
                      <a:endParaRPr lang="en-US" sz="1100"/>
                    </a:p>
                  </a:txBody>
                  <a:tcPr marL="8572" marR="8572" marT="8572" marB="857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bl>
          </a:graphicData>
        </a:graphic>
      </p:graphicFrame>
      <p:graphicFrame>
        <p:nvGraphicFramePr>
          <p:cNvPr name="Table 19" id="19"/>
          <p:cNvGraphicFramePr>
            <a:graphicFrameLocks noGrp="true"/>
          </p:cNvGraphicFramePr>
          <p:nvPr/>
        </p:nvGraphicFramePr>
        <p:xfrm>
          <a:off x="642966" y="4964366"/>
          <a:ext cx="7867650" cy="5093515"/>
        </p:xfrm>
        <a:graphic>
          <a:graphicData uri="http://schemas.openxmlformats.org/drawingml/2006/table">
            <a:tbl>
              <a:tblPr/>
              <a:tblGrid>
                <a:gridCol w="1468741"/>
                <a:gridCol w="1599727"/>
                <a:gridCol w="1599727"/>
                <a:gridCol w="1599727"/>
                <a:gridCol w="1599727"/>
              </a:tblGrid>
              <a:tr h="1078342">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Alert Rank</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HCP_ID</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Total Prescription Volume</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 </a:t>
                      </a:r>
                      <a:endParaRPr lang="en-US" sz="1100"/>
                    </a:p>
                    <a:p>
                      <a:pPr algn="ctr">
                        <a:lnSpc>
                          <a:spcPts val="2520"/>
                        </a:lnSpc>
                      </a:pPr>
                      <a:r>
                        <a:rPr lang="en-US" sz="2100" b="true">
                          <a:solidFill>
                            <a:srgbClr val="FFFFFF"/>
                          </a:solidFill>
                          <a:latin typeface="Arial Bold"/>
                          <a:ea typeface="Arial Bold"/>
                          <a:cs typeface="Arial Bold"/>
                          <a:sym typeface="Arial Bold"/>
                        </a:rPr>
                        <a:t>Our Drug Share</a:t>
                      </a:r>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 Competitor  Share</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r>
              <a:tr h="401517">
                <a:tc>
                  <a:txBody>
                    <a:bodyPr anchor="t" rtlCol="false"/>
                    <a:lstStyle/>
                    <a:p>
                      <a:pPr algn="ctr">
                        <a:lnSpc>
                          <a:spcPts val="2520"/>
                        </a:lnSpc>
                        <a:defRPr/>
                      </a:pPr>
                      <a:r>
                        <a:rPr lang="en-US" sz="2100">
                          <a:solidFill>
                            <a:srgbClr val="000000"/>
                          </a:solidFill>
                          <a:latin typeface="Arial"/>
                          <a:ea typeface="Arial"/>
                          <a:cs typeface="Arial"/>
                          <a:sym typeface="Arial"/>
                        </a:rPr>
                        <a:t>1</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HCP041</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1517">
                <a:tc>
                  <a:txBody>
                    <a:bodyPr anchor="t" rtlCol="false"/>
                    <a:lstStyle/>
                    <a:p>
                      <a:pPr algn="ctr">
                        <a:lnSpc>
                          <a:spcPts val="2520"/>
                        </a:lnSpc>
                        <a:defRPr/>
                      </a:pPr>
                      <a:r>
                        <a:rPr lang="en-US" sz="2100">
                          <a:solidFill>
                            <a:srgbClr val="000000"/>
                          </a:solidFill>
                          <a:latin typeface="Arial"/>
                          <a:ea typeface="Arial"/>
                          <a:cs typeface="Arial"/>
                          <a:sym typeface="Arial"/>
                        </a:rPr>
                        <a:t>2</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HCP011</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1517">
                <a:tc>
                  <a:txBody>
                    <a:bodyPr anchor="t" rtlCol="false"/>
                    <a:lstStyle/>
                    <a:p>
                      <a:pPr algn="ctr">
                        <a:lnSpc>
                          <a:spcPts val="2520"/>
                        </a:lnSpc>
                        <a:defRPr/>
                      </a:pPr>
                      <a:r>
                        <a:rPr lang="en-US" sz="2100">
                          <a:solidFill>
                            <a:srgbClr val="000000"/>
                          </a:solidFill>
                          <a:latin typeface="Arial"/>
                          <a:ea typeface="Arial"/>
                          <a:cs typeface="Arial"/>
                          <a:sym typeface="Arial"/>
                        </a:rPr>
                        <a:t>3</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HCP035</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1517">
                <a:tc>
                  <a:txBody>
                    <a:bodyPr anchor="t" rtlCol="false"/>
                    <a:lstStyle/>
                    <a:p>
                      <a:pPr algn="ctr">
                        <a:lnSpc>
                          <a:spcPts val="2520"/>
                        </a:lnSpc>
                        <a:defRPr/>
                      </a:pPr>
                      <a:r>
                        <a:rPr lang="en-US" sz="2100">
                          <a:solidFill>
                            <a:srgbClr val="000000"/>
                          </a:solidFill>
                          <a:latin typeface="Arial"/>
                          <a:ea typeface="Arial"/>
                          <a:cs typeface="Arial"/>
                          <a:sym typeface="Arial"/>
                        </a:rPr>
                        <a:t>4</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HCP029</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1517">
                <a:tc>
                  <a:txBody>
                    <a:bodyPr anchor="t" rtlCol="false"/>
                    <a:lstStyle/>
                    <a:p>
                      <a:pPr algn="ctr">
                        <a:lnSpc>
                          <a:spcPts val="2520"/>
                        </a:lnSpc>
                        <a:defRPr/>
                      </a:pPr>
                      <a:r>
                        <a:rPr lang="en-US" sz="2100">
                          <a:solidFill>
                            <a:srgbClr val="000000"/>
                          </a:solidFill>
                          <a:latin typeface="Arial"/>
                          <a:ea typeface="Arial"/>
                          <a:cs typeface="Arial"/>
                          <a:sym typeface="Arial"/>
                        </a:rPr>
                        <a:t>5</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HCP021</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1517">
                <a:tc>
                  <a:txBody>
                    <a:bodyPr anchor="t" rtlCol="false"/>
                    <a:lstStyle/>
                    <a:p>
                      <a:pPr algn="ctr">
                        <a:lnSpc>
                          <a:spcPts val="2520"/>
                        </a:lnSpc>
                        <a:defRPr/>
                      </a:pPr>
                      <a:r>
                        <a:rPr lang="en-US" sz="2100">
                          <a:solidFill>
                            <a:srgbClr val="000000"/>
                          </a:solidFill>
                          <a:latin typeface="Arial"/>
                          <a:ea typeface="Arial"/>
                          <a:cs typeface="Arial"/>
                          <a:sym typeface="Arial"/>
                        </a:rPr>
                        <a:t>6</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HCP044</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1517">
                <a:tc>
                  <a:txBody>
                    <a:bodyPr anchor="t" rtlCol="false"/>
                    <a:lstStyle/>
                    <a:p>
                      <a:pPr algn="ctr">
                        <a:lnSpc>
                          <a:spcPts val="2520"/>
                        </a:lnSpc>
                        <a:defRPr/>
                      </a:pPr>
                      <a:r>
                        <a:rPr lang="en-US" sz="2100">
                          <a:solidFill>
                            <a:srgbClr val="000000"/>
                          </a:solidFill>
                          <a:latin typeface="Arial"/>
                          <a:ea typeface="Arial"/>
                          <a:cs typeface="Arial"/>
                          <a:sym typeface="Arial"/>
                        </a:rPr>
                        <a:t>7</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HCP042</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1517">
                <a:tc>
                  <a:txBody>
                    <a:bodyPr anchor="t" rtlCol="false"/>
                    <a:lstStyle/>
                    <a:p>
                      <a:pPr algn="ctr">
                        <a:lnSpc>
                          <a:spcPts val="2520"/>
                        </a:lnSpc>
                        <a:defRPr/>
                      </a:pPr>
                      <a:r>
                        <a:rPr lang="en-US" sz="2100">
                          <a:solidFill>
                            <a:srgbClr val="000000"/>
                          </a:solidFill>
                          <a:latin typeface="Arial"/>
                          <a:ea typeface="Arial"/>
                          <a:cs typeface="Arial"/>
                          <a:sym typeface="Arial"/>
                        </a:rPr>
                        <a:t>8</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HCP036</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1895</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64.7%</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35.3%</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1517">
                <a:tc>
                  <a:txBody>
                    <a:bodyPr anchor="t" rtlCol="false"/>
                    <a:lstStyle/>
                    <a:p>
                      <a:pPr algn="ctr">
                        <a:lnSpc>
                          <a:spcPts val="2520"/>
                        </a:lnSpc>
                        <a:defRPr/>
                      </a:pPr>
                      <a:r>
                        <a:rPr lang="en-US" sz="2100">
                          <a:solidFill>
                            <a:srgbClr val="000000"/>
                          </a:solidFill>
                          <a:latin typeface="Arial"/>
                          <a:ea typeface="Arial"/>
                          <a:cs typeface="Arial"/>
                          <a:sym typeface="Arial"/>
                        </a:rPr>
                        <a:t>9</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HCP027</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1517">
                <a:tc>
                  <a:txBody>
                    <a:bodyPr anchor="t" rtlCol="false"/>
                    <a:lstStyle/>
                    <a:p>
                      <a:pPr algn="ctr">
                        <a:lnSpc>
                          <a:spcPts val="2520"/>
                        </a:lnSpc>
                        <a:defRPr/>
                      </a:pPr>
                      <a:r>
                        <a:rPr lang="en-US" sz="2100">
                          <a:solidFill>
                            <a:srgbClr val="000000"/>
                          </a:solidFill>
                          <a:latin typeface="Arial"/>
                          <a:ea typeface="Arial"/>
                          <a:cs typeface="Arial"/>
                          <a:sym typeface="Arial"/>
                        </a:rPr>
                        <a:t>10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HCP010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bl>
          </a:graphicData>
        </a:graphic>
      </p:graphicFrame>
      <p:grpSp>
        <p:nvGrpSpPr>
          <p:cNvPr name="Group 20" id="20"/>
          <p:cNvGrpSpPr/>
          <p:nvPr/>
        </p:nvGrpSpPr>
        <p:grpSpPr>
          <a:xfrm rot="0">
            <a:off x="9915049" y="6374065"/>
            <a:ext cx="8143799" cy="3530230"/>
            <a:chOff x="0" y="0"/>
            <a:chExt cx="10858398" cy="4706973"/>
          </a:xfrm>
        </p:grpSpPr>
        <p:sp>
          <p:nvSpPr>
            <p:cNvPr name="Freeform 21" id="21"/>
            <p:cNvSpPr/>
            <p:nvPr/>
          </p:nvSpPr>
          <p:spPr>
            <a:xfrm flipH="false" flipV="false" rot="0">
              <a:off x="0" y="0"/>
              <a:ext cx="10858373" cy="4706958"/>
            </a:xfrm>
            <a:custGeom>
              <a:avLst/>
              <a:gdLst/>
              <a:ahLst/>
              <a:cxnLst/>
              <a:rect r="r" b="b" t="t" l="l"/>
              <a:pathLst>
                <a:path h="4706958" w="10858373">
                  <a:moveTo>
                    <a:pt x="0" y="0"/>
                  </a:moveTo>
                  <a:lnTo>
                    <a:pt x="10858373" y="0"/>
                  </a:lnTo>
                  <a:lnTo>
                    <a:pt x="10858373" y="4706958"/>
                  </a:lnTo>
                  <a:lnTo>
                    <a:pt x="0" y="4706958"/>
                  </a:lnTo>
                  <a:close/>
                </a:path>
              </a:pathLst>
            </a:custGeom>
            <a:blipFill>
              <a:blip r:embed="rId4"/>
              <a:stretch>
                <a:fillRect l="-552" t="0" r="-552" b="0"/>
              </a:stretch>
            </a:blipFill>
            <a:ln w="19050" cap="sq">
              <a:solidFill>
                <a:srgbClr val="001E96"/>
              </a:solidFill>
              <a:prstDash val="solid"/>
              <a:miter/>
            </a:ln>
          </p:spPr>
        </p:sp>
        <p:sp>
          <p:nvSpPr>
            <p:cNvPr name="TextBox 22" id="22"/>
            <p:cNvSpPr txBox="true"/>
            <p:nvPr/>
          </p:nvSpPr>
          <p:spPr>
            <a:xfrm>
              <a:off x="0" y="-9525"/>
              <a:ext cx="10858398" cy="4716498"/>
            </a:xfrm>
            <a:prstGeom prst="rect">
              <a:avLst/>
            </a:prstGeom>
          </p:spPr>
          <p:txBody>
            <a:bodyPr anchor="t" rtlCol="false" tIns="50800" lIns="50800" bIns="50800" rIns="50800"/>
            <a:lstStyle/>
            <a:p>
              <a:pPr algn="ctr">
                <a:lnSpc>
                  <a:spcPts val="2520"/>
                </a:lnSpc>
              </a:pPr>
            </a:p>
          </p:txBody>
        </p:sp>
      </p:grpSp>
      <p:sp>
        <p:nvSpPr>
          <p:cNvPr name="TextBox 23" id="23"/>
          <p:cNvSpPr txBox="true"/>
          <p:nvPr/>
        </p:nvSpPr>
        <p:spPr>
          <a:xfrm rot="0">
            <a:off x="996467" y="4449756"/>
            <a:ext cx="7213521" cy="373618"/>
          </a:xfrm>
          <a:prstGeom prst="rect">
            <a:avLst/>
          </a:prstGeom>
        </p:spPr>
        <p:txBody>
          <a:bodyPr anchor="t" rtlCol="false" tIns="0" lIns="0" bIns="0" rIns="0">
            <a:spAutoFit/>
          </a:bodyPr>
          <a:lstStyle/>
          <a:p>
            <a:pPr algn="ctr">
              <a:lnSpc>
                <a:spcPts val="2592"/>
              </a:lnSpc>
            </a:pPr>
            <a:r>
              <a:rPr lang="en-US" sz="2400" b="true">
                <a:solidFill>
                  <a:srgbClr val="001E96"/>
                </a:solidFill>
                <a:latin typeface="Arial Bold"/>
                <a:ea typeface="Arial Bold"/>
                <a:cs typeface="Arial Bold"/>
                <a:sym typeface="Arial Bold"/>
              </a:rPr>
              <a:t>Prescription mix for Top 10 alert-volume HCPs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4998"/>
            <a:chOff x="0" y="0"/>
            <a:chExt cx="24384000" cy="179997"/>
          </a:xfrm>
        </p:grpSpPr>
        <p:sp>
          <p:nvSpPr>
            <p:cNvPr name="Freeform 3" id="3"/>
            <p:cNvSpPr/>
            <p:nvPr/>
          </p:nvSpPr>
          <p:spPr>
            <a:xfrm flipH="false" flipV="false" rot="0">
              <a:off x="0" y="0"/>
              <a:ext cx="24384000" cy="179959"/>
            </a:xfrm>
            <a:custGeom>
              <a:avLst/>
              <a:gdLst/>
              <a:ahLst/>
              <a:cxnLst/>
              <a:rect r="r" b="b" t="t" l="l"/>
              <a:pathLst>
                <a:path h="179959" w="24384000">
                  <a:moveTo>
                    <a:pt x="0" y="0"/>
                  </a:moveTo>
                  <a:lnTo>
                    <a:pt x="24384000" y="0"/>
                  </a:lnTo>
                  <a:lnTo>
                    <a:pt x="24384000" y="179959"/>
                  </a:lnTo>
                  <a:lnTo>
                    <a:pt x="0" y="179959"/>
                  </a:lnTo>
                  <a:close/>
                </a:path>
              </a:pathLst>
            </a:custGeom>
            <a:gradFill rotWithShape="true">
              <a:gsLst>
                <a:gs pos="0">
                  <a:srgbClr val="005CD9">
                    <a:alpha val="100000"/>
                  </a:srgbClr>
                </a:gs>
                <a:gs pos="50000">
                  <a:srgbClr val="007ECC">
                    <a:alpha val="100000"/>
                  </a:srgbClr>
                </a:gs>
                <a:gs pos="100000">
                  <a:srgbClr val="001E96">
                    <a:alpha val="100000"/>
                  </a:srgbClr>
                </a:gs>
              </a:gsLst>
              <a:lin ang="0"/>
            </a:gradFill>
          </p:spPr>
        </p:sp>
      </p:grpSp>
      <p:sp>
        <p:nvSpPr>
          <p:cNvPr name="AutoShape 4" id="4"/>
          <p:cNvSpPr/>
          <p:nvPr/>
        </p:nvSpPr>
        <p:spPr>
          <a:xfrm rot="3780">
            <a:off x="492919" y="1755696"/>
            <a:ext cx="17299057" cy="0"/>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502444" y="613600"/>
            <a:ext cx="17279998" cy="989457"/>
            <a:chOff x="0" y="0"/>
            <a:chExt cx="23039997" cy="1319276"/>
          </a:xfrm>
        </p:grpSpPr>
        <p:sp>
          <p:nvSpPr>
            <p:cNvPr name="Freeform 6" id="6"/>
            <p:cNvSpPr/>
            <p:nvPr/>
          </p:nvSpPr>
          <p:spPr>
            <a:xfrm flipH="false" flipV="false" rot="0">
              <a:off x="0" y="0"/>
              <a:ext cx="23040000" cy="1319272"/>
            </a:xfrm>
            <a:custGeom>
              <a:avLst/>
              <a:gdLst/>
              <a:ahLst/>
              <a:cxnLst/>
              <a:rect r="r" b="b" t="t" l="l"/>
              <a:pathLst>
                <a:path h="1319272" w="23040000">
                  <a:moveTo>
                    <a:pt x="0" y="0"/>
                  </a:moveTo>
                  <a:lnTo>
                    <a:pt x="23040000" y="0"/>
                  </a:lnTo>
                  <a:lnTo>
                    <a:pt x="23040000" y="1319272"/>
                  </a:lnTo>
                  <a:lnTo>
                    <a:pt x="0" y="1319272"/>
                  </a:lnTo>
                  <a:close/>
                </a:path>
              </a:pathLst>
            </a:custGeom>
            <a:blipFill>
              <a:blip r:embed="rId3">
                <a:alphaModFix amt="0"/>
              </a:blip>
              <a:stretch>
                <a:fillRect l="0" t="-290289" r="0" b="-290290"/>
              </a:stretch>
            </a:blipFill>
          </p:spPr>
        </p:sp>
        <p:sp>
          <p:nvSpPr>
            <p:cNvPr name="TextBox 7" id="7"/>
            <p:cNvSpPr txBox="true"/>
            <p:nvPr/>
          </p:nvSpPr>
          <p:spPr>
            <a:xfrm>
              <a:off x="0" y="9525"/>
              <a:ext cx="23039997" cy="1309751"/>
            </a:xfrm>
            <a:prstGeom prst="rect">
              <a:avLst/>
            </a:prstGeom>
          </p:spPr>
          <p:txBody>
            <a:bodyPr anchor="b" rtlCol="false" tIns="0" lIns="0" bIns="0" rIns="0"/>
            <a:lstStyle/>
            <a:p>
              <a:pPr algn="l">
                <a:lnSpc>
                  <a:spcPts val="3564"/>
                </a:lnSpc>
              </a:pPr>
              <a:r>
                <a:rPr lang="en-US" sz="3300" b="true">
                  <a:solidFill>
                    <a:srgbClr val="001E96"/>
                  </a:solidFill>
                  <a:latin typeface="Arial Bold"/>
                  <a:ea typeface="Arial Bold"/>
                  <a:cs typeface="Arial Bold"/>
                  <a:sym typeface="Arial Bold"/>
                </a:rPr>
                <a:t>Question 4: Which hospitals are sitting on the biggest untapped opportunity?</a:t>
              </a:r>
            </a:p>
          </p:txBody>
        </p:sp>
      </p:grpSp>
      <p:grpSp>
        <p:nvGrpSpPr>
          <p:cNvPr name="Group 8" id="8"/>
          <p:cNvGrpSpPr/>
          <p:nvPr/>
        </p:nvGrpSpPr>
        <p:grpSpPr>
          <a:xfrm rot="0">
            <a:off x="502444" y="9874129"/>
            <a:ext cx="1620002" cy="269996"/>
            <a:chOff x="0" y="0"/>
            <a:chExt cx="2160003" cy="359994"/>
          </a:xfrm>
        </p:grpSpPr>
        <p:sp>
          <p:nvSpPr>
            <p:cNvPr name="Freeform 9" id="9"/>
            <p:cNvSpPr/>
            <p:nvPr/>
          </p:nvSpPr>
          <p:spPr>
            <a:xfrm flipH="false" flipV="false" rot="0">
              <a:off x="0" y="0"/>
              <a:ext cx="2160000" cy="360000"/>
            </a:xfrm>
            <a:custGeom>
              <a:avLst/>
              <a:gdLst/>
              <a:ahLst/>
              <a:cxnLst/>
              <a:rect r="r" b="b" t="t" l="l"/>
              <a:pathLst>
                <a:path h="360000" w="2160000">
                  <a:moveTo>
                    <a:pt x="0" y="0"/>
                  </a:moveTo>
                  <a:lnTo>
                    <a:pt x="2160000" y="0"/>
                  </a:lnTo>
                  <a:lnTo>
                    <a:pt x="2160000" y="360000"/>
                  </a:lnTo>
                  <a:lnTo>
                    <a:pt x="0" y="360000"/>
                  </a:lnTo>
                  <a:close/>
                </a:path>
              </a:pathLst>
            </a:custGeom>
            <a:blipFill>
              <a:blip r:embed="rId3">
                <a:alphaModFix amt="0"/>
              </a:blip>
              <a:stretch>
                <a:fillRect l="0" t="-66911" r="0" b="-66909"/>
              </a:stretch>
            </a:blipFill>
          </p:spPr>
        </p:sp>
        <p:sp>
          <p:nvSpPr>
            <p:cNvPr name="TextBox 10" id="10"/>
            <p:cNvSpPr txBox="true"/>
            <p:nvPr/>
          </p:nvSpPr>
          <p:spPr>
            <a:xfrm>
              <a:off x="0" y="-19050"/>
              <a:ext cx="2160003" cy="379044"/>
            </a:xfrm>
            <a:prstGeom prst="rect">
              <a:avLst/>
            </a:prstGeom>
          </p:spPr>
          <p:txBody>
            <a:bodyPr anchor="b" rtlCol="false" tIns="0" lIns="0" bIns="0" rIns="0"/>
            <a:lstStyle/>
            <a:p>
              <a:pPr algn="l">
                <a:lnSpc>
                  <a:spcPts val="1439"/>
                </a:lnSpc>
              </a:pPr>
              <a:r>
                <a:rPr lang="en-US" sz="1200">
                  <a:solidFill>
                    <a:srgbClr val="808080"/>
                  </a:solidFill>
                  <a:latin typeface="Arial"/>
                  <a:ea typeface="Arial"/>
                  <a:cs typeface="Arial"/>
                  <a:sym typeface="Arial"/>
                </a:rPr>
                <a:t>© 2026 ProcDNA</a:t>
              </a:r>
            </a:p>
          </p:txBody>
        </p:sp>
      </p:grpSp>
      <p:grpSp>
        <p:nvGrpSpPr>
          <p:cNvPr name="Group 11" id="11"/>
          <p:cNvGrpSpPr/>
          <p:nvPr/>
        </p:nvGrpSpPr>
        <p:grpSpPr>
          <a:xfrm rot="0">
            <a:off x="17245555" y="9874129"/>
            <a:ext cx="540001" cy="269996"/>
            <a:chOff x="0" y="0"/>
            <a:chExt cx="720001" cy="359994"/>
          </a:xfrm>
        </p:grpSpPr>
        <p:sp>
          <p:nvSpPr>
            <p:cNvPr name="Freeform 12" id="12"/>
            <p:cNvSpPr/>
            <p:nvPr/>
          </p:nvSpPr>
          <p:spPr>
            <a:xfrm flipH="false" flipV="false" rot="0">
              <a:off x="0" y="0"/>
              <a:ext cx="720000" cy="360000"/>
            </a:xfrm>
            <a:custGeom>
              <a:avLst/>
              <a:gdLst/>
              <a:ahLst/>
              <a:cxnLst/>
              <a:rect r="r" b="b" t="t" l="l"/>
              <a:pathLst>
                <a:path h="360000" w="720000">
                  <a:moveTo>
                    <a:pt x="0" y="0"/>
                  </a:moveTo>
                  <a:lnTo>
                    <a:pt x="720000" y="0"/>
                  </a:lnTo>
                  <a:lnTo>
                    <a:pt x="720000" y="360000"/>
                  </a:lnTo>
                  <a:lnTo>
                    <a:pt x="0" y="360000"/>
                  </a:lnTo>
                  <a:close/>
                </a:path>
              </a:pathLst>
            </a:custGeom>
            <a:blipFill>
              <a:blip r:embed="rId3">
                <a:alphaModFix amt="0"/>
              </a:blip>
              <a:stretch>
                <a:fillRect l="-14150" t="0" r="-14150" b="1"/>
              </a:stretch>
            </a:blipFill>
          </p:spPr>
        </p:sp>
        <p:sp>
          <p:nvSpPr>
            <p:cNvPr name="TextBox 13" id="13"/>
            <p:cNvSpPr txBox="true"/>
            <p:nvPr/>
          </p:nvSpPr>
          <p:spPr>
            <a:xfrm>
              <a:off x="0" y="-19050"/>
              <a:ext cx="720001" cy="379044"/>
            </a:xfrm>
            <a:prstGeom prst="rect">
              <a:avLst/>
            </a:prstGeom>
          </p:spPr>
          <p:txBody>
            <a:bodyPr anchor="b" rtlCol="false" tIns="0" lIns="0" bIns="0" rIns="0"/>
            <a:lstStyle/>
            <a:p>
              <a:pPr algn="r">
                <a:lnSpc>
                  <a:spcPts val="1439"/>
                </a:lnSpc>
              </a:pPr>
              <a:r>
                <a:rPr lang="en-US" sz="1200">
                  <a:solidFill>
                    <a:srgbClr val="808080"/>
                  </a:solidFill>
                  <a:latin typeface="Arial"/>
                  <a:ea typeface="Arial"/>
                  <a:cs typeface="Arial"/>
                  <a:sym typeface="Arial"/>
                </a:rPr>
                <a:t>7</a:t>
              </a:r>
            </a:p>
          </p:txBody>
        </p:sp>
      </p:grpSp>
      <p:sp>
        <p:nvSpPr>
          <p:cNvPr name="TextBox 14" id="14"/>
          <p:cNvSpPr txBox="true"/>
          <p:nvPr/>
        </p:nvSpPr>
        <p:spPr>
          <a:xfrm rot="0">
            <a:off x="544068" y="1879683"/>
            <a:ext cx="17222724" cy="2938367"/>
          </a:xfrm>
          <a:prstGeom prst="rect">
            <a:avLst/>
          </a:prstGeom>
        </p:spPr>
        <p:txBody>
          <a:bodyPr anchor="t" rtlCol="false" tIns="0" lIns="0" bIns="0" rIns="0">
            <a:spAutoFit/>
          </a:bodyPr>
          <a:lstStyle/>
          <a:p>
            <a:pPr algn="l">
              <a:lnSpc>
                <a:spcPts val="2520"/>
              </a:lnSpc>
            </a:pPr>
            <a:r>
              <a:rPr lang="en-US" sz="2100">
                <a:solidFill>
                  <a:srgbClr val="000000"/>
                </a:solidFill>
                <a:latin typeface="Arial"/>
                <a:ea typeface="Arial"/>
                <a:cs typeface="Arial"/>
                <a:sym typeface="Arial"/>
              </a:rPr>
              <a:t>Using the Affiliation dataset, identify the </a:t>
            </a:r>
            <a:r>
              <a:rPr lang="en-US" sz="2100" b="true">
                <a:solidFill>
                  <a:srgbClr val="000000"/>
                </a:solidFill>
                <a:latin typeface="Arial Bold"/>
                <a:ea typeface="Arial Bold"/>
                <a:cs typeface="Arial Bold"/>
                <a:sym typeface="Arial Bold"/>
              </a:rPr>
              <a:t>Top 10 accounts with the highest alert volume </a:t>
            </a:r>
            <a:r>
              <a:rPr lang="en-US" sz="2100">
                <a:solidFill>
                  <a:srgbClr val="000000"/>
                </a:solidFill>
                <a:latin typeface="Arial"/>
                <a:ea typeface="Arial"/>
                <a:cs typeface="Arial"/>
                <a:sym typeface="Arial"/>
              </a:rPr>
              <a:t>based on activity generated by their affiliated doctors.</a:t>
            </a:r>
          </a:p>
          <a:p>
            <a:pPr algn="l">
              <a:lnSpc>
                <a:spcPts val="2520"/>
              </a:lnSpc>
            </a:pPr>
            <a:r>
              <a:rPr lang="en-US" sz="2100">
                <a:solidFill>
                  <a:srgbClr val="000000"/>
                </a:solidFill>
                <a:latin typeface="Arial"/>
                <a:ea typeface="Arial"/>
                <a:cs typeface="Arial"/>
                <a:sym typeface="Arial"/>
              </a:rPr>
              <a:t>For these Top 10 accounts, calculate:</a:t>
            </a:r>
          </a:p>
          <a:p>
            <a:pPr algn="l" marL="1065848" indent="-355282" lvl="2">
              <a:lnSpc>
                <a:spcPts val="2520"/>
              </a:lnSpc>
              <a:buFont typeface="Arial"/>
              <a:buChar char="⚬"/>
            </a:pPr>
            <a:r>
              <a:rPr lang="en-US" sz="2100">
                <a:solidFill>
                  <a:srgbClr val="000000"/>
                </a:solidFill>
                <a:latin typeface="Arial"/>
                <a:ea typeface="Arial"/>
                <a:cs typeface="Arial"/>
                <a:sym typeface="Arial"/>
              </a:rPr>
              <a:t>Total Alert Count</a:t>
            </a:r>
          </a:p>
          <a:p>
            <a:pPr algn="l" marL="1065848" indent="-355282" lvl="2">
              <a:lnSpc>
                <a:spcPts val="2520"/>
              </a:lnSpc>
              <a:buFont typeface="Arial"/>
              <a:buChar char="⚬"/>
            </a:pPr>
            <a:r>
              <a:rPr lang="en-US" sz="2100">
                <a:solidFill>
                  <a:srgbClr val="000000"/>
                </a:solidFill>
                <a:latin typeface="Arial"/>
                <a:ea typeface="Arial"/>
                <a:cs typeface="Arial"/>
                <a:sym typeface="Arial"/>
              </a:rPr>
              <a:t>Our Drug Prescription Count (DRG001)</a:t>
            </a:r>
          </a:p>
          <a:p>
            <a:pPr algn="l" marL="1065848" indent="-355282" lvl="2">
              <a:lnSpc>
                <a:spcPts val="2520"/>
              </a:lnSpc>
              <a:buFont typeface="Arial"/>
              <a:buChar char="⚬"/>
            </a:pPr>
            <a:r>
              <a:rPr lang="en-US" sz="2100">
                <a:solidFill>
                  <a:srgbClr val="000000"/>
                </a:solidFill>
                <a:latin typeface="Arial"/>
                <a:ea typeface="Arial"/>
                <a:cs typeface="Arial"/>
                <a:sym typeface="Arial"/>
              </a:rPr>
              <a:t>Conversion Ratio - defined as the proportion of prescription count relative to alert count</a:t>
            </a:r>
          </a:p>
          <a:p>
            <a:pPr algn="l" marL="1065848" indent="-355282" lvl="2">
              <a:lnSpc>
                <a:spcPts val="2520"/>
              </a:lnSpc>
            </a:pPr>
            <a:r>
              <a:rPr lang="en-US" b="true" sz="2100">
                <a:solidFill>
                  <a:srgbClr val="000000"/>
                </a:solidFill>
                <a:latin typeface="Arial Bold"/>
                <a:ea typeface="Arial Bold"/>
                <a:cs typeface="Arial Bold"/>
                <a:sym typeface="Arial Bold"/>
              </a:rPr>
              <a:t>Rank the accounts by lowest conversion ratio</a:t>
            </a:r>
            <a:r>
              <a:rPr lang="en-US" sz="2100">
                <a:solidFill>
                  <a:srgbClr val="000000"/>
                </a:solidFill>
                <a:latin typeface="Arial"/>
                <a:ea typeface="Arial"/>
                <a:cs typeface="Arial"/>
                <a:sym typeface="Arial"/>
              </a:rPr>
              <a:t> to identify high-alert accounts with weak prescription conversion.</a:t>
            </a:r>
          </a:p>
        </p:txBody>
      </p:sp>
      <p:sp>
        <p:nvSpPr>
          <p:cNvPr name="TextBox 15" id="15"/>
          <p:cNvSpPr txBox="true"/>
          <p:nvPr/>
        </p:nvSpPr>
        <p:spPr>
          <a:xfrm rot="0">
            <a:off x="6499327" y="4608119"/>
            <a:ext cx="4715780" cy="408603"/>
          </a:xfrm>
          <a:prstGeom prst="rect">
            <a:avLst/>
          </a:prstGeom>
        </p:spPr>
        <p:txBody>
          <a:bodyPr anchor="t" rtlCol="false" tIns="0" lIns="0" bIns="0" rIns="0">
            <a:spAutoFit/>
          </a:bodyPr>
          <a:lstStyle/>
          <a:p>
            <a:pPr algn="l">
              <a:lnSpc>
                <a:spcPts val="2592"/>
              </a:lnSpc>
            </a:pPr>
            <a:r>
              <a:rPr lang="en-US" sz="2400" b="true">
                <a:solidFill>
                  <a:srgbClr val="001E96"/>
                </a:solidFill>
                <a:latin typeface="Arial Bold"/>
                <a:ea typeface="Arial Bold"/>
                <a:cs typeface="Arial Bold"/>
                <a:sym typeface="Arial Bold"/>
              </a:rPr>
              <a:t>Top 10 accounts by alert count</a:t>
            </a:r>
          </a:p>
        </p:txBody>
      </p:sp>
      <p:graphicFrame>
        <p:nvGraphicFramePr>
          <p:cNvPr name="Table 16" id="16"/>
          <p:cNvGraphicFramePr>
            <a:graphicFrameLocks noGrp="true"/>
          </p:cNvGraphicFramePr>
          <p:nvPr/>
        </p:nvGraphicFramePr>
        <p:xfrm>
          <a:off x="502444" y="5010000"/>
          <a:ext cx="17278350" cy="4533900"/>
        </p:xfrm>
        <a:graphic>
          <a:graphicData uri="http://schemas.openxmlformats.org/drawingml/2006/table">
            <a:tbl>
              <a:tblPr/>
              <a:tblGrid>
                <a:gridCol w="1503224"/>
                <a:gridCol w="2940812"/>
                <a:gridCol w="3582833"/>
                <a:gridCol w="5274013"/>
                <a:gridCol w="3977468"/>
              </a:tblGrid>
              <a:tr h="527226">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 Rank</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Account_ID</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Total Alerts</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Our Drug Prescription Count</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Conversion Ratio</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r>
              <a:tr h="400667">
                <a:tc>
                  <a:txBody>
                    <a:bodyPr anchor="t" rtlCol="false"/>
                    <a:lstStyle/>
                    <a:p>
                      <a:pPr algn="ctr">
                        <a:lnSpc>
                          <a:spcPts val="2520"/>
                        </a:lnSpc>
                        <a:defRPr/>
                      </a:pPr>
                      <a:r>
                        <a:rPr lang="en-US" sz="2100">
                          <a:solidFill>
                            <a:srgbClr val="000000"/>
                          </a:solidFill>
                          <a:latin typeface="Arial"/>
                          <a:ea typeface="Arial"/>
                          <a:cs typeface="Arial"/>
                          <a:sym typeface="Arial"/>
                        </a:rPr>
                        <a:t>1</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ACC001</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3296</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12297</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3.73</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0667">
                <a:tc>
                  <a:txBody>
                    <a:bodyPr anchor="t" rtlCol="false"/>
                    <a:lstStyle/>
                    <a:p>
                      <a:pPr algn="ctr">
                        <a:lnSpc>
                          <a:spcPts val="2520"/>
                        </a:lnSpc>
                        <a:defRPr/>
                      </a:pPr>
                      <a:r>
                        <a:rPr lang="en-US" sz="2100">
                          <a:solidFill>
                            <a:srgbClr val="000000"/>
                          </a:solidFill>
                          <a:latin typeface="Arial"/>
                          <a:ea typeface="Arial"/>
                          <a:cs typeface="Arial"/>
                          <a:sym typeface="Arial"/>
                        </a:rPr>
                        <a:t>2</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ACC003</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1195</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4947</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4.14</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0667">
                <a:tc>
                  <a:txBody>
                    <a:bodyPr anchor="t" rtlCol="false"/>
                    <a:lstStyle/>
                    <a:p>
                      <a:pPr algn="ctr">
                        <a:lnSpc>
                          <a:spcPts val="2520"/>
                        </a:lnSpc>
                        <a:defRPr/>
                      </a:pPr>
                      <a:r>
                        <a:rPr lang="en-US" sz="2100">
                          <a:solidFill>
                            <a:srgbClr val="000000"/>
                          </a:solidFill>
                          <a:latin typeface="Arial"/>
                          <a:ea typeface="Arial"/>
                          <a:cs typeface="Arial"/>
                          <a:sym typeface="Arial"/>
                        </a:rPr>
                        <a:t>3</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ACC002</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2350</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12223</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5.20</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0667">
                <a:tc>
                  <a:txBody>
                    <a:bodyPr anchor="t" rtlCol="false"/>
                    <a:lstStyle/>
                    <a:p>
                      <a:pPr algn="ctr">
                        <a:lnSpc>
                          <a:spcPts val="2520"/>
                        </a:lnSpc>
                        <a:defRPr/>
                      </a:pPr>
                      <a:r>
                        <a:rPr lang="en-US" sz="2100">
                          <a:solidFill>
                            <a:srgbClr val="000000"/>
                          </a:solidFill>
                          <a:latin typeface="Arial"/>
                          <a:ea typeface="Arial"/>
                          <a:cs typeface="Arial"/>
                          <a:sym typeface="Arial"/>
                        </a:rPr>
                        <a:t>4</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ACC004</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530</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5402</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10.19</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0667">
                <a:tc>
                  <a:txBody>
                    <a:bodyPr anchor="t" rtlCol="false"/>
                    <a:lstStyle/>
                    <a:p>
                      <a:pPr algn="ctr">
                        <a:lnSpc>
                          <a:spcPts val="2520"/>
                        </a:lnSpc>
                        <a:defRPr/>
                      </a:pPr>
                      <a:r>
                        <a:rPr lang="en-US" sz="2100">
                          <a:solidFill>
                            <a:srgbClr val="000000"/>
                          </a:solidFill>
                          <a:latin typeface="Arial"/>
                          <a:ea typeface="Arial"/>
                          <a:cs typeface="Arial"/>
                          <a:sym typeface="Arial"/>
                        </a:rPr>
                        <a:t>5</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ACC005</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585</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9148</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15.64</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0667">
                <a:tc>
                  <a:txBody>
                    <a:bodyPr anchor="t" rtlCol="false"/>
                    <a:lstStyle/>
                    <a:p>
                      <a:pPr algn="ctr">
                        <a:lnSpc>
                          <a:spcPts val="2520"/>
                        </a:lnSpc>
                        <a:defRPr/>
                      </a:pPr>
                      <a:r>
                        <a:rPr lang="en-US" sz="2100">
                          <a:solidFill>
                            <a:srgbClr val="000000"/>
                          </a:solidFill>
                          <a:latin typeface="Arial"/>
                          <a:ea typeface="Arial"/>
                          <a:cs typeface="Arial"/>
                          <a:sym typeface="Arial"/>
                        </a:rPr>
                        <a:t>6</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ACC006</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493</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9887</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20.05</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0667">
                <a:tc>
                  <a:txBody>
                    <a:bodyPr anchor="t" rtlCol="false"/>
                    <a:lstStyle/>
                    <a:p>
                      <a:pPr algn="ctr">
                        <a:lnSpc>
                          <a:spcPts val="2520"/>
                        </a:lnSpc>
                        <a:defRPr/>
                      </a:pPr>
                      <a:r>
                        <a:rPr lang="en-US" sz="2100">
                          <a:solidFill>
                            <a:srgbClr val="000000"/>
                          </a:solidFill>
                          <a:latin typeface="Arial"/>
                          <a:ea typeface="Arial"/>
                          <a:cs typeface="Arial"/>
                          <a:sym typeface="Arial"/>
                        </a:rPr>
                        <a:t>7</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ACC012</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85</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1804</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21.22</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0667">
                <a:tc>
                  <a:txBody>
                    <a:bodyPr anchor="t" rtlCol="false"/>
                    <a:lstStyle/>
                    <a:p>
                      <a:pPr algn="ctr">
                        <a:lnSpc>
                          <a:spcPts val="2520"/>
                        </a:lnSpc>
                        <a:defRPr/>
                      </a:pPr>
                      <a:r>
                        <a:rPr lang="en-US" sz="2100">
                          <a:solidFill>
                            <a:srgbClr val="000000"/>
                          </a:solidFill>
                          <a:latin typeface="Arial"/>
                          <a:ea typeface="Arial"/>
                          <a:cs typeface="Arial"/>
                          <a:sym typeface="Arial"/>
                        </a:rPr>
                        <a:t>8</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ACC009</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100</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2699</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26.99</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0667">
                <a:tc>
                  <a:txBody>
                    <a:bodyPr anchor="t" rtlCol="false"/>
                    <a:lstStyle/>
                    <a:p>
                      <a:pPr algn="ctr">
                        <a:lnSpc>
                          <a:spcPts val="2520"/>
                        </a:lnSpc>
                        <a:defRPr/>
                      </a:pPr>
                      <a:r>
                        <a:rPr lang="en-US" sz="2100">
                          <a:solidFill>
                            <a:srgbClr val="000000"/>
                          </a:solidFill>
                          <a:latin typeface="Arial"/>
                          <a:ea typeface="Arial"/>
                          <a:cs typeface="Arial"/>
                          <a:sym typeface="Arial"/>
                        </a:rPr>
                        <a:t>9</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ACC007</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114</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7072</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62.04</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00667">
                <a:tc>
                  <a:txBody>
                    <a:bodyPr anchor="t" rtlCol="false"/>
                    <a:lstStyle/>
                    <a:p>
                      <a:pPr algn="ctr">
                        <a:lnSpc>
                          <a:spcPts val="2520"/>
                        </a:lnSpc>
                        <a:defRPr/>
                      </a:pPr>
                      <a:r>
                        <a:rPr lang="en-US" sz="2100">
                          <a:solidFill>
                            <a:srgbClr val="000000"/>
                          </a:solidFill>
                          <a:latin typeface="Arial"/>
                          <a:ea typeface="Arial"/>
                          <a:cs typeface="Arial"/>
                          <a:sym typeface="Arial"/>
                        </a:rPr>
                        <a:t>10</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ACC010</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92</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9616</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104.52</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4998"/>
            <a:chOff x="0" y="0"/>
            <a:chExt cx="24384000" cy="179997"/>
          </a:xfrm>
        </p:grpSpPr>
        <p:sp>
          <p:nvSpPr>
            <p:cNvPr name="Freeform 3" id="3"/>
            <p:cNvSpPr/>
            <p:nvPr/>
          </p:nvSpPr>
          <p:spPr>
            <a:xfrm flipH="false" flipV="false" rot="0">
              <a:off x="0" y="0"/>
              <a:ext cx="24384000" cy="179959"/>
            </a:xfrm>
            <a:custGeom>
              <a:avLst/>
              <a:gdLst/>
              <a:ahLst/>
              <a:cxnLst/>
              <a:rect r="r" b="b" t="t" l="l"/>
              <a:pathLst>
                <a:path h="179959" w="24384000">
                  <a:moveTo>
                    <a:pt x="0" y="0"/>
                  </a:moveTo>
                  <a:lnTo>
                    <a:pt x="24384000" y="0"/>
                  </a:lnTo>
                  <a:lnTo>
                    <a:pt x="24384000" y="179959"/>
                  </a:lnTo>
                  <a:lnTo>
                    <a:pt x="0" y="179959"/>
                  </a:lnTo>
                  <a:close/>
                </a:path>
              </a:pathLst>
            </a:custGeom>
            <a:gradFill rotWithShape="true">
              <a:gsLst>
                <a:gs pos="0">
                  <a:srgbClr val="005CD9">
                    <a:alpha val="100000"/>
                  </a:srgbClr>
                </a:gs>
                <a:gs pos="50000">
                  <a:srgbClr val="007ECC">
                    <a:alpha val="100000"/>
                  </a:srgbClr>
                </a:gs>
                <a:gs pos="100000">
                  <a:srgbClr val="001E96">
                    <a:alpha val="100000"/>
                  </a:srgbClr>
                </a:gs>
              </a:gsLst>
              <a:lin ang="0"/>
            </a:gradFill>
          </p:spPr>
        </p:sp>
      </p:grpSp>
      <p:sp>
        <p:nvSpPr>
          <p:cNvPr name="AutoShape 4" id="4"/>
          <p:cNvSpPr/>
          <p:nvPr/>
        </p:nvSpPr>
        <p:spPr>
          <a:xfrm rot="3780">
            <a:off x="492919" y="1755696"/>
            <a:ext cx="17299057" cy="0"/>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502444" y="613600"/>
            <a:ext cx="17279998" cy="989457"/>
            <a:chOff x="0" y="0"/>
            <a:chExt cx="23039997" cy="1319276"/>
          </a:xfrm>
        </p:grpSpPr>
        <p:sp>
          <p:nvSpPr>
            <p:cNvPr name="Freeform 6" id="6"/>
            <p:cNvSpPr/>
            <p:nvPr/>
          </p:nvSpPr>
          <p:spPr>
            <a:xfrm flipH="false" flipV="false" rot="0">
              <a:off x="0" y="0"/>
              <a:ext cx="23040000" cy="1319272"/>
            </a:xfrm>
            <a:custGeom>
              <a:avLst/>
              <a:gdLst/>
              <a:ahLst/>
              <a:cxnLst/>
              <a:rect r="r" b="b" t="t" l="l"/>
              <a:pathLst>
                <a:path h="1319272" w="23040000">
                  <a:moveTo>
                    <a:pt x="0" y="0"/>
                  </a:moveTo>
                  <a:lnTo>
                    <a:pt x="23040000" y="0"/>
                  </a:lnTo>
                  <a:lnTo>
                    <a:pt x="23040000" y="1319272"/>
                  </a:lnTo>
                  <a:lnTo>
                    <a:pt x="0" y="1319272"/>
                  </a:lnTo>
                  <a:close/>
                </a:path>
              </a:pathLst>
            </a:custGeom>
            <a:blipFill>
              <a:blip r:embed="rId3">
                <a:alphaModFix amt="0"/>
              </a:blip>
              <a:stretch>
                <a:fillRect l="0" t="-290289" r="0" b="-290290"/>
              </a:stretch>
            </a:blipFill>
          </p:spPr>
        </p:sp>
        <p:sp>
          <p:nvSpPr>
            <p:cNvPr name="TextBox 7" id="7"/>
            <p:cNvSpPr txBox="true"/>
            <p:nvPr/>
          </p:nvSpPr>
          <p:spPr>
            <a:xfrm>
              <a:off x="0" y="9525"/>
              <a:ext cx="23039997" cy="1309751"/>
            </a:xfrm>
            <a:prstGeom prst="rect">
              <a:avLst/>
            </a:prstGeom>
          </p:spPr>
          <p:txBody>
            <a:bodyPr anchor="b" rtlCol="false" tIns="0" lIns="0" bIns="0" rIns="0"/>
            <a:lstStyle/>
            <a:p>
              <a:pPr algn="l">
                <a:lnSpc>
                  <a:spcPts val="3564"/>
                </a:lnSpc>
              </a:pPr>
              <a:r>
                <a:rPr lang="en-US" sz="3300" b="true">
                  <a:solidFill>
                    <a:srgbClr val="001E96"/>
                  </a:solidFill>
                  <a:latin typeface="Arial Bold"/>
                  <a:ea typeface="Arial Bold"/>
                  <a:cs typeface="Arial Bold"/>
                  <a:sym typeface="Arial Bold"/>
                </a:rPr>
                <a:t>Question 5: Which accounts represent the largest untapped prescription opportunity?</a:t>
              </a:r>
            </a:p>
          </p:txBody>
        </p:sp>
      </p:grpSp>
      <p:grpSp>
        <p:nvGrpSpPr>
          <p:cNvPr name="Group 8" id="8"/>
          <p:cNvGrpSpPr/>
          <p:nvPr/>
        </p:nvGrpSpPr>
        <p:grpSpPr>
          <a:xfrm rot="0">
            <a:off x="17245555" y="9874129"/>
            <a:ext cx="540001" cy="269996"/>
            <a:chOff x="0" y="0"/>
            <a:chExt cx="720001" cy="359994"/>
          </a:xfrm>
        </p:grpSpPr>
        <p:sp>
          <p:nvSpPr>
            <p:cNvPr name="Freeform 9" id="9"/>
            <p:cNvSpPr/>
            <p:nvPr/>
          </p:nvSpPr>
          <p:spPr>
            <a:xfrm flipH="false" flipV="false" rot="0">
              <a:off x="0" y="0"/>
              <a:ext cx="720000" cy="360000"/>
            </a:xfrm>
            <a:custGeom>
              <a:avLst/>
              <a:gdLst/>
              <a:ahLst/>
              <a:cxnLst/>
              <a:rect r="r" b="b" t="t" l="l"/>
              <a:pathLst>
                <a:path h="360000" w="720000">
                  <a:moveTo>
                    <a:pt x="0" y="0"/>
                  </a:moveTo>
                  <a:lnTo>
                    <a:pt x="720000" y="0"/>
                  </a:lnTo>
                  <a:lnTo>
                    <a:pt x="720000" y="360000"/>
                  </a:lnTo>
                  <a:lnTo>
                    <a:pt x="0" y="360000"/>
                  </a:lnTo>
                  <a:close/>
                </a:path>
              </a:pathLst>
            </a:custGeom>
            <a:blipFill>
              <a:blip r:embed="rId3">
                <a:alphaModFix amt="0"/>
              </a:blip>
              <a:stretch>
                <a:fillRect l="-14150" t="0" r="-14150" b="1"/>
              </a:stretch>
            </a:blipFill>
          </p:spPr>
        </p:sp>
        <p:sp>
          <p:nvSpPr>
            <p:cNvPr name="TextBox 10" id="10"/>
            <p:cNvSpPr txBox="true"/>
            <p:nvPr/>
          </p:nvSpPr>
          <p:spPr>
            <a:xfrm>
              <a:off x="0" y="-19050"/>
              <a:ext cx="720001" cy="379044"/>
            </a:xfrm>
            <a:prstGeom prst="rect">
              <a:avLst/>
            </a:prstGeom>
          </p:spPr>
          <p:txBody>
            <a:bodyPr anchor="b" rtlCol="false" tIns="0" lIns="0" bIns="0" rIns="0"/>
            <a:lstStyle/>
            <a:p>
              <a:pPr algn="r">
                <a:lnSpc>
                  <a:spcPts val="1439"/>
                </a:lnSpc>
              </a:pPr>
              <a:r>
                <a:rPr lang="en-US" sz="1200">
                  <a:solidFill>
                    <a:srgbClr val="808080"/>
                  </a:solidFill>
                  <a:latin typeface="Arial"/>
                  <a:ea typeface="Arial"/>
                  <a:cs typeface="Arial"/>
                  <a:sym typeface="Arial"/>
                </a:rPr>
                <a:t>8</a:t>
              </a:r>
            </a:p>
          </p:txBody>
        </p:sp>
      </p:grpSp>
      <p:sp>
        <p:nvSpPr>
          <p:cNvPr name="TextBox 11" id="11"/>
          <p:cNvSpPr txBox="true"/>
          <p:nvPr/>
        </p:nvSpPr>
        <p:spPr>
          <a:xfrm rot="0">
            <a:off x="544068" y="1822533"/>
            <a:ext cx="17222724" cy="1486281"/>
          </a:xfrm>
          <a:prstGeom prst="rect">
            <a:avLst/>
          </a:prstGeom>
        </p:spPr>
        <p:txBody>
          <a:bodyPr anchor="t" rtlCol="false" tIns="0" lIns="0" bIns="0" rIns="0">
            <a:spAutoFit/>
          </a:bodyPr>
          <a:lstStyle/>
          <a:p>
            <a:pPr algn="l">
              <a:lnSpc>
                <a:spcPts val="2520"/>
              </a:lnSpc>
            </a:pPr>
            <a:r>
              <a:rPr lang="en-US" sz="2100">
                <a:solidFill>
                  <a:srgbClr val="000000"/>
                </a:solidFill>
                <a:latin typeface="Arial"/>
                <a:ea typeface="Arial"/>
                <a:cs typeface="Arial"/>
                <a:sym typeface="Arial"/>
              </a:rPr>
              <a:t>Using the Affiliation dataset, determine the </a:t>
            </a:r>
            <a:r>
              <a:rPr lang="en-US" sz="2100" b="true">
                <a:solidFill>
                  <a:srgbClr val="000000"/>
                </a:solidFill>
                <a:latin typeface="Arial Bold"/>
                <a:ea typeface="Arial Bold"/>
                <a:cs typeface="Arial Bold"/>
                <a:sym typeface="Arial Bold"/>
              </a:rPr>
              <a:t>total number of doctors </a:t>
            </a:r>
            <a:r>
              <a:rPr lang="en-US" sz="2100">
                <a:solidFill>
                  <a:srgbClr val="000000"/>
                </a:solidFill>
                <a:latin typeface="Arial"/>
                <a:ea typeface="Arial"/>
                <a:cs typeface="Arial"/>
                <a:sym typeface="Arial"/>
              </a:rPr>
              <a:t>associated with each account. Using prescription activity for Our Drug, calculate:</a:t>
            </a:r>
          </a:p>
          <a:p>
            <a:pPr algn="l" marL="1065848" indent="-355282" lvl="2">
              <a:lnSpc>
                <a:spcPts val="2520"/>
              </a:lnSpc>
              <a:buFont typeface="Arial"/>
              <a:buChar char="⚬"/>
            </a:pPr>
            <a:r>
              <a:rPr lang="en-US" sz="2100">
                <a:solidFill>
                  <a:srgbClr val="000000"/>
                </a:solidFill>
                <a:latin typeface="Arial"/>
                <a:ea typeface="Arial"/>
                <a:cs typeface="Arial"/>
                <a:sym typeface="Arial"/>
              </a:rPr>
              <a:t>The number of </a:t>
            </a:r>
            <a:r>
              <a:rPr lang="en-US" b="true" sz="2100">
                <a:solidFill>
                  <a:srgbClr val="000000"/>
                </a:solidFill>
                <a:latin typeface="Arial Bold"/>
                <a:ea typeface="Arial Bold"/>
                <a:cs typeface="Arial Bold"/>
                <a:sym typeface="Arial Bold"/>
              </a:rPr>
              <a:t>active prescribers </a:t>
            </a:r>
            <a:r>
              <a:rPr lang="en-US" sz="2100">
                <a:solidFill>
                  <a:srgbClr val="000000"/>
                </a:solidFill>
                <a:latin typeface="Arial"/>
                <a:ea typeface="Arial"/>
                <a:cs typeface="Arial"/>
                <a:sym typeface="Arial"/>
              </a:rPr>
              <a:t>within each account</a:t>
            </a:r>
          </a:p>
          <a:p>
            <a:pPr algn="l" marL="1065848" indent="-355282" lvl="2">
              <a:lnSpc>
                <a:spcPts val="2520"/>
              </a:lnSpc>
              <a:buFont typeface="Arial"/>
              <a:buChar char="⚬"/>
            </a:pPr>
            <a:r>
              <a:rPr lang="en-US" sz="2100">
                <a:solidFill>
                  <a:srgbClr val="000000"/>
                </a:solidFill>
                <a:latin typeface="Arial"/>
                <a:ea typeface="Arial"/>
                <a:cs typeface="Arial"/>
                <a:sym typeface="Arial"/>
              </a:rPr>
              <a:t>Total </a:t>
            </a:r>
            <a:r>
              <a:rPr lang="en-US" b="true" sz="2100">
                <a:solidFill>
                  <a:srgbClr val="000000"/>
                </a:solidFill>
                <a:latin typeface="Arial Bold"/>
                <a:ea typeface="Arial Bold"/>
                <a:cs typeface="Arial Bold"/>
                <a:sym typeface="Arial Bold"/>
              </a:rPr>
              <a:t>prescription volume</a:t>
            </a:r>
            <a:r>
              <a:rPr lang="en-US" sz="2100">
                <a:solidFill>
                  <a:srgbClr val="000000"/>
                </a:solidFill>
                <a:latin typeface="Arial"/>
                <a:ea typeface="Arial"/>
                <a:cs typeface="Arial"/>
                <a:sym typeface="Arial"/>
              </a:rPr>
              <a:t> at the account level</a:t>
            </a:r>
          </a:p>
          <a:p>
            <a:pPr algn="l" marL="1065848" indent="-355282" lvl="2">
              <a:lnSpc>
                <a:spcPts val="2520"/>
              </a:lnSpc>
            </a:pPr>
            <a:r>
              <a:rPr lang="en-US" sz="2100">
                <a:solidFill>
                  <a:srgbClr val="000000"/>
                </a:solidFill>
                <a:latin typeface="Arial"/>
                <a:ea typeface="Arial"/>
                <a:cs typeface="Arial"/>
                <a:sym typeface="Arial"/>
              </a:rPr>
              <a:t>Finally, rank accounts by the </a:t>
            </a:r>
            <a:r>
              <a:rPr lang="en-US" b="true" sz="2100">
                <a:solidFill>
                  <a:srgbClr val="000000"/>
                </a:solidFill>
                <a:latin typeface="Arial Bold"/>
                <a:ea typeface="Arial Bold"/>
                <a:cs typeface="Arial Bold"/>
                <a:sym typeface="Arial Bold"/>
              </a:rPr>
              <a:t>lowest prescriptions-per-active-doctor ratio</a:t>
            </a:r>
            <a:r>
              <a:rPr lang="en-US" sz="2100">
                <a:solidFill>
                  <a:srgbClr val="000000"/>
                </a:solidFill>
                <a:latin typeface="Arial"/>
                <a:ea typeface="Arial"/>
                <a:cs typeface="Arial"/>
                <a:sym typeface="Arial"/>
              </a:rPr>
              <a:t> and identify the Top 10 accounts.</a:t>
            </a:r>
          </a:p>
          <a:p>
            <a:pPr algn="l" marL="1065848" indent="-355282" lvl="2">
              <a:lnSpc>
                <a:spcPts val="2520"/>
              </a:lnSpc>
            </a:pPr>
            <a:r>
              <a:rPr lang="en-US" sz="2100">
                <a:solidFill>
                  <a:srgbClr val="000000"/>
                </a:solidFill>
                <a:latin typeface="Arial"/>
                <a:ea typeface="Arial"/>
                <a:cs typeface="Arial"/>
                <a:sym typeface="Arial"/>
              </a:rPr>
              <a:t>Additionally, create a scatter plot comparing account size vs prescriptions-per-active-doctor ratio, highlighting potential underperforming accounts.</a:t>
            </a:r>
          </a:p>
        </p:txBody>
      </p:sp>
      <p:grpSp>
        <p:nvGrpSpPr>
          <p:cNvPr name="Group 12" id="12"/>
          <p:cNvGrpSpPr/>
          <p:nvPr/>
        </p:nvGrpSpPr>
        <p:grpSpPr>
          <a:xfrm rot="0">
            <a:off x="502444" y="9874129"/>
            <a:ext cx="1620002" cy="269996"/>
            <a:chOff x="0" y="0"/>
            <a:chExt cx="2160003" cy="359994"/>
          </a:xfrm>
        </p:grpSpPr>
        <p:sp>
          <p:nvSpPr>
            <p:cNvPr name="Freeform 13" id="13"/>
            <p:cNvSpPr/>
            <p:nvPr/>
          </p:nvSpPr>
          <p:spPr>
            <a:xfrm flipH="false" flipV="false" rot="0">
              <a:off x="0" y="0"/>
              <a:ext cx="2160000" cy="360000"/>
            </a:xfrm>
            <a:custGeom>
              <a:avLst/>
              <a:gdLst/>
              <a:ahLst/>
              <a:cxnLst/>
              <a:rect r="r" b="b" t="t" l="l"/>
              <a:pathLst>
                <a:path h="360000" w="2160000">
                  <a:moveTo>
                    <a:pt x="0" y="0"/>
                  </a:moveTo>
                  <a:lnTo>
                    <a:pt x="2160000" y="0"/>
                  </a:lnTo>
                  <a:lnTo>
                    <a:pt x="2160000" y="360000"/>
                  </a:lnTo>
                  <a:lnTo>
                    <a:pt x="0" y="360000"/>
                  </a:lnTo>
                  <a:close/>
                </a:path>
              </a:pathLst>
            </a:custGeom>
            <a:blipFill>
              <a:blip r:embed="rId3">
                <a:alphaModFix amt="0"/>
              </a:blip>
              <a:stretch>
                <a:fillRect l="0" t="-66911" r="0" b="-66909"/>
              </a:stretch>
            </a:blipFill>
          </p:spPr>
        </p:sp>
        <p:sp>
          <p:nvSpPr>
            <p:cNvPr name="TextBox 14" id="14"/>
            <p:cNvSpPr txBox="true"/>
            <p:nvPr/>
          </p:nvSpPr>
          <p:spPr>
            <a:xfrm>
              <a:off x="0" y="-19050"/>
              <a:ext cx="2160003" cy="379044"/>
            </a:xfrm>
            <a:prstGeom prst="rect">
              <a:avLst/>
            </a:prstGeom>
          </p:spPr>
          <p:txBody>
            <a:bodyPr anchor="b" rtlCol="false" tIns="0" lIns="0" bIns="0" rIns="0"/>
            <a:lstStyle/>
            <a:p>
              <a:pPr algn="l">
                <a:lnSpc>
                  <a:spcPts val="1439"/>
                </a:lnSpc>
              </a:pPr>
              <a:r>
                <a:rPr lang="en-US" sz="1200">
                  <a:solidFill>
                    <a:srgbClr val="808080"/>
                  </a:solidFill>
                  <a:latin typeface="Arial"/>
                  <a:ea typeface="Arial"/>
                  <a:cs typeface="Arial"/>
                  <a:sym typeface="Arial"/>
                </a:rPr>
                <a:t>© 2026 ProcDNA</a:t>
              </a:r>
            </a:p>
          </p:txBody>
        </p:sp>
      </p:grpSp>
      <p:sp>
        <p:nvSpPr>
          <p:cNvPr name="TextBox 15" id="15"/>
          <p:cNvSpPr txBox="true"/>
          <p:nvPr/>
        </p:nvSpPr>
        <p:spPr>
          <a:xfrm rot="0">
            <a:off x="5689721" y="4258866"/>
            <a:ext cx="6898491" cy="275463"/>
          </a:xfrm>
          <a:prstGeom prst="rect">
            <a:avLst/>
          </a:prstGeom>
        </p:spPr>
        <p:txBody>
          <a:bodyPr anchor="t" rtlCol="false" tIns="0" lIns="0" bIns="0" rIns="0">
            <a:spAutoFit/>
          </a:bodyPr>
          <a:lstStyle/>
          <a:p>
            <a:pPr algn="l">
              <a:lnSpc>
                <a:spcPts val="2592"/>
              </a:lnSpc>
            </a:pPr>
            <a:r>
              <a:rPr lang="en-US" sz="2400" b="true">
                <a:solidFill>
                  <a:srgbClr val="001E96"/>
                </a:solidFill>
                <a:latin typeface="Arial Bold"/>
                <a:ea typeface="Arial Bold"/>
                <a:cs typeface="Arial Bold"/>
                <a:sym typeface="Arial Bold"/>
              </a:rPr>
              <a:t>Account size vs company-drug sales efficiency</a:t>
            </a:r>
          </a:p>
        </p:txBody>
      </p:sp>
      <p:graphicFrame>
        <p:nvGraphicFramePr>
          <p:cNvPr name="Table 16" id="16"/>
          <p:cNvGraphicFramePr>
            <a:graphicFrameLocks noGrp="true"/>
          </p:cNvGraphicFramePr>
          <p:nvPr/>
        </p:nvGraphicFramePr>
        <p:xfrm>
          <a:off x="540867" y="4636603"/>
          <a:ext cx="17145000" cy="5181600"/>
        </p:xfrm>
        <a:graphic>
          <a:graphicData uri="http://schemas.openxmlformats.org/drawingml/2006/table">
            <a:tbl>
              <a:tblPr/>
              <a:tblGrid>
                <a:gridCol w="2301501"/>
                <a:gridCol w="3254101"/>
                <a:gridCol w="2897350"/>
                <a:gridCol w="2897350"/>
                <a:gridCol w="2897350"/>
                <a:gridCol w="2897350"/>
              </a:tblGrid>
              <a:tr h="603991">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 Rank</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Account_ID</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 Affiliated Doctors</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 Active Doctors</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Our Drug </a:t>
                      </a:r>
                      <a:endParaRPr lang="en-US" sz="1100"/>
                    </a:p>
                    <a:p>
                      <a:pPr algn="ctr">
                        <a:lnSpc>
                          <a:spcPts val="2520"/>
                        </a:lnSpc>
                      </a:pPr>
                      <a:r>
                        <a:rPr lang="en-US" sz="2100" b="true">
                          <a:solidFill>
                            <a:srgbClr val="FFFFFF"/>
                          </a:solidFill>
                          <a:latin typeface="Arial Bold"/>
                          <a:ea typeface="Arial Bold"/>
                          <a:cs typeface="Arial Bold"/>
                          <a:sym typeface="Arial Bold"/>
                        </a:rPr>
                        <a:t>Prescription Volume</a:t>
                      </a:r>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Prescription Volume per Active Doctor</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r>
              <a:tr h="457761">
                <a:tc>
                  <a:txBody>
                    <a:bodyPr anchor="t" rtlCol="false"/>
                    <a:lstStyle/>
                    <a:p>
                      <a:pPr algn="ctr">
                        <a:lnSpc>
                          <a:spcPts val="2160"/>
                        </a:lnSpc>
                        <a:defRPr/>
                      </a:pPr>
                      <a:r>
                        <a:rPr lang="en-US" sz="1800">
                          <a:solidFill>
                            <a:srgbClr val="000000"/>
                          </a:solidFill>
                          <a:latin typeface="Arial"/>
                          <a:ea typeface="Arial"/>
                          <a:cs typeface="Arial"/>
                          <a:sym typeface="Arial"/>
                        </a:rPr>
                        <a:t>1</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ACC017</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59</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59.00</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761">
                <a:tc>
                  <a:txBody>
                    <a:bodyPr anchor="t" rtlCol="false"/>
                    <a:lstStyle/>
                    <a:p>
                      <a:pPr algn="ctr">
                        <a:lnSpc>
                          <a:spcPts val="2160"/>
                        </a:lnSpc>
                        <a:defRPr/>
                      </a:pPr>
                      <a:r>
                        <a:rPr lang="en-US" sz="1800">
                          <a:solidFill>
                            <a:srgbClr val="000000"/>
                          </a:solidFill>
                          <a:latin typeface="Arial"/>
                          <a:ea typeface="Arial"/>
                          <a:cs typeface="Arial"/>
                          <a:sym typeface="Arial"/>
                        </a:rPr>
                        <a:t>2</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ACC015</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8</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7</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1347</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192.43</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761">
                <a:tc>
                  <a:txBody>
                    <a:bodyPr anchor="t" rtlCol="false"/>
                    <a:lstStyle/>
                    <a:p>
                      <a:pPr algn="ctr">
                        <a:lnSpc>
                          <a:spcPts val="2160"/>
                        </a:lnSpc>
                        <a:defRPr/>
                      </a:pPr>
                      <a:r>
                        <a:rPr lang="en-US" sz="1800">
                          <a:solidFill>
                            <a:srgbClr val="000000"/>
                          </a:solidFill>
                          <a:latin typeface="Arial"/>
                          <a:ea typeface="Arial"/>
                          <a:cs typeface="Arial"/>
                          <a:sym typeface="Arial"/>
                        </a:rPr>
                        <a:t>3</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ACC012</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10</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7</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1804</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257.71</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761">
                <a:tc>
                  <a:txBody>
                    <a:bodyPr anchor="t" rtlCol="false"/>
                    <a:lstStyle/>
                    <a:p>
                      <a:pPr algn="ctr">
                        <a:lnSpc>
                          <a:spcPts val="2160"/>
                        </a:lnSpc>
                        <a:defRPr/>
                      </a:pPr>
                      <a:r>
                        <a:rPr lang="en-US" sz="1800">
                          <a:solidFill>
                            <a:srgbClr val="000000"/>
                          </a:solidFill>
                          <a:latin typeface="Arial"/>
                          <a:ea typeface="Arial"/>
                          <a:cs typeface="Arial"/>
                          <a:sym typeface="Arial"/>
                        </a:rPr>
                        <a:t>4</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ACC009</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11</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10</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2699</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269.90</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761">
                <a:tc>
                  <a:txBody>
                    <a:bodyPr anchor="t" rtlCol="false"/>
                    <a:lstStyle/>
                    <a:p>
                      <a:pPr algn="ctr">
                        <a:lnSpc>
                          <a:spcPts val="2160"/>
                        </a:lnSpc>
                        <a:defRPr/>
                      </a:pPr>
                      <a:r>
                        <a:rPr lang="en-US" sz="1800">
                          <a:solidFill>
                            <a:srgbClr val="000000"/>
                          </a:solidFill>
                          <a:latin typeface="Arial"/>
                          <a:ea typeface="Arial"/>
                          <a:cs typeface="Arial"/>
                          <a:sym typeface="Arial"/>
                        </a:rPr>
                        <a:t>5</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ACC003</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24</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15</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4947</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329.80</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761">
                <a:tc>
                  <a:txBody>
                    <a:bodyPr anchor="t" rtlCol="false"/>
                    <a:lstStyle/>
                    <a:p>
                      <a:pPr algn="ctr">
                        <a:lnSpc>
                          <a:spcPts val="2160"/>
                        </a:lnSpc>
                        <a:defRPr/>
                      </a:pPr>
                      <a:r>
                        <a:rPr lang="en-US" sz="1800">
                          <a:solidFill>
                            <a:srgbClr val="000000"/>
                          </a:solidFill>
                          <a:latin typeface="Arial"/>
                          <a:ea typeface="Arial"/>
                          <a:cs typeface="Arial"/>
                          <a:sym typeface="Arial"/>
                        </a:rPr>
                        <a:t>6</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ACC018</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4</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1095</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365.00</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761">
                <a:tc>
                  <a:txBody>
                    <a:bodyPr anchor="t" rtlCol="false"/>
                    <a:lstStyle/>
                    <a:p>
                      <a:pPr algn="ctr">
                        <a:lnSpc>
                          <a:spcPts val="2160"/>
                        </a:lnSpc>
                        <a:defRPr/>
                      </a:pPr>
                      <a:r>
                        <a:rPr lang="en-US" sz="1800">
                          <a:solidFill>
                            <a:srgbClr val="000000"/>
                          </a:solidFill>
                          <a:latin typeface="Arial"/>
                          <a:ea typeface="Arial"/>
                          <a:cs typeface="Arial"/>
                          <a:sym typeface="Arial"/>
                        </a:rPr>
                        <a:t>7</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ACC004</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17</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13</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5402</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415.54</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761">
                <a:tc>
                  <a:txBody>
                    <a:bodyPr anchor="t" rtlCol="false"/>
                    <a:lstStyle/>
                    <a:p>
                      <a:pPr algn="ctr">
                        <a:lnSpc>
                          <a:spcPts val="2160"/>
                        </a:lnSpc>
                        <a:defRPr/>
                      </a:pPr>
                      <a:r>
                        <a:rPr lang="en-US" sz="1800">
                          <a:solidFill>
                            <a:srgbClr val="000000"/>
                          </a:solidFill>
                          <a:latin typeface="Arial"/>
                          <a:ea typeface="Arial"/>
                          <a:cs typeface="Arial"/>
                          <a:sym typeface="Arial"/>
                        </a:rPr>
                        <a:t>8</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ACC008</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7</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6</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3049</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508.17</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761">
                <a:tc>
                  <a:txBody>
                    <a:bodyPr anchor="t" rtlCol="false"/>
                    <a:lstStyle/>
                    <a:p>
                      <a:pPr algn="ctr">
                        <a:lnSpc>
                          <a:spcPts val="2160"/>
                        </a:lnSpc>
                        <a:defRPr/>
                      </a:pPr>
                      <a:r>
                        <a:rPr lang="en-US" sz="1800">
                          <a:solidFill>
                            <a:srgbClr val="000000"/>
                          </a:solidFill>
                          <a:latin typeface="Arial"/>
                          <a:ea typeface="Arial"/>
                          <a:cs typeface="Arial"/>
                          <a:sym typeface="Arial"/>
                        </a:rPr>
                        <a:t>9</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ACC014</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6</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6</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3126</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521.00</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457761">
                <a:tc>
                  <a:txBody>
                    <a:bodyPr anchor="t" rtlCol="false"/>
                    <a:lstStyle/>
                    <a:p>
                      <a:pPr algn="ctr">
                        <a:lnSpc>
                          <a:spcPts val="2160"/>
                        </a:lnSpc>
                        <a:defRPr/>
                      </a:pPr>
                      <a:r>
                        <a:rPr lang="en-US" sz="1800">
                          <a:solidFill>
                            <a:srgbClr val="000000"/>
                          </a:solidFill>
                          <a:latin typeface="Arial"/>
                          <a:ea typeface="Arial"/>
                          <a:cs typeface="Arial"/>
                          <a:sym typeface="Arial"/>
                        </a:rPr>
                        <a:t>10</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ACC023</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573</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573.00</a:t>
                      </a:r>
                      <a:endParaRPr lang="en-US" sz="1100"/>
                    </a:p>
                  </a:txBody>
                  <a:tcPr marL="69273" marR="69273" marT="69273" marB="69273"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4998"/>
            <a:chOff x="0" y="0"/>
            <a:chExt cx="24384000" cy="179997"/>
          </a:xfrm>
        </p:grpSpPr>
        <p:sp>
          <p:nvSpPr>
            <p:cNvPr name="Freeform 3" id="3"/>
            <p:cNvSpPr/>
            <p:nvPr/>
          </p:nvSpPr>
          <p:spPr>
            <a:xfrm flipH="false" flipV="false" rot="0">
              <a:off x="0" y="0"/>
              <a:ext cx="24384000" cy="179959"/>
            </a:xfrm>
            <a:custGeom>
              <a:avLst/>
              <a:gdLst/>
              <a:ahLst/>
              <a:cxnLst/>
              <a:rect r="r" b="b" t="t" l="l"/>
              <a:pathLst>
                <a:path h="179959" w="24384000">
                  <a:moveTo>
                    <a:pt x="0" y="0"/>
                  </a:moveTo>
                  <a:lnTo>
                    <a:pt x="24384000" y="0"/>
                  </a:lnTo>
                  <a:lnTo>
                    <a:pt x="24384000" y="179959"/>
                  </a:lnTo>
                  <a:lnTo>
                    <a:pt x="0" y="179959"/>
                  </a:lnTo>
                  <a:close/>
                </a:path>
              </a:pathLst>
            </a:custGeom>
            <a:gradFill rotWithShape="true">
              <a:gsLst>
                <a:gs pos="0">
                  <a:srgbClr val="005CD9">
                    <a:alpha val="100000"/>
                  </a:srgbClr>
                </a:gs>
                <a:gs pos="50000">
                  <a:srgbClr val="007ECC">
                    <a:alpha val="100000"/>
                  </a:srgbClr>
                </a:gs>
                <a:gs pos="100000">
                  <a:srgbClr val="001E96">
                    <a:alpha val="100000"/>
                  </a:srgbClr>
                </a:gs>
              </a:gsLst>
              <a:lin ang="0"/>
            </a:gradFill>
          </p:spPr>
        </p:sp>
      </p:grpSp>
      <p:sp>
        <p:nvSpPr>
          <p:cNvPr name="AutoShape 4" id="4"/>
          <p:cNvSpPr/>
          <p:nvPr/>
        </p:nvSpPr>
        <p:spPr>
          <a:xfrm rot="3780">
            <a:off x="492919" y="1755696"/>
            <a:ext cx="17299057" cy="0"/>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17245555" y="9874129"/>
            <a:ext cx="540001" cy="269996"/>
            <a:chOff x="0" y="0"/>
            <a:chExt cx="720001" cy="359994"/>
          </a:xfrm>
        </p:grpSpPr>
        <p:sp>
          <p:nvSpPr>
            <p:cNvPr name="Freeform 6" id="6"/>
            <p:cNvSpPr/>
            <p:nvPr/>
          </p:nvSpPr>
          <p:spPr>
            <a:xfrm flipH="false" flipV="false" rot="0">
              <a:off x="0" y="0"/>
              <a:ext cx="720000" cy="360000"/>
            </a:xfrm>
            <a:custGeom>
              <a:avLst/>
              <a:gdLst/>
              <a:ahLst/>
              <a:cxnLst/>
              <a:rect r="r" b="b" t="t" l="l"/>
              <a:pathLst>
                <a:path h="360000" w="720000">
                  <a:moveTo>
                    <a:pt x="0" y="0"/>
                  </a:moveTo>
                  <a:lnTo>
                    <a:pt x="720000" y="0"/>
                  </a:lnTo>
                  <a:lnTo>
                    <a:pt x="720000" y="360000"/>
                  </a:lnTo>
                  <a:lnTo>
                    <a:pt x="0" y="360000"/>
                  </a:lnTo>
                  <a:close/>
                </a:path>
              </a:pathLst>
            </a:custGeom>
            <a:blipFill>
              <a:blip r:embed="rId3">
                <a:alphaModFix amt="0"/>
              </a:blip>
              <a:stretch>
                <a:fillRect l="-14150" t="0" r="-14150" b="1"/>
              </a:stretch>
            </a:blipFill>
          </p:spPr>
        </p:sp>
        <p:sp>
          <p:nvSpPr>
            <p:cNvPr name="TextBox 7" id="7"/>
            <p:cNvSpPr txBox="true"/>
            <p:nvPr/>
          </p:nvSpPr>
          <p:spPr>
            <a:xfrm>
              <a:off x="0" y="-19050"/>
              <a:ext cx="720001" cy="379044"/>
            </a:xfrm>
            <a:prstGeom prst="rect">
              <a:avLst/>
            </a:prstGeom>
          </p:spPr>
          <p:txBody>
            <a:bodyPr anchor="b" rtlCol="false" tIns="0" lIns="0" bIns="0" rIns="0"/>
            <a:lstStyle/>
            <a:p>
              <a:pPr algn="r">
                <a:lnSpc>
                  <a:spcPts val="1439"/>
                </a:lnSpc>
              </a:pPr>
              <a:r>
                <a:rPr lang="en-US" sz="1200">
                  <a:solidFill>
                    <a:srgbClr val="808080"/>
                  </a:solidFill>
                  <a:latin typeface="Arial"/>
                  <a:ea typeface="Arial"/>
                  <a:cs typeface="Arial"/>
                  <a:sym typeface="Arial"/>
                </a:rPr>
                <a:t>9</a:t>
              </a:r>
            </a:p>
          </p:txBody>
        </p:sp>
      </p:grpSp>
      <p:grpSp>
        <p:nvGrpSpPr>
          <p:cNvPr name="Group 8" id="8"/>
          <p:cNvGrpSpPr/>
          <p:nvPr/>
        </p:nvGrpSpPr>
        <p:grpSpPr>
          <a:xfrm rot="0">
            <a:off x="502444" y="9874129"/>
            <a:ext cx="1620002" cy="269996"/>
            <a:chOff x="0" y="0"/>
            <a:chExt cx="2160003" cy="359994"/>
          </a:xfrm>
        </p:grpSpPr>
        <p:sp>
          <p:nvSpPr>
            <p:cNvPr name="Freeform 9" id="9"/>
            <p:cNvSpPr/>
            <p:nvPr/>
          </p:nvSpPr>
          <p:spPr>
            <a:xfrm flipH="false" flipV="false" rot="0">
              <a:off x="0" y="0"/>
              <a:ext cx="2160000" cy="360000"/>
            </a:xfrm>
            <a:custGeom>
              <a:avLst/>
              <a:gdLst/>
              <a:ahLst/>
              <a:cxnLst/>
              <a:rect r="r" b="b" t="t" l="l"/>
              <a:pathLst>
                <a:path h="360000" w="2160000">
                  <a:moveTo>
                    <a:pt x="0" y="0"/>
                  </a:moveTo>
                  <a:lnTo>
                    <a:pt x="2160000" y="0"/>
                  </a:lnTo>
                  <a:lnTo>
                    <a:pt x="2160000" y="360000"/>
                  </a:lnTo>
                  <a:lnTo>
                    <a:pt x="0" y="360000"/>
                  </a:lnTo>
                  <a:close/>
                </a:path>
              </a:pathLst>
            </a:custGeom>
            <a:blipFill>
              <a:blip r:embed="rId3">
                <a:alphaModFix amt="0"/>
              </a:blip>
              <a:stretch>
                <a:fillRect l="0" t="-66911" r="0" b="-66909"/>
              </a:stretch>
            </a:blipFill>
          </p:spPr>
        </p:sp>
        <p:sp>
          <p:nvSpPr>
            <p:cNvPr name="TextBox 10" id="10"/>
            <p:cNvSpPr txBox="true"/>
            <p:nvPr/>
          </p:nvSpPr>
          <p:spPr>
            <a:xfrm>
              <a:off x="0" y="-19050"/>
              <a:ext cx="2160003" cy="379044"/>
            </a:xfrm>
            <a:prstGeom prst="rect">
              <a:avLst/>
            </a:prstGeom>
          </p:spPr>
          <p:txBody>
            <a:bodyPr anchor="b" rtlCol="false" tIns="0" lIns="0" bIns="0" rIns="0"/>
            <a:lstStyle/>
            <a:p>
              <a:pPr algn="l">
                <a:lnSpc>
                  <a:spcPts val="1439"/>
                </a:lnSpc>
              </a:pPr>
              <a:r>
                <a:rPr lang="en-US" sz="1200">
                  <a:solidFill>
                    <a:srgbClr val="808080"/>
                  </a:solidFill>
                  <a:latin typeface="Arial"/>
                  <a:ea typeface="Arial"/>
                  <a:cs typeface="Arial"/>
                  <a:sym typeface="Arial"/>
                </a:rPr>
                <a:t>© 2026 ProcDNA</a:t>
              </a:r>
            </a:p>
          </p:txBody>
        </p:sp>
      </p:grpSp>
      <p:grpSp>
        <p:nvGrpSpPr>
          <p:cNvPr name="Group 11" id="11"/>
          <p:cNvGrpSpPr/>
          <p:nvPr/>
        </p:nvGrpSpPr>
        <p:grpSpPr>
          <a:xfrm rot="0">
            <a:off x="13108682" y="1769969"/>
            <a:ext cx="4588221" cy="5717640"/>
            <a:chOff x="0" y="0"/>
            <a:chExt cx="6508026" cy="8110016"/>
          </a:xfrm>
        </p:grpSpPr>
        <p:sp>
          <p:nvSpPr>
            <p:cNvPr name="Freeform 12" id="12"/>
            <p:cNvSpPr/>
            <p:nvPr/>
          </p:nvSpPr>
          <p:spPr>
            <a:xfrm flipH="false" flipV="false" rot="0">
              <a:off x="0" y="0"/>
              <a:ext cx="6507988" cy="8109965"/>
            </a:xfrm>
            <a:custGeom>
              <a:avLst/>
              <a:gdLst/>
              <a:ahLst/>
              <a:cxnLst/>
              <a:rect r="r" b="b" t="t" l="l"/>
              <a:pathLst>
                <a:path h="8109965" w="6507988">
                  <a:moveTo>
                    <a:pt x="0" y="0"/>
                  </a:moveTo>
                  <a:lnTo>
                    <a:pt x="6507988" y="0"/>
                  </a:lnTo>
                  <a:lnTo>
                    <a:pt x="6507988" y="8109965"/>
                  </a:lnTo>
                  <a:lnTo>
                    <a:pt x="0" y="8109965"/>
                  </a:lnTo>
                  <a:close/>
                </a:path>
              </a:pathLst>
            </a:custGeom>
            <a:blipFill>
              <a:blip r:embed="rId4"/>
              <a:stretch>
                <a:fillRect l="-179010" t="-158575" r="0" b="-5167"/>
              </a:stretch>
            </a:blipFill>
            <a:ln w="19050" cap="sq">
              <a:solidFill>
                <a:srgbClr val="001E96"/>
              </a:solidFill>
              <a:prstDash val="solid"/>
              <a:miter/>
            </a:ln>
          </p:spPr>
        </p:sp>
        <p:sp>
          <p:nvSpPr>
            <p:cNvPr name="TextBox 13" id="13"/>
            <p:cNvSpPr txBox="true"/>
            <p:nvPr/>
          </p:nvSpPr>
          <p:spPr>
            <a:xfrm>
              <a:off x="0" y="-19050"/>
              <a:ext cx="6508026" cy="8129066"/>
            </a:xfrm>
            <a:prstGeom prst="rect">
              <a:avLst/>
            </a:prstGeom>
          </p:spPr>
          <p:txBody>
            <a:bodyPr anchor="t" rtlCol="false" tIns="50800" lIns="50800" bIns="50800" rIns="50800"/>
            <a:lstStyle/>
            <a:p>
              <a:pPr algn="ctr">
                <a:lnSpc>
                  <a:spcPts val="1800"/>
                </a:lnSpc>
              </a:pPr>
            </a:p>
          </p:txBody>
        </p:sp>
      </p:grpSp>
      <p:sp>
        <p:nvSpPr>
          <p:cNvPr name="Freeform 14" id="14"/>
          <p:cNvSpPr/>
          <p:nvPr/>
        </p:nvSpPr>
        <p:spPr>
          <a:xfrm flipH="false" flipV="false" rot="0">
            <a:off x="249511" y="1907226"/>
            <a:ext cx="12484432" cy="5807998"/>
          </a:xfrm>
          <a:custGeom>
            <a:avLst/>
            <a:gdLst/>
            <a:ahLst/>
            <a:cxnLst/>
            <a:rect r="r" b="b" t="t" l="l"/>
            <a:pathLst>
              <a:path h="5807998" w="12484432">
                <a:moveTo>
                  <a:pt x="0" y="0"/>
                </a:moveTo>
                <a:lnTo>
                  <a:pt x="12484431" y="0"/>
                </a:lnTo>
                <a:lnTo>
                  <a:pt x="12484431" y="5807998"/>
                </a:lnTo>
                <a:lnTo>
                  <a:pt x="0" y="5807998"/>
                </a:lnTo>
                <a:lnTo>
                  <a:pt x="0" y="0"/>
                </a:lnTo>
                <a:close/>
              </a:path>
            </a:pathLst>
          </a:custGeom>
          <a:blipFill>
            <a:blip r:embed="rId5"/>
            <a:stretch>
              <a:fillRect l="0" t="-5499" r="0" b="-577"/>
            </a:stretch>
          </a:blipFill>
        </p:spPr>
      </p:sp>
      <p:sp>
        <p:nvSpPr>
          <p:cNvPr name="TextBox 15" id="15"/>
          <p:cNvSpPr txBox="true"/>
          <p:nvPr/>
        </p:nvSpPr>
        <p:spPr>
          <a:xfrm rot="0">
            <a:off x="1028700" y="718947"/>
            <a:ext cx="15345716" cy="806196"/>
          </a:xfrm>
          <a:prstGeom prst="rect">
            <a:avLst/>
          </a:prstGeom>
        </p:spPr>
        <p:txBody>
          <a:bodyPr anchor="t" rtlCol="false" tIns="0" lIns="0" bIns="0" rIns="0">
            <a:spAutoFit/>
          </a:bodyPr>
          <a:lstStyle/>
          <a:p>
            <a:pPr algn="l">
              <a:lnSpc>
                <a:spcPts val="3131"/>
              </a:lnSpc>
            </a:pPr>
            <a:r>
              <a:rPr lang="en-US" b="true" sz="2899">
                <a:solidFill>
                  <a:srgbClr val="000000"/>
                </a:solidFill>
                <a:latin typeface="Arial Bold"/>
                <a:ea typeface="Arial Bold"/>
                <a:cs typeface="Arial Bold"/>
                <a:sym typeface="Arial Bold"/>
              </a:rPr>
              <a:t>PRESCRIPTION VOLUME PER ACTIVE DOCTOR vs. TOTAL DOCTORS (# AFFILIATED DOCTORS) SCATTER PLOT</a:t>
            </a:r>
          </a:p>
        </p:txBody>
      </p:sp>
      <p:sp>
        <p:nvSpPr>
          <p:cNvPr name="TextBox 16" id="16"/>
          <p:cNvSpPr txBox="true"/>
          <p:nvPr/>
        </p:nvSpPr>
        <p:spPr>
          <a:xfrm rot="0">
            <a:off x="1134395" y="7912368"/>
            <a:ext cx="16124905" cy="1736042"/>
          </a:xfrm>
          <a:prstGeom prst="rect">
            <a:avLst/>
          </a:prstGeom>
        </p:spPr>
        <p:txBody>
          <a:bodyPr anchor="t" rtlCol="false" tIns="0" lIns="0" bIns="0" rIns="0">
            <a:spAutoFit/>
          </a:bodyPr>
          <a:lstStyle/>
          <a:p>
            <a:pPr algn="l">
              <a:lnSpc>
                <a:spcPts val="2270"/>
              </a:lnSpc>
            </a:pPr>
            <a:r>
              <a:rPr lang="en-US" b="true" sz="1845">
                <a:solidFill>
                  <a:srgbClr val="000000"/>
                </a:solidFill>
                <a:latin typeface="Arial Bold"/>
                <a:ea typeface="Arial Bold"/>
                <a:cs typeface="Arial Bold"/>
                <a:sym typeface="Arial Bold"/>
              </a:rPr>
              <a:t>Strategic Inferences</a:t>
            </a:r>
          </a:p>
          <a:p>
            <a:pPr algn="l">
              <a:lnSpc>
                <a:spcPts val="2270"/>
              </a:lnSpc>
            </a:pPr>
            <a:r>
              <a:rPr lang="en-US" b="true" sz="1845">
                <a:solidFill>
                  <a:srgbClr val="000000"/>
                </a:solidFill>
                <a:latin typeface="Arial Bold"/>
                <a:ea typeface="Arial Bold"/>
                <a:cs typeface="Arial Bold"/>
                <a:sym typeface="Arial Bold"/>
              </a:rPr>
              <a:t>1. ACC001 (Northside General) has the highest alert volume but lowest conversion (3.73) - top priority for intervention.</a:t>
            </a:r>
          </a:p>
          <a:p>
            <a:pPr algn="l">
              <a:lnSpc>
                <a:spcPts val="2270"/>
              </a:lnSpc>
            </a:pPr>
            <a:r>
              <a:rPr lang="en-US" b="true" sz="1845">
                <a:solidFill>
                  <a:srgbClr val="000000"/>
                </a:solidFill>
                <a:latin typeface="Arial Bold"/>
                <a:ea typeface="Arial Bold"/>
                <a:cs typeface="Arial Bold"/>
                <a:sym typeface="Arial Bold"/>
              </a:rPr>
              <a:t>2. ACC017 (Maplewood Clinic) has only 1 active prescriber out of 3 doctors - activation opportunity.</a:t>
            </a:r>
          </a:p>
          <a:p>
            <a:pPr algn="l">
              <a:lnSpc>
                <a:spcPts val="2270"/>
              </a:lnSpc>
            </a:pPr>
            <a:r>
              <a:rPr lang="en-US" b="true" sz="1845">
                <a:solidFill>
                  <a:srgbClr val="000000"/>
                </a:solidFill>
                <a:latin typeface="Arial Bold"/>
                <a:ea typeface="Arial Bold"/>
                <a:cs typeface="Arial Bold"/>
                <a:sym typeface="Arial Bold"/>
              </a:rPr>
              <a:t>3. Large accounts (ACC003, ACC004) show low Rx/doctor ratios despite many affiliated doctors.</a:t>
            </a:r>
          </a:p>
          <a:p>
            <a:pPr algn="l">
              <a:lnSpc>
                <a:spcPts val="2270"/>
              </a:lnSpc>
            </a:pPr>
            <a:r>
              <a:rPr lang="en-US" b="true" sz="1845">
                <a:solidFill>
                  <a:srgbClr val="000000"/>
                </a:solidFill>
                <a:latin typeface="Arial Bold"/>
                <a:ea typeface="Arial Bold"/>
                <a:cs typeface="Arial Bold"/>
                <a:sym typeface="Arial Bold"/>
              </a:rPr>
              <a:t>4. Smaller accounts like ACC010, ACC007 show very high conversion - may serve as best-practice models.</a:t>
            </a:r>
          </a:p>
          <a:p>
            <a:pPr algn="l">
              <a:lnSpc>
                <a:spcPts val="2270"/>
              </a:lnSpc>
            </a:pPr>
            <a:r>
              <a:rPr lang="en-US" b="true" sz="1845">
                <a:solidFill>
                  <a:srgbClr val="000000"/>
                </a:solidFill>
                <a:latin typeface="Arial Bold"/>
                <a:ea typeface="Arial Bold"/>
                <a:cs typeface="Arial Bold"/>
                <a:sym typeface="Arial Bold"/>
              </a:rPr>
              <a:t>5. Focus field force on high-alert, low-conversion accounts for maximum ROI.</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4998"/>
            <a:chOff x="0" y="0"/>
            <a:chExt cx="24384000" cy="179997"/>
          </a:xfrm>
        </p:grpSpPr>
        <p:sp>
          <p:nvSpPr>
            <p:cNvPr name="Freeform 3" id="3"/>
            <p:cNvSpPr/>
            <p:nvPr/>
          </p:nvSpPr>
          <p:spPr>
            <a:xfrm flipH="false" flipV="false" rot="0">
              <a:off x="0" y="0"/>
              <a:ext cx="24384000" cy="179959"/>
            </a:xfrm>
            <a:custGeom>
              <a:avLst/>
              <a:gdLst/>
              <a:ahLst/>
              <a:cxnLst/>
              <a:rect r="r" b="b" t="t" l="l"/>
              <a:pathLst>
                <a:path h="179959" w="24384000">
                  <a:moveTo>
                    <a:pt x="0" y="0"/>
                  </a:moveTo>
                  <a:lnTo>
                    <a:pt x="24384000" y="0"/>
                  </a:lnTo>
                  <a:lnTo>
                    <a:pt x="24384000" y="179959"/>
                  </a:lnTo>
                  <a:lnTo>
                    <a:pt x="0" y="179959"/>
                  </a:lnTo>
                  <a:close/>
                </a:path>
              </a:pathLst>
            </a:custGeom>
            <a:gradFill rotWithShape="true">
              <a:gsLst>
                <a:gs pos="0">
                  <a:srgbClr val="005CD9">
                    <a:alpha val="100000"/>
                  </a:srgbClr>
                </a:gs>
                <a:gs pos="50000">
                  <a:srgbClr val="007ECC">
                    <a:alpha val="100000"/>
                  </a:srgbClr>
                </a:gs>
                <a:gs pos="100000">
                  <a:srgbClr val="001E96">
                    <a:alpha val="100000"/>
                  </a:srgbClr>
                </a:gs>
              </a:gsLst>
              <a:lin ang="0"/>
            </a:gradFill>
          </p:spPr>
        </p:sp>
      </p:grpSp>
      <p:sp>
        <p:nvSpPr>
          <p:cNvPr name="AutoShape 4" id="4"/>
          <p:cNvSpPr/>
          <p:nvPr/>
        </p:nvSpPr>
        <p:spPr>
          <a:xfrm rot="3780">
            <a:off x="492919" y="1755696"/>
            <a:ext cx="17299057" cy="0"/>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502444" y="613600"/>
            <a:ext cx="17279998" cy="989457"/>
            <a:chOff x="0" y="0"/>
            <a:chExt cx="23039997" cy="1319276"/>
          </a:xfrm>
        </p:grpSpPr>
        <p:sp>
          <p:nvSpPr>
            <p:cNvPr name="Freeform 6" id="6"/>
            <p:cNvSpPr/>
            <p:nvPr/>
          </p:nvSpPr>
          <p:spPr>
            <a:xfrm flipH="false" flipV="false" rot="0">
              <a:off x="0" y="0"/>
              <a:ext cx="23040000" cy="1319272"/>
            </a:xfrm>
            <a:custGeom>
              <a:avLst/>
              <a:gdLst/>
              <a:ahLst/>
              <a:cxnLst/>
              <a:rect r="r" b="b" t="t" l="l"/>
              <a:pathLst>
                <a:path h="1319272" w="23040000">
                  <a:moveTo>
                    <a:pt x="0" y="0"/>
                  </a:moveTo>
                  <a:lnTo>
                    <a:pt x="23040000" y="0"/>
                  </a:lnTo>
                  <a:lnTo>
                    <a:pt x="23040000" y="1319272"/>
                  </a:lnTo>
                  <a:lnTo>
                    <a:pt x="0" y="1319272"/>
                  </a:lnTo>
                  <a:close/>
                </a:path>
              </a:pathLst>
            </a:custGeom>
            <a:blipFill>
              <a:blip r:embed="rId3">
                <a:alphaModFix amt="0"/>
              </a:blip>
              <a:stretch>
                <a:fillRect l="0" t="-290289" r="0" b="-290290"/>
              </a:stretch>
            </a:blipFill>
          </p:spPr>
        </p:sp>
        <p:sp>
          <p:nvSpPr>
            <p:cNvPr name="TextBox 7" id="7"/>
            <p:cNvSpPr txBox="true"/>
            <p:nvPr/>
          </p:nvSpPr>
          <p:spPr>
            <a:xfrm>
              <a:off x="0" y="9525"/>
              <a:ext cx="23039997" cy="1309751"/>
            </a:xfrm>
            <a:prstGeom prst="rect">
              <a:avLst/>
            </a:prstGeom>
          </p:spPr>
          <p:txBody>
            <a:bodyPr anchor="b" rtlCol="false" tIns="0" lIns="0" bIns="0" rIns="0"/>
            <a:lstStyle/>
            <a:p>
              <a:pPr algn="l">
                <a:lnSpc>
                  <a:spcPts val="3564"/>
                </a:lnSpc>
              </a:pPr>
              <a:r>
                <a:rPr lang="en-US" sz="3300" b="true">
                  <a:solidFill>
                    <a:srgbClr val="001E96"/>
                  </a:solidFill>
                  <a:latin typeface="Arial Bold"/>
                  <a:ea typeface="Arial Bold"/>
                  <a:cs typeface="Arial Bold"/>
                  <a:sym typeface="Arial Bold"/>
                </a:rPr>
                <a:t>Question 6: Did alerts actually change doctor behavior - before vs. after?</a:t>
              </a:r>
            </a:p>
          </p:txBody>
        </p:sp>
      </p:grpSp>
      <p:grpSp>
        <p:nvGrpSpPr>
          <p:cNvPr name="Group 8" id="8"/>
          <p:cNvGrpSpPr/>
          <p:nvPr/>
        </p:nvGrpSpPr>
        <p:grpSpPr>
          <a:xfrm rot="0">
            <a:off x="17245555" y="9874129"/>
            <a:ext cx="540001" cy="269996"/>
            <a:chOff x="0" y="0"/>
            <a:chExt cx="720001" cy="359994"/>
          </a:xfrm>
        </p:grpSpPr>
        <p:sp>
          <p:nvSpPr>
            <p:cNvPr name="Freeform 9" id="9"/>
            <p:cNvSpPr/>
            <p:nvPr/>
          </p:nvSpPr>
          <p:spPr>
            <a:xfrm flipH="false" flipV="false" rot="0">
              <a:off x="0" y="0"/>
              <a:ext cx="720000" cy="360000"/>
            </a:xfrm>
            <a:custGeom>
              <a:avLst/>
              <a:gdLst/>
              <a:ahLst/>
              <a:cxnLst/>
              <a:rect r="r" b="b" t="t" l="l"/>
              <a:pathLst>
                <a:path h="360000" w="720000">
                  <a:moveTo>
                    <a:pt x="0" y="0"/>
                  </a:moveTo>
                  <a:lnTo>
                    <a:pt x="720000" y="0"/>
                  </a:lnTo>
                  <a:lnTo>
                    <a:pt x="720000" y="360000"/>
                  </a:lnTo>
                  <a:lnTo>
                    <a:pt x="0" y="360000"/>
                  </a:lnTo>
                  <a:close/>
                </a:path>
              </a:pathLst>
            </a:custGeom>
            <a:blipFill>
              <a:blip r:embed="rId3">
                <a:alphaModFix amt="0"/>
              </a:blip>
              <a:stretch>
                <a:fillRect l="-14150" t="0" r="-14150" b="1"/>
              </a:stretch>
            </a:blipFill>
          </p:spPr>
        </p:sp>
        <p:sp>
          <p:nvSpPr>
            <p:cNvPr name="TextBox 10" id="10"/>
            <p:cNvSpPr txBox="true"/>
            <p:nvPr/>
          </p:nvSpPr>
          <p:spPr>
            <a:xfrm>
              <a:off x="0" y="-19050"/>
              <a:ext cx="720001" cy="379044"/>
            </a:xfrm>
            <a:prstGeom prst="rect">
              <a:avLst/>
            </a:prstGeom>
          </p:spPr>
          <p:txBody>
            <a:bodyPr anchor="b" rtlCol="false" tIns="0" lIns="0" bIns="0" rIns="0"/>
            <a:lstStyle/>
            <a:p>
              <a:pPr algn="r">
                <a:lnSpc>
                  <a:spcPts val="1439"/>
                </a:lnSpc>
              </a:pPr>
              <a:r>
                <a:rPr lang="en-US" sz="1200">
                  <a:solidFill>
                    <a:srgbClr val="808080"/>
                  </a:solidFill>
                  <a:latin typeface="Arial"/>
                  <a:ea typeface="Arial"/>
                  <a:cs typeface="Arial"/>
                  <a:sym typeface="Arial"/>
                </a:rPr>
                <a:t>10</a:t>
              </a:r>
            </a:p>
          </p:txBody>
        </p:sp>
      </p:grpSp>
      <p:sp>
        <p:nvSpPr>
          <p:cNvPr name="TextBox 11" id="11"/>
          <p:cNvSpPr txBox="true"/>
          <p:nvPr/>
        </p:nvSpPr>
        <p:spPr>
          <a:xfrm rot="0">
            <a:off x="544068" y="1879683"/>
            <a:ext cx="17222724" cy="1390269"/>
          </a:xfrm>
          <a:prstGeom prst="rect">
            <a:avLst/>
          </a:prstGeom>
        </p:spPr>
        <p:txBody>
          <a:bodyPr anchor="t" rtlCol="false" tIns="0" lIns="0" bIns="0" rIns="0">
            <a:spAutoFit/>
          </a:bodyPr>
          <a:lstStyle/>
          <a:p>
            <a:pPr algn="l">
              <a:lnSpc>
                <a:spcPts val="2520"/>
              </a:lnSpc>
            </a:pPr>
            <a:r>
              <a:rPr lang="en-US" sz="2100" b="true">
                <a:solidFill>
                  <a:srgbClr val="000000"/>
                </a:solidFill>
                <a:latin typeface="Arial Bold"/>
                <a:ea typeface="Arial Bold"/>
                <a:cs typeface="Arial Bold"/>
                <a:sym typeface="Arial Bold"/>
              </a:rPr>
              <a:t>Part A - Basic lift:</a:t>
            </a:r>
            <a:r>
              <a:rPr lang="en-US" sz="2100">
                <a:solidFill>
                  <a:srgbClr val="000000"/>
                </a:solidFill>
                <a:latin typeface="Arial"/>
                <a:ea typeface="Arial"/>
                <a:cs typeface="Arial"/>
                <a:sym typeface="Arial"/>
              </a:rPr>
              <a:t> Define a 90-day before and 90-day after window around each doctor's first positive alert. Calculate prescription volume for our drug in each window. Rank Top 10 HCPs by lift % with highest lift being Rank 1?</a:t>
            </a:r>
          </a:p>
          <a:p>
            <a:pPr algn="l">
              <a:lnSpc>
                <a:spcPts val="2520"/>
              </a:lnSpc>
            </a:pPr>
            <a:r>
              <a:rPr lang="en-US" sz="2100" b="true">
                <a:solidFill>
                  <a:srgbClr val="000000"/>
                </a:solidFill>
                <a:latin typeface="Arial Bold"/>
                <a:ea typeface="Arial Bold"/>
                <a:cs typeface="Arial Bold"/>
                <a:sym typeface="Arial Bold"/>
              </a:rPr>
              <a:t>Part B - Segment the lift:</a:t>
            </a:r>
            <a:r>
              <a:rPr lang="en-US" sz="2100">
                <a:solidFill>
                  <a:srgbClr val="000000"/>
                </a:solidFill>
                <a:latin typeface="Arial"/>
                <a:ea typeface="Arial"/>
                <a:cs typeface="Arial"/>
                <a:sym typeface="Arial"/>
              </a:rPr>
              <a:t> Split all doctors into 3 behavioral bucket as mentioned in the formula table. Does the lift look different across the three groups? Which group shows strongest commercial impact?</a:t>
            </a:r>
          </a:p>
        </p:txBody>
      </p:sp>
      <p:sp>
        <p:nvSpPr>
          <p:cNvPr name="TextBox 12" id="12"/>
          <p:cNvSpPr txBox="true"/>
          <p:nvPr/>
        </p:nvSpPr>
        <p:spPr>
          <a:xfrm rot="0">
            <a:off x="2801655" y="3298765"/>
            <a:ext cx="5712381" cy="334385"/>
          </a:xfrm>
          <a:prstGeom prst="rect">
            <a:avLst/>
          </a:prstGeom>
        </p:spPr>
        <p:txBody>
          <a:bodyPr anchor="t" rtlCol="false" tIns="0" lIns="0" bIns="0" rIns="0">
            <a:spAutoFit/>
          </a:bodyPr>
          <a:lstStyle/>
          <a:p>
            <a:pPr algn="ctr">
              <a:lnSpc>
                <a:spcPts val="2592"/>
              </a:lnSpc>
            </a:pPr>
            <a:r>
              <a:rPr lang="en-US" sz="2400" b="true">
                <a:solidFill>
                  <a:srgbClr val="001E96"/>
                </a:solidFill>
                <a:latin typeface="Arial Bold"/>
                <a:ea typeface="Arial Bold"/>
                <a:cs typeface="Arial Bold"/>
                <a:sym typeface="Arial Bold"/>
              </a:rPr>
              <a:t>Part A: HCP-level before / after lift</a:t>
            </a:r>
          </a:p>
        </p:txBody>
      </p:sp>
      <p:sp>
        <p:nvSpPr>
          <p:cNvPr name="TextBox 13" id="13"/>
          <p:cNvSpPr txBox="true"/>
          <p:nvPr/>
        </p:nvSpPr>
        <p:spPr>
          <a:xfrm rot="0">
            <a:off x="12522356" y="3259950"/>
            <a:ext cx="4202535" cy="334385"/>
          </a:xfrm>
          <a:prstGeom prst="rect">
            <a:avLst/>
          </a:prstGeom>
        </p:spPr>
        <p:txBody>
          <a:bodyPr anchor="t" rtlCol="false" tIns="0" lIns="0" bIns="0" rIns="0">
            <a:spAutoFit/>
          </a:bodyPr>
          <a:lstStyle/>
          <a:p>
            <a:pPr algn="ctr">
              <a:lnSpc>
                <a:spcPts val="2592"/>
              </a:lnSpc>
            </a:pPr>
            <a:r>
              <a:rPr lang="en-US" sz="2400" b="true">
                <a:solidFill>
                  <a:srgbClr val="001E96"/>
                </a:solidFill>
                <a:latin typeface="Arial Bold"/>
                <a:ea typeface="Arial Bold"/>
                <a:cs typeface="Arial Bold"/>
                <a:sym typeface="Arial Bold"/>
              </a:rPr>
              <a:t>Part B: Segment Summary</a:t>
            </a:r>
          </a:p>
        </p:txBody>
      </p:sp>
      <p:grpSp>
        <p:nvGrpSpPr>
          <p:cNvPr name="Group 14" id="14"/>
          <p:cNvGrpSpPr/>
          <p:nvPr/>
        </p:nvGrpSpPr>
        <p:grpSpPr>
          <a:xfrm rot="0">
            <a:off x="11310938" y="7740625"/>
            <a:ext cx="6625361" cy="2408482"/>
            <a:chOff x="0" y="0"/>
            <a:chExt cx="8833815" cy="3211309"/>
          </a:xfrm>
        </p:grpSpPr>
        <p:sp>
          <p:nvSpPr>
            <p:cNvPr name="Freeform 15" id="15"/>
            <p:cNvSpPr/>
            <p:nvPr/>
          </p:nvSpPr>
          <p:spPr>
            <a:xfrm flipH="false" flipV="false" rot="0">
              <a:off x="0" y="0"/>
              <a:ext cx="8833866" cy="3211322"/>
            </a:xfrm>
            <a:custGeom>
              <a:avLst/>
              <a:gdLst/>
              <a:ahLst/>
              <a:cxnLst/>
              <a:rect r="r" b="b" t="t" l="l"/>
              <a:pathLst>
                <a:path h="3211322" w="8833866">
                  <a:moveTo>
                    <a:pt x="0" y="0"/>
                  </a:moveTo>
                  <a:lnTo>
                    <a:pt x="8833866" y="0"/>
                  </a:lnTo>
                  <a:lnTo>
                    <a:pt x="8833866" y="3211322"/>
                  </a:lnTo>
                  <a:lnTo>
                    <a:pt x="0" y="3211322"/>
                  </a:lnTo>
                  <a:close/>
                </a:path>
              </a:pathLst>
            </a:custGeom>
            <a:solidFill>
              <a:srgbClr val="FFFFFF"/>
            </a:solidFill>
            <a:ln w="9525" cap="sq">
              <a:solidFill>
                <a:srgbClr val="001E96"/>
              </a:solidFill>
              <a:prstDash val="solid"/>
              <a:miter/>
            </a:ln>
          </p:spPr>
        </p:sp>
        <p:sp>
          <p:nvSpPr>
            <p:cNvPr name="TextBox 16" id="16"/>
            <p:cNvSpPr txBox="true"/>
            <p:nvPr/>
          </p:nvSpPr>
          <p:spPr>
            <a:xfrm>
              <a:off x="0" y="38100"/>
              <a:ext cx="8833815" cy="3173209"/>
            </a:xfrm>
            <a:prstGeom prst="rect">
              <a:avLst/>
            </a:prstGeom>
          </p:spPr>
          <p:txBody>
            <a:bodyPr anchor="t" rtlCol="false" tIns="50800" lIns="50800" bIns="50800" rIns="50800"/>
            <a:lstStyle/>
            <a:p>
              <a:pPr algn="ctr">
                <a:lnSpc>
                  <a:spcPts val="2041"/>
                </a:lnSpc>
              </a:pPr>
              <a:r>
                <a:rPr lang="en-US" sz="2100" b="true">
                  <a:solidFill>
                    <a:srgbClr val="000000"/>
                  </a:solidFill>
                  <a:latin typeface="Arial Bold"/>
                  <a:ea typeface="Arial Bold"/>
                  <a:cs typeface="Arial Bold"/>
                  <a:sym typeface="Arial Bold"/>
                </a:rPr>
                <a:t>Formula</a:t>
              </a:r>
            </a:p>
            <a:p>
              <a:pPr algn="ctr">
                <a:lnSpc>
                  <a:spcPts val="2041"/>
                </a:lnSpc>
              </a:pPr>
            </a:p>
            <a:p>
              <a:pPr algn="ctr">
                <a:lnSpc>
                  <a:spcPts val="2041"/>
                </a:lnSpc>
              </a:pPr>
              <a:r>
                <a:rPr lang="en-US" sz="2100" b="true">
                  <a:solidFill>
                    <a:srgbClr val="000000"/>
                  </a:solidFill>
                  <a:latin typeface="Arial Bold"/>
                  <a:ea typeface="Arial Bold"/>
                  <a:cs typeface="Arial Bold"/>
                  <a:sym typeface="Arial Bold"/>
                </a:rPr>
                <a:t>Lift% </a:t>
              </a:r>
              <a:r>
                <a:rPr lang="en-US" sz="2100">
                  <a:solidFill>
                    <a:srgbClr val="000000"/>
                  </a:solidFill>
                  <a:latin typeface="Arial"/>
                  <a:ea typeface="Arial"/>
                  <a:cs typeface="Arial"/>
                  <a:sym typeface="Arial"/>
                </a:rPr>
                <a:t>: (Post Prescription Volume – Pre Prescription Volume) / (Pre Prescription Volume) * 100</a:t>
              </a:r>
            </a:p>
            <a:p>
              <a:pPr algn="ctr">
                <a:lnSpc>
                  <a:spcPts val="2041"/>
                </a:lnSpc>
              </a:pPr>
            </a:p>
            <a:p>
              <a:pPr algn="l" marL="380048" indent="-190024" lvl="1">
                <a:lnSpc>
                  <a:spcPts val="2041"/>
                </a:lnSpc>
                <a:buFont typeface="Arial"/>
                <a:buChar char="•"/>
              </a:pPr>
              <a:r>
                <a:rPr lang="en-US" sz="2100">
                  <a:solidFill>
                    <a:srgbClr val="000000"/>
                  </a:solidFill>
                  <a:latin typeface="Arial"/>
                  <a:ea typeface="Arial"/>
                  <a:cs typeface="Arial"/>
                  <a:sym typeface="Arial"/>
                </a:rPr>
                <a:t>New starters: pre=0, post&gt;0</a:t>
              </a:r>
            </a:p>
            <a:p>
              <a:pPr algn="l" marL="380048" indent="-190024" lvl="1">
                <a:lnSpc>
                  <a:spcPts val="2041"/>
                </a:lnSpc>
                <a:buFont typeface="Arial"/>
                <a:buChar char="•"/>
              </a:pPr>
              <a:r>
                <a:rPr lang="en-US" sz="2100">
                  <a:solidFill>
                    <a:srgbClr val="000000"/>
                  </a:solidFill>
                  <a:latin typeface="Arial"/>
                  <a:ea typeface="Arial"/>
                  <a:cs typeface="Arial"/>
                  <a:sym typeface="Arial"/>
                </a:rPr>
                <a:t>Growers: pre&gt;0 and lift% ≥ +20%</a:t>
              </a:r>
            </a:p>
            <a:p>
              <a:pPr algn="l" marL="380048" indent="-190024" lvl="1">
                <a:lnSpc>
                  <a:spcPts val="2041"/>
                </a:lnSpc>
                <a:buFont typeface="Arial"/>
                <a:buChar char="•"/>
              </a:pPr>
              <a:r>
                <a:rPr lang="en-US" sz="2100">
                  <a:solidFill>
                    <a:srgbClr val="000000"/>
                  </a:solidFill>
                  <a:latin typeface="Arial"/>
                  <a:ea typeface="Arial"/>
                  <a:cs typeface="Arial"/>
                  <a:sym typeface="Arial"/>
                </a:rPr>
                <a:t>Non-responders: Everything else</a:t>
              </a:r>
            </a:p>
            <a:p>
              <a:pPr algn="ctr" marL="380048" indent="-190024" lvl="1">
                <a:lnSpc>
                  <a:spcPts val="2041"/>
                </a:lnSpc>
              </a:pPr>
            </a:p>
          </p:txBody>
        </p:sp>
      </p:grpSp>
      <p:graphicFrame>
        <p:nvGraphicFramePr>
          <p:cNvPr name="Table 17" id="17"/>
          <p:cNvGraphicFramePr>
            <a:graphicFrameLocks noGrp="true"/>
          </p:cNvGraphicFramePr>
          <p:nvPr/>
        </p:nvGraphicFramePr>
        <p:xfrm>
          <a:off x="480060" y="3752524"/>
          <a:ext cx="10306050" cy="7343775"/>
        </p:xfrm>
        <a:graphic>
          <a:graphicData uri="http://schemas.openxmlformats.org/drawingml/2006/table">
            <a:tbl>
              <a:tblPr/>
              <a:tblGrid>
                <a:gridCol w="1923370"/>
                <a:gridCol w="2095670"/>
                <a:gridCol w="2095670"/>
                <a:gridCol w="2095670"/>
                <a:gridCol w="2095670"/>
              </a:tblGrid>
              <a:tr h="1525979">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Rank</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HCP_ID</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Total Prescription Volume Before Alert</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Total Prescription Volume After Alert</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Lift %</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r>
              <a:tr h="581780">
                <a:tc>
                  <a:txBody>
                    <a:bodyPr anchor="t" rtlCol="false"/>
                    <a:lstStyle/>
                    <a:p>
                      <a:pPr algn="ctr">
                        <a:lnSpc>
                          <a:spcPts val="2520"/>
                        </a:lnSpc>
                        <a:defRPr/>
                      </a:pPr>
                      <a:r>
                        <a:rPr lang="en-US" sz="2100">
                          <a:solidFill>
                            <a:srgbClr val="000000"/>
                          </a:solidFill>
                          <a:latin typeface="Arial"/>
                          <a:ea typeface="Arial"/>
                          <a:cs typeface="Arial"/>
                          <a:sym typeface="Arial"/>
                        </a:rPr>
                        <a:t>1</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HCP040</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8</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143</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1687.5%</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1780">
                <a:tc>
                  <a:txBody>
                    <a:bodyPr anchor="t" rtlCol="false"/>
                    <a:lstStyle/>
                    <a:p>
                      <a:pPr algn="ctr">
                        <a:lnSpc>
                          <a:spcPts val="2520"/>
                        </a:lnSpc>
                        <a:defRPr/>
                      </a:pPr>
                      <a:r>
                        <a:rPr lang="en-US" sz="2100">
                          <a:solidFill>
                            <a:srgbClr val="000000"/>
                          </a:solidFill>
                          <a:latin typeface="Arial"/>
                          <a:ea typeface="Arial"/>
                          <a:cs typeface="Arial"/>
                          <a:sym typeface="Arial"/>
                        </a:rPr>
                        <a:t>2</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HCP050</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10</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107</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970.0%</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1780">
                <a:tc>
                  <a:txBody>
                    <a:bodyPr anchor="t" rtlCol="false"/>
                    <a:lstStyle/>
                    <a:p>
                      <a:pPr algn="ctr">
                        <a:lnSpc>
                          <a:spcPts val="2520"/>
                        </a:lnSpc>
                        <a:defRPr/>
                      </a:pPr>
                      <a:r>
                        <a:rPr lang="en-US" sz="2100">
                          <a:solidFill>
                            <a:srgbClr val="000000"/>
                          </a:solidFill>
                          <a:latin typeface="Arial"/>
                          <a:ea typeface="Arial"/>
                          <a:cs typeface="Arial"/>
                          <a:sym typeface="Arial"/>
                        </a:rPr>
                        <a:t>3</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HCP006</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32</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249</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678.1%</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1780">
                <a:tc>
                  <a:txBody>
                    <a:bodyPr anchor="t" rtlCol="false"/>
                    <a:lstStyle/>
                    <a:p>
                      <a:pPr algn="ctr">
                        <a:lnSpc>
                          <a:spcPts val="2520"/>
                        </a:lnSpc>
                        <a:defRPr/>
                      </a:pPr>
                      <a:r>
                        <a:rPr lang="en-US" sz="2100">
                          <a:solidFill>
                            <a:srgbClr val="000000"/>
                          </a:solidFill>
                          <a:latin typeface="Arial"/>
                          <a:ea typeface="Arial"/>
                          <a:cs typeface="Arial"/>
                          <a:sym typeface="Arial"/>
                        </a:rPr>
                        <a:t>4</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HCP108</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31</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238</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667.7%</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1780">
                <a:tc>
                  <a:txBody>
                    <a:bodyPr anchor="t" rtlCol="false"/>
                    <a:lstStyle/>
                    <a:p>
                      <a:pPr algn="ctr">
                        <a:lnSpc>
                          <a:spcPts val="2520"/>
                        </a:lnSpc>
                        <a:defRPr/>
                      </a:pPr>
                      <a:r>
                        <a:rPr lang="en-US" sz="2100">
                          <a:solidFill>
                            <a:srgbClr val="000000"/>
                          </a:solidFill>
                          <a:latin typeface="Arial"/>
                          <a:ea typeface="Arial"/>
                          <a:cs typeface="Arial"/>
                          <a:sym typeface="Arial"/>
                        </a:rPr>
                        <a:t>5</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HCP016</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50</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279</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458.0%</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1780">
                <a:tc>
                  <a:txBody>
                    <a:bodyPr anchor="t" rtlCol="false"/>
                    <a:lstStyle/>
                    <a:p>
                      <a:pPr algn="ctr">
                        <a:lnSpc>
                          <a:spcPts val="2520"/>
                        </a:lnSpc>
                        <a:defRPr/>
                      </a:pPr>
                      <a:r>
                        <a:rPr lang="en-US" sz="2100">
                          <a:solidFill>
                            <a:srgbClr val="000000"/>
                          </a:solidFill>
                          <a:latin typeface="Arial"/>
                          <a:ea typeface="Arial"/>
                          <a:cs typeface="Arial"/>
                          <a:sym typeface="Arial"/>
                        </a:rPr>
                        <a:t>6</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HCP159</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42</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232</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452.4%</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1780">
                <a:tc>
                  <a:txBody>
                    <a:bodyPr anchor="t" rtlCol="false"/>
                    <a:lstStyle/>
                    <a:p>
                      <a:pPr algn="ctr">
                        <a:lnSpc>
                          <a:spcPts val="2520"/>
                        </a:lnSpc>
                        <a:defRPr/>
                      </a:pPr>
                      <a:r>
                        <a:rPr lang="en-US" sz="2100">
                          <a:solidFill>
                            <a:srgbClr val="000000"/>
                          </a:solidFill>
                          <a:latin typeface="Arial"/>
                          <a:ea typeface="Arial"/>
                          <a:cs typeface="Arial"/>
                          <a:sym typeface="Arial"/>
                        </a:rPr>
                        <a:t>7</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HCP157</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72</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387</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437.5%</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1780">
                <a:tc>
                  <a:txBody>
                    <a:bodyPr anchor="t" rtlCol="false"/>
                    <a:lstStyle/>
                    <a:p>
                      <a:pPr algn="ctr">
                        <a:lnSpc>
                          <a:spcPts val="2520"/>
                        </a:lnSpc>
                        <a:defRPr/>
                      </a:pPr>
                      <a:r>
                        <a:rPr lang="en-US" sz="2100">
                          <a:solidFill>
                            <a:srgbClr val="000000"/>
                          </a:solidFill>
                          <a:latin typeface="Arial"/>
                          <a:ea typeface="Arial"/>
                          <a:cs typeface="Arial"/>
                          <a:sym typeface="Arial"/>
                        </a:rPr>
                        <a:t>8</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HCP211</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42</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223</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431.0%</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1780">
                <a:tc>
                  <a:txBody>
                    <a:bodyPr anchor="t" rtlCol="false"/>
                    <a:lstStyle/>
                    <a:p>
                      <a:pPr algn="ctr">
                        <a:lnSpc>
                          <a:spcPts val="2520"/>
                        </a:lnSpc>
                        <a:defRPr/>
                      </a:pPr>
                      <a:r>
                        <a:rPr lang="en-US" sz="2100">
                          <a:solidFill>
                            <a:srgbClr val="000000"/>
                          </a:solidFill>
                          <a:latin typeface="Arial"/>
                          <a:ea typeface="Arial"/>
                          <a:cs typeface="Arial"/>
                          <a:sym typeface="Arial"/>
                        </a:rPr>
                        <a:t>9</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HCP209</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64</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335</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423.4%</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1780">
                <a:tc>
                  <a:txBody>
                    <a:bodyPr anchor="t" rtlCol="false"/>
                    <a:lstStyle/>
                    <a:p>
                      <a:pPr algn="ctr">
                        <a:lnSpc>
                          <a:spcPts val="2520"/>
                        </a:lnSpc>
                        <a:defRPr/>
                      </a:pPr>
                      <a:r>
                        <a:rPr lang="en-US" sz="2100">
                          <a:solidFill>
                            <a:srgbClr val="000000"/>
                          </a:solidFill>
                          <a:latin typeface="Arial"/>
                          <a:ea typeface="Arial"/>
                          <a:cs typeface="Arial"/>
                          <a:sym typeface="Arial"/>
                        </a:rPr>
                        <a:t>10</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HCP125</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49</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214</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336.7%</a:t>
                      </a:r>
                      <a:endParaRPr lang="en-US" sz="1100"/>
                    </a:p>
                  </a:txBody>
                  <a:tcPr marL="66502" marR="66502" marT="66502" marB="66502"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bl>
          </a:graphicData>
        </a:graphic>
      </p:graphicFrame>
      <p:graphicFrame>
        <p:nvGraphicFramePr>
          <p:cNvPr name="Table 18" id="18"/>
          <p:cNvGraphicFramePr>
            <a:graphicFrameLocks noGrp="true"/>
          </p:cNvGraphicFramePr>
          <p:nvPr/>
        </p:nvGraphicFramePr>
        <p:xfrm>
          <a:off x="11315700" y="3752523"/>
          <a:ext cx="6610350" cy="2876550"/>
        </p:xfrm>
        <a:graphic>
          <a:graphicData uri="http://schemas.openxmlformats.org/drawingml/2006/table">
            <a:tbl>
              <a:tblPr/>
              <a:tblGrid>
                <a:gridCol w="2997217"/>
                <a:gridCol w="1927436"/>
                <a:gridCol w="1685697"/>
              </a:tblGrid>
              <a:tr h="535179">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 Segment</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HCPs</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Avg Lift</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r>
              <a:tr h="575908">
                <a:tc>
                  <a:txBody>
                    <a:bodyPr anchor="t" rtlCol="false"/>
                    <a:lstStyle/>
                    <a:p>
                      <a:pPr algn="ctr">
                        <a:lnSpc>
                          <a:spcPts val="2520"/>
                        </a:lnSpc>
                        <a:defRPr/>
                      </a:pPr>
                      <a:r>
                        <a:rPr lang="en-US" sz="2100">
                          <a:solidFill>
                            <a:srgbClr val="000000"/>
                          </a:solidFill>
                          <a:latin typeface="Arial"/>
                          <a:ea typeface="Arial"/>
                          <a:cs typeface="Arial"/>
                          <a:sym typeface="Arial"/>
                        </a:rPr>
                        <a:t>New starters</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D9E8FF"/>
                    </a:solidFill>
                  </a:tcPr>
                </a:tc>
                <a:tc>
                  <a:txBody>
                    <a:bodyPr anchor="t" rtlCol="false"/>
                    <a:lstStyle/>
                    <a:p>
                      <a:pPr algn="ctr">
                        <a:lnSpc>
                          <a:spcPts val="1620"/>
                        </a:lnSpc>
                        <a:defRPr/>
                      </a:pPr>
                      <a:r>
                        <a:rPr lang="en-US" sz="1350">
                          <a:solidFill>
                            <a:srgbClr val="000000"/>
                          </a:solidFill>
                          <a:latin typeface="Arial"/>
                          <a:ea typeface="Arial"/>
                          <a:cs typeface="Arial"/>
                          <a:sym typeface="Arial"/>
                        </a:rPr>
                        <a:t>64</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N/A (pre=0)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8488">
                <a:tc>
                  <a:txBody>
                    <a:bodyPr anchor="t" rtlCol="false"/>
                    <a:lstStyle/>
                    <a:p>
                      <a:pPr algn="ctr">
                        <a:lnSpc>
                          <a:spcPts val="2520"/>
                        </a:lnSpc>
                        <a:defRPr/>
                      </a:pPr>
                      <a:r>
                        <a:rPr lang="en-US" sz="2100">
                          <a:solidFill>
                            <a:srgbClr val="000000"/>
                          </a:solidFill>
                          <a:latin typeface="Arial"/>
                          <a:ea typeface="Arial"/>
                          <a:cs typeface="Arial"/>
                          <a:sym typeface="Arial"/>
                        </a:rPr>
                        <a:t>Growers</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D9E8FF"/>
                    </a:solidFill>
                  </a:tcPr>
                </a:tc>
                <a:tc>
                  <a:txBody>
                    <a:bodyPr anchor="t" rtlCol="false"/>
                    <a:lstStyle/>
                    <a:p>
                      <a:pPr algn="ctr">
                        <a:lnSpc>
                          <a:spcPts val="1620"/>
                        </a:lnSpc>
                        <a:defRPr/>
                      </a:pPr>
                      <a:r>
                        <a:rPr lang="en-US" sz="1350">
                          <a:solidFill>
                            <a:srgbClr val="000000"/>
                          </a:solidFill>
                          <a:latin typeface="Arial"/>
                          <a:ea typeface="Arial"/>
                          <a:cs typeface="Arial"/>
                          <a:sym typeface="Arial"/>
                        </a:rPr>
                        <a:t>25</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+322.8%</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8488">
                <a:tc>
                  <a:txBody>
                    <a:bodyPr anchor="t" rtlCol="false"/>
                    <a:lstStyle/>
                    <a:p>
                      <a:pPr algn="ctr">
                        <a:lnSpc>
                          <a:spcPts val="2520"/>
                        </a:lnSpc>
                        <a:defRPr/>
                      </a:pPr>
                      <a:r>
                        <a:rPr lang="en-US" sz="2100">
                          <a:solidFill>
                            <a:srgbClr val="000000"/>
                          </a:solidFill>
                          <a:latin typeface="Arial"/>
                          <a:ea typeface="Arial"/>
                          <a:cs typeface="Arial"/>
                          <a:sym typeface="Arial"/>
                        </a:rPr>
                        <a:t>Non-responders</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D9E8FF"/>
                    </a:solidFill>
                  </a:tcPr>
                </a:tc>
                <a:tc>
                  <a:txBody>
                    <a:bodyPr anchor="t" rtlCol="false"/>
                    <a:lstStyle/>
                    <a:p>
                      <a:pPr algn="ctr">
                        <a:lnSpc>
                          <a:spcPts val="1620"/>
                        </a:lnSpc>
                        <a:defRPr/>
                      </a:pPr>
                      <a:r>
                        <a:rPr lang="en-US" sz="1350">
                          <a:solidFill>
                            <a:srgbClr val="000000"/>
                          </a:solidFill>
                          <a:latin typeface="Arial"/>
                          <a:ea typeface="Arial"/>
                          <a:cs typeface="Arial"/>
                          <a:sym typeface="Arial"/>
                        </a:rPr>
                        <a:t>125</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-25.1%</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8488">
                <a:tc>
                  <a:txBody>
                    <a:bodyPr anchor="t" rtlCol="false"/>
                    <a:lstStyle/>
                    <a:p>
                      <a:pPr algn="ctr">
                        <a:lnSpc>
                          <a:spcPts val="2520"/>
                        </a:lnSpc>
                        <a:defRPr/>
                      </a:pPr>
                      <a:r>
                        <a:rPr lang="en-US" sz="2100">
                          <a:solidFill>
                            <a:srgbClr val="000000"/>
                          </a:solidFill>
                          <a:latin typeface="Arial"/>
                          <a:ea typeface="Arial"/>
                          <a:cs typeface="Arial"/>
                          <a:sym typeface="Arial"/>
                        </a:rPr>
                        <a:t>Total</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D9E8FF"/>
                    </a:solidFill>
                  </a:tcPr>
                </a:tc>
                <a:tc>
                  <a:txBody>
                    <a:bodyPr anchor="t" rtlCol="false"/>
                    <a:lstStyle/>
                    <a:p>
                      <a:pPr algn="ctr">
                        <a:lnSpc>
                          <a:spcPts val="1620"/>
                        </a:lnSpc>
                        <a:defRPr/>
                      </a:pPr>
                      <a:r>
                        <a:rPr lang="en-US" sz="1350" b="true">
                          <a:solidFill>
                            <a:srgbClr val="000000"/>
                          </a:solidFill>
                          <a:latin typeface="Arial Bold"/>
                          <a:ea typeface="Arial Bold"/>
                          <a:cs typeface="Arial Bold"/>
                          <a:sym typeface="Arial Bold"/>
                        </a:rPr>
                        <a:t>214</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l">
                        <a:lnSpc>
                          <a:spcPts val="1679"/>
                        </a:lnSpc>
                        <a:defRPr/>
                      </a:pP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bl>
          </a:graphicData>
        </a:graphic>
      </p:graphicFrame>
      <p:grpSp>
        <p:nvGrpSpPr>
          <p:cNvPr name="Group 19" id="19"/>
          <p:cNvGrpSpPr/>
          <p:nvPr/>
        </p:nvGrpSpPr>
        <p:grpSpPr>
          <a:xfrm rot="0">
            <a:off x="502444" y="9874129"/>
            <a:ext cx="1620002" cy="269996"/>
            <a:chOff x="0" y="0"/>
            <a:chExt cx="2160003" cy="359994"/>
          </a:xfrm>
        </p:grpSpPr>
        <p:sp>
          <p:nvSpPr>
            <p:cNvPr name="Freeform 20" id="20"/>
            <p:cNvSpPr/>
            <p:nvPr/>
          </p:nvSpPr>
          <p:spPr>
            <a:xfrm flipH="false" flipV="false" rot="0">
              <a:off x="0" y="0"/>
              <a:ext cx="2160000" cy="360000"/>
            </a:xfrm>
            <a:custGeom>
              <a:avLst/>
              <a:gdLst/>
              <a:ahLst/>
              <a:cxnLst/>
              <a:rect r="r" b="b" t="t" l="l"/>
              <a:pathLst>
                <a:path h="360000" w="2160000">
                  <a:moveTo>
                    <a:pt x="0" y="0"/>
                  </a:moveTo>
                  <a:lnTo>
                    <a:pt x="2160000" y="0"/>
                  </a:lnTo>
                  <a:lnTo>
                    <a:pt x="2160000" y="360000"/>
                  </a:lnTo>
                  <a:lnTo>
                    <a:pt x="0" y="360000"/>
                  </a:lnTo>
                  <a:close/>
                </a:path>
              </a:pathLst>
            </a:custGeom>
            <a:blipFill>
              <a:blip r:embed="rId3">
                <a:alphaModFix amt="0"/>
              </a:blip>
              <a:stretch>
                <a:fillRect l="0" t="-66911" r="0" b="-66909"/>
              </a:stretch>
            </a:blipFill>
          </p:spPr>
        </p:sp>
        <p:sp>
          <p:nvSpPr>
            <p:cNvPr name="TextBox 21" id="21"/>
            <p:cNvSpPr txBox="true"/>
            <p:nvPr/>
          </p:nvSpPr>
          <p:spPr>
            <a:xfrm>
              <a:off x="0" y="-19050"/>
              <a:ext cx="2160003" cy="379044"/>
            </a:xfrm>
            <a:prstGeom prst="rect">
              <a:avLst/>
            </a:prstGeom>
          </p:spPr>
          <p:txBody>
            <a:bodyPr anchor="b" rtlCol="false" tIns="0" lIns="0" bIns="0" rIns="0"/>
            <a:lstStyle/>
            <a:p>
              <a:pPr algn="l">
                <a:lnSpc>
                  <a:spcPts val="1439"/>
                </a:lnSpc>
              </a:pPr>
              <a:r>
                <a:rPr lang="en-US" sz="1200">
                  <a:solidFill>
                    <a:srgbClr val="808080"/>
                  </a:solidFill>
                  <a:latin typeface="Arial"/>
                  <a:ea typeface="Arial"/>
                  <a:cs typeface="Arial"/>
                  <a:sym typeface="Arial"/>
                </a:rPr>
                <a:t>© 2026 ProcDNA</a:t>
              </a:r>
            </a:p>
          </p:txBody>
        </p:sp>
      </p:grpSp>
      <p:graphicFrame>
        <p:nvGraphicFramePr>
          <p:cNvPr name="Table 22" id="22"/>
          <p:cNvGraphicFramePr>
            <a:graphicFrameLocks noGrp="true"/>
          </p:cNvGraphicFramePr>
          <p:nvPr/>
        </p:nvGraphicFramePr>
        <p:xfrm>
          <a:off x="11315700" y="6876451"/>
          <a:ext cx="6591300" cy="771525"/>
        </p:xfrm>
        <a:graphic>
          <a:graphicData uri="http://schemas.openxmlformats.org/drawingml/2006/table">
            <a:tbl>
              <a:tblPr/>
              <a:tblGrid>
                <a:gridCol w="4824249"/>
                <a:gridCol w="1767051"/>
              </a:tblGrid>
              <a:tr h="771525">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Segment showing Strongest Commercial Impact</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1439"/>
                        </a:lnSpc>
                        <a:defRPr/>
                      </a:pPr>
                      <a:r>
                        <a:rPr lang="en-US" sz="1200" b="true">
                          <a:solidFill>
                            <a:srgbClr val="000000"/>
                          </a:solidFill>
                          <a:latin typeface="Arial Bold"/>
                          <a:ea typeface="Arial Bold"/>
                          <a:cs typeface="Arial Bold"/>
                          <a:sym typeface="Arial Bold"/>
                        </a:rPr>
                        <a:t>New Starters (64 HCPs: 0 to 9,417 total Rx units)</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4998"/>
            <a:chOff x="0" y="0"/>
            <a:chExt cx="24384000" cy="179997"/>
          </a:xfrm>
        </p:grpSpPr>
        <p:sp>
          <p:nvSpPr>
            <p:cNvPr name="Freeform 3" id="3"/>
            <p:cNvSpPr/>
            <p:nvPr/>
          </p:nvSpPr>
          <p:spPr>
            <a:xfrm flipH="false" flipV="false" rot="0">
              <a:off x="0" y="0"/>
              <a:ext cx="24384000" cy="179959"/>
            </a:xfrm>
            <a:custGeom>
              <a:avLst/>
              <a:gdLst/>
              <a:ahLst/>
              <a:cxnLst/>
              <a:rect r="r" b="b" t="t" l="l"/>
              <a:pathLst>
                <a:path h="179959" w="24384000">
                  <a:moveTo>
                    <a:pt x="0" y="0"/>
                  </a:moveTo>
                  <a:lnTo>
                    <a:pt x="24384000" y="0"/>
                  </a:lnTo>
                  <a:lnTo>
                    <a:pt x="24384000" y="179959"/>
                  </a:lnTo>
                  <a:lnTo>
                    <a:pt x="0" y="179959"/>
                  </a:lnTo>
                  <a:close/>
                </a:path>
              </a:pathLst>
            </a:custGeom>
            <a:gradFill rotWithShape="true">
              <a:gsLst>
                <a:gs pos="0">
                  <a:srgbClr val="005CD9">
                    <a:alpha val="100000"/>
                  </a:srgbClr>
                </a:gs>
                <a:gs pos="50000">
                  <a:srgbClr val="007ECC">
                    <a:alpha val="100000"/>
                  </a:srgbClr>
                </a:gs>
                <a:gs pos="100000">
                  <a:srgbClr val="001E96">
                    <a:alpha val="100000"/>
                  </a:srgbClr>
                </a:gs>
              </a:gsLst>
              <a:lin ang="0"/>
            </a:gradFill>
          </p:spPr>
        </p:sp>
      </p:grpSp>
      <p:sp>
        <p:nvSpPr>
          <p:cNvPr name="AutoShape 4" id="4"/>
          <p:cNvSpPr/>
          <p:nvPr/>
        </p:nvSpPr>
        <p:spPr>
          <a:xfrm rot="3780">
            <a:off x="492919" y="1755696"/>
            <a:ext cx="17299057" cy="0"/>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502444" y="9874129"/>
            <a:ext cx="1620002" cy="269996"/>
            <a:chOff x="0" y="0"/>
            <a:chExt cx="2160003" cy="359994"/>
          </a:xfrm>
        </p:grpSpPr>
        <p:sp>
          <p:nvSpPr>
            <p:cNvPr name="Freeform 6" id="6"/>
            <p:cNvSpPr/>
            <p:nvPr/>
          </p:nvSpPr>
          <p:spPr>
            <a:xfrm flipH="false" flipV="false" rot="0">
              <a:off x="0" y="0"/>
              <a:ext cx="2160000" cy="360000"/>
            </a:xfrm>
            <a:custGeom>
              <a:avLst/>
              <a:gdLst/>
              <a:ahLst/>
              <a:cxnLst/>
              <a:rect r="r" b="b" t="t" l="l"/>
              <a:pathLst>
                <a:path h="360000" w="2160000">
                  <a:moveTo>
                    <a:pt x="0" y="0"/>
                  </a:moveTo>
                  <a:lnTo>
                    <a:pt x="2160000" y="0"/>
                  </a:lnTo>
                  <a:lnTo>
                    <a:pt x="2160000" y="360000"/>
                  </a:lnTo>
                  <a:lnTo>
                    <a:pt x="0" y="360000"/>
                  </a:lnTo>
                  <a:close/>
                </a:path>
              </a:pathLst>
            </a:custGeom>
            <a:blipFill>
              <a:blip r:embed="rId3">
                <a:alphaModFix amt="0"/>
              </a:blip>
              <a:stretch>
                <a:fillRect l="0" t="-66911" r="0" b="-66909"/>
              </a:stretch>
            </a:blipFill>
          </p:spPr>
        </p:sp>
        <p:sp>
          <p:nvSpPr>
            <p:cNvPr name="TextBox 7" id="7"/>
            <p:cNvSpPr txBox="true"/>
            <p:nvPr/>
          </p:nvSpPr>
          <p:spPr>
            <a:xfrm>
              <a:off x="0" y="-19050"/>
              <a:ext cx="2160003" cy="379044"/>
            </a:xfrm>
            <a:prstGeom prst="rect">
              <a:avLst/>
            </a:prstGeom>
          </p:spPr>
          <p:txBody>
            <a:bodyPr anchor="b" rtlCol="false" tIns="0" lIns="0" bIns="0" rIns="0"/>
            <a:lstStyle/>
            <a:p>
              <a:pPr algn="l">
                <a:lnSpc>
                  <a:spcPts val="1439"/>
                </a:lnSpc>
              </a:pPr>
              <a:r>
                <a:rPr lang="en-US" sz="1200">
                  <a:solidFill>
                    <a:srgbClr val="808080"/>
                  </a:solidFill>
                  <a:latin typeface="Arial"/>
                  <a:ea typeface="Arial"/>
                  <a:cs typeface="Arial"/>
                  <a:sym typeface="Arial"/>
                </a:rPr>
                <a:t>© 2026 ProcDNA</a:t>
              </a:r>
            </a:p>
          </p:txBody>
        </p:sp>
      </p:grpSp>
      <p:grpSp>
        <p:nvGrpSpPr>
          <p:cNvPr name="Group 8" id="8"/>
          <p:cNvGrpSpPr/>
          <p:nvPr/>
        </p:nvGrpSpPr>
        <p:grpSpPr>
          <a:xfrm rot="0">
            <a:off x="17245555" y="9874129"/>
            <a:ext cx="540001" cy="269996"/>
            <a:chOff x="0" y="0"/>
            <a:chExt cx="720001" cy="359994"/>
          </a:xfrm>
        </p:grpSpPr>
        <p:sp>
          <p:nvSpPr>
            <p:cNvPr name="Freeform 9" id="9"/>
            <p:cNvSpPr/>
            <p:nvPr/>
          </p:nvSpPr>
          <p:spPr>
            <a:xfrm flipH="false" flipV="false" rot="0">
              <a:off x="0" y="0"/>
              <a:ext cx="720000" cy="360000"/>
            </a:xfrm>
            <a:custGeom>
              <a:avLst/>
              <a:gdLst/>
              <a:ahLst/>
              <a:cxnLst/>
              <a:rect r="r" b="b" t="t" l="l"/>
              <a:pathLst>
                <a:path h="360000" w="720000">
                  <a:moveTo>
                    <a:pt x="0" y="0"/>
                  </a:moveTo>
                  <a:lnTo>
                    <a:pt x="720000" y="0"/>
                  </a:lnTo>
                  <a:lnTo>
                    <a:pt x="720000" y="360000"/>
                  </a:lnTo>
                  <a:lnTo>
                    <a:pt x="0" y="360000"/>
                  </a:lnTo>
                  <a:close/>
                </a:path>
              </a:pathLst>
            </a:custGeom>
            <a:blipFill>
              <a:blip r:embed="rId3">
                <a:alphaModFix amt="0"/>
              </a:blip>
              <a:stretch>
                <a:fillRect l="-14150" t="0" r="-14150" b="1"/>
              </a:stretch>
            </a:blipFill>
          </p:spPr>
        </p:sp>
        <p:sp>
          <p:nvSpPr>
            <p:cNvPr name="TextBox 10" id="10"/>
            <p:cNvSpPr txBox="true"/>
            <p:nvPr/>
          </p:nvSpPr>
          <p:spPr>
            <a:xfrm>
              <a:off x="0" y="-19050"/>
              <a:ext cx="720001" cy="379044"/>
            </a:xfrm>
            <a:prstGeom prst="rect">
              <a:avLst/>
            </a:prstGeom>
          </p:spPr>
          <p:txBody>
            <a:bodyPr anchor="b" rtlCol="false" tIns="0" lIns="0" bIns="0" rIns="0"/>
            <a:lstStyle/>
            <a:p>
              <a:pPr algn="r">
                <a:lnSpc>
                  <a:spcPts val="1439"/>
                </a:lnSpc>
              </a:pPr>
              <a:r>
                <a:rPr lang="en-US" sz="1200">
                  <a:solidFill>
                    <a:srgbClr val="808080"/>
                  </a:solidFill>
                  <a:latin typeface="Arial"/>
                  <a:ea typeface="Arial"/>
                  <a:cs typeface="Arial"/>
                  <a:sym typeface="Arial"/>
                </a:rPr>
                <a:t>11</a:t>
              </a:r>
            </a:p>
          </p:txBody>
        </p:sp>
      </p:grpSp>
      <p:sp>
        <p:nvSpPr>
          <p:cNvPr name="TextBox 11" id="11"/>
          <p:cNvSpPr txBox="true"/>
          <p:nvPr/>
        </p:nvSpPr>
        <p:spPr>
          <a:xfrm rot="0">
            <a:off x="544068" y="1894751"/>
            <a:ext cx="17222724" cy="5612473"/>
          </a:xfrm>
          <a:prstGeom prst="rect">
            <a:avLst/>
          </a:prstGeom>
        </p:spPr>
        <p:txBody>
          <a:bodyPr anchor="t" rtlCol="false" tIns="0" lIns="0" bIns="0" rIns="0">
            <a:spAutoFit/>
          </a:bodyPr>
          <a:lstStyle/>
          <a:p>
            <a:pPr algn="l">
              <a:lnSpc>
                <a:spcPts val="2520"/>
              </a:lnSpc>
            </a:pPr>
            <a:r>
              <a:rPr lang="en-US" sz="2100">
                <a:solidFill>
                  <a:srgbClr val="000000"/>
                </a:solidFill>
                <a:latin typeface="Arial"/>
                <a:ea typeface="Arial"/>
                <a:cs typeface="Arial"/>
                <a:sym typeface="Arial"/>
              </a:rPr>
              <a:t>A pharma company assign sales representatives to promote the drug to HCP. Your company’s commercial team is planning the </a:t>
            </a:r>
            <a:r>
              <a:rPr lang="en-US" sz="2100" b="true">
                <a:solidFill>
                  <a:srgbClr val="000000"/>
                </a:solidFill>
                <a:latin typeface="Arial Bold"/>
                <a:ea typeface="Arial Bold"/>
                <a:cs typeface="Arial Bold"/>
                <a:sym typeface="Arial Bold"/>
              </a:rPr>
              <a:t>next quarter’s</a:t>
            </a:r>
            <a:r>
              <a:rPr lang="en-US" sz="2100">
                <a:solidFill>
                  <a:srgbClr val="000000"/>
                </a:solidFill>
                <a:latin typeface="Arial"/>
                <a:ea typeface="Arial"/>
                <a:cs typeface="Arial"/>
                <a:sym typeface="Arial"/>
              </a:rPr>
              <a:t> outreach strategy for </a:t>
            </a:r>
            <a:r>
              <a:rPr lang="en-US" sz="2100" b="true">
                <a:solidFill>
                  <a:srgbClr val="000000"/>
                </a:solidFill>
                <a:latin typeface="Arial Bold"/>
                <a:ea typeface="Arial Bold"/>
                <a:cs typeface="Arial Bold"/>
                <a:sym typeface="Arial Bold"/>
              </a:rPr>
              <a:t>DRG001. </a:t>
            </a:r>
            <a:r>
              <a:rPr lang="en-US" sz="2100">
                <a:solidFill>
                  <a:srgbClr val="000000"/>
                </a:solidFill>
                <a:latin typeface="Arial"/>
                <a:ea typeface="Arial"/>
                <a:cs typeface="Arial"/>
                <a:sym typeface="Arial"/>
              </a:rPr>
              <a:t>Following are the field force assumptions:</a:t>
            </a:r>
          </a:p>
          <a:p>
            <a:pPr algn="l" marL="1065848" indent="-355282" lvl="2">
              <a:lnSpc>
                <a:spcPts val="2520"/>
              </a:lnSpc>
              <a:buFont typeface="Arial"/>
              <a:buChar char="⚬"/>
            </a:pPr>
            <a:r>
              <a:rPr lang="en-US" sz="2100">
                <a:solidFill>
                  <a:srgbClr val="000000"/>
                </a:solidFill>
                <a:latin typeface="Arial"/>
                <a:ea typeface="Arial"/>
                <a:cs typeface="Arial"/>
                <a:sym typeface="Arial"/>
              </a:rPr>
              <a:t>Each sales rep can complete </a:t>
            </a:r>
            <a:r>
              <a:rPr lang="en-US" b="true" sz="2100">
                <a:solidFill>
                  <a:srgbClr val="000000"/>
                </a:solidFill>
                <a:latin typeface="Arial Bold"/>
                <a:ea typeface="Arial Bold"/>
                <a:cs typeface="Arial Bold"/>
                <a:sym typeface="Arial Bold"/>
              </a:rPr>
              <a:t>~8 effective HCP calls per day</a:t>
            </a:r>
          </a:p>
          <a:p>
            <a:pPr algn="l" marL="1065848" indent="-355282" lvl="2">
              <a:lnSpc>
                <a:spcPts val="2520"/>
              </a:lnSpc>
              <a:buFont typeface="Arial"/>
              <a:buChar char="⚬"/>
            </a:pPr>
            <a:r>
              <a:rPr lang="en-US" sz="2100">
                <a:solidFill>
                  <a:srgbClr val="000000"/>
                </a:solidFill>
                <a:latin typeface="Arial"/>
                <a:ea typeface="Arial"/>
                <a:cs typeface="Arial"/>
                <a:sym typeface="Arial"/>
              </a:rPr>
              <a:t>Each rep works </a:t>
            </a:r>
            <a:r>
              <a:rPr lang="en-US" b="true" sz="2100">
                <a:solidFill>
                  <a:srgbClr val="000000"/>
                </a:solidFill>
                <a:latin typeface="Arial Bold"/>
                <a:ea typeface="Arial Bold"/>
                <a:cs typeface="Arial Bold"/>
                <a:sym typeface="Arial Bold"/>
              </a:rPr>
              <a:t>~20 field days per month</a:t>
            </a:r>
          </a:p>
          <a:p>
            <a:pPr algn="l" marL="1065848" indent="-355282" lvl="2">
              <a:lnSpc>
                <a:spcPts val="2520"/>
              </a:lnSpc>
              <a:buFont typeface="Arial"/>
              <a:buChar char="⚬"/>
            </a:pPr>
            <a:r>
              <a:rPr lang="en-US" sz="2100">
                <a:solidFill>
                  <a:srgbClr val="000000"/>
                </a:solidFill>
                <a:latin typeface="Arial"/>
                <a:ea typeface="Arial"/>
                <a:cs typeface="Arial"/>
                <a:sym typeface="Arial"/>
              </a:rPr>
              <a:t>The organization has </a:t>
            </a:r>
            <a:r>
              <a:rPr lang="en-US" b="true" sz="2100">
                <a:solidFill>
                  <a:srgbClr val="000000"/>
                </a:solidFill>
                <a:latin typeface="Arial Bold"/>
                <a:ea typeface="Arial Bold"/>
                <a:cs typeface="Arial Bold"/>
                <a:sym typeface="Arial Bold"/>
              </a:rPr>
              <a:t>40 sales reps nationally</a:t>
            </a:r>
          </a:p>
          <a:p>
            <a:pPr algn="l" marL="1065848" indent="-355282" lvl="2">
              <a:lnSpc>
                <a:spcPts val="2520"/>
              </a:lnSpc>
            </a:pPr>
            <a:r>
              <a:rPr lang="en-US" sz="2100">
                <a:solidFill>
                  <a:srgbClr val="000000"/>
                </a:solidFill>
                <a:latin typeface="Arial"/>
                <a:ea typeface="Arial"/>
                <a:cs typeface="Arial"/>
                <a:sym typeface="Arial"/>
              </a:rPr>
              <a:t>Leadership wants to use this limited </a:t>
            </a:r>
            <a:r>
              <a:rPr lang="en-US" b="true" sz="2100">
                <a:solidFill>
                  <a:srgbClr val="000000"/>
                </a:solidFill>
                <a:latin typeface="Arial Bold"/>
                <a:ea typeface="Arial Bold"/>
                <a:cs typeface="Arial Bold"/>
                <a:sym typeface="Arial Bold"/>
              </a:rPr>
              <a:t>field force capacity</a:t>
            </a:r>
            <a:r>
              <a:rPr lang="en-US" sz="2100">
                <a:solidFill>
                  <a:srgbClr val="000000"/>
                </a:solidFill>
                <a:latin typeface="Arial"/>
                <a:ea typeface="Arial"/>
                <a:cs typeface="Arial"/>
                <a:sym typeface="Arial"/>
              </a:rPr>
              <a:t> efficiently by prioritizing the </a:t>
            </a:r>
            <a:r>
              <a:rPr lang="en-US" b="true" sz="2100">
                <a:solidFill>
                  <a:srgbClr val="000000"/>
                </a:solidFill>
                <a:latin typeface="Arial Bold"/>
                <a:ea typeface="Arial Bold"/>
                <a:cs typeface="Arial Bold"/>
                <a:sym typeface="Arial Bold"/>
              </a:rPr>
              <a:t>HCP segments </a:t>
            </a:r>
            <a:r>
              <a:rPr lang="en-US" sz="2100">
                <a:solidFill>
                  <a:srgbClr val="000000"/>
                </a:solidFill>
                <a:latin typeface="Arial"/>
                <a:ea typeface="Arial"/>
                <a:cs typeface="Arial"/>
                <a:sym typeface="Arial"/>
              </a:rPr>
              <a:t>identified in </a:t>
            </a:r>
            <a:r>
              <a:rPr lang="en-US" b="true" sz="2100">
                <a:solidFill>
                  <a:srgbClr val="000000"/>
                </a:solidFill>
                <a:latin typeface="Arial Bold"/>
                <a:ea typeface="Arial Bold"/>
                <a:cs typeface="Arial Bold"/>
                <a:sym typeface="Arial Bold"/>
              </a:rPr>
              <a:t>Question 6 </a:t>
            </a:r>
            <a:r>
              <a:rPr lang="en-US" sz="2100">
                <a:solidFill>
                  <a:srgbClr val="000000"/>
                </a:solidFill>
                <a:latin typeface="Arial"/>
                <a:ea typeface="Arial"/>
                <a:cs typeface="Arial"/>
                <a:sym typeface="Arial"/>
              </a:rPr>
              <a:t>(New Starters, Growers, and Non-Responders).</a:t>
            </a:r>
          </a:p>
          <a:p>
            <a:pPr algn="l" marL="1065848" indent="-355282" lvl="2">
              <a:lnSpc>
                <a:spcPts val="2520"/>
              </a:lnSpc>
            </a:pPr>
            <a:r>
              <a:rPr lang="en-US" sz="2100">
                <a:solidFill>
                  <a:srgbClr val="000000"/>
                </a:solidFill>
                <a:latin typeface="Arial"/>
                <a:ea typeface="Arial"/>
                <a:cs typeface="Arial"/>
                <a:sym typeface="Arial"/>
              </a:rPr>
              <a:t>Using the segment-level insights from Question 6, recommend how the company should allocate total rep call capacity across these segments.</a:t>
            </a:r>
          </a:p>
          <a:p>
            <a:pPr algn="l" marL="1065848" indent="-355282" lvl="2">
              <a:lnSpc>
                <a:spcPts val="2520"/>
              </a:lnSpc>
            </a:pPr>
            <a:r>
              <a:rPr lang="en-US" sz="2100">
                <a:solidFill>
                  <a:srgbClr val="000000"/>
                </a:solidFill>
                <a:latin typeface="Arial"/>
                <a:ea typeface="Arial"/>
                <a:cs typeface="Arial"/>
                <a:sym typeface="Arial"/>
              </a:rPr>
              <a:t>In your response:</a:t>
            </a:r>
          </a:p>
          <a:p>
            <a:pPr algn="l" marL="1065848" indent="-355282" lvl="2">
              <a:lnSpc>
                <a:spcPts val="2520"/>
              </a:lnSpc>
              <a:buFont typeface="Arial"/>
              <a:buChar char="⚬"/>
            </a:pPr>
            <a:r>
              <a:rPr lang="en-US" sz="2100">
                <a:solidFill>
                  <a:srgbClr val="000000"/>
                </a:solidFill>
                <a:latin typeface="Arial"/>
                <a:ea typeface="Arial"/>
                <a:cs typeface="Arial"/>
                <a:sym typeface="Arial"/>
              </a:rPr>
              <a:t>Estimate how much </a:t>
            </a:r>
            <a:r>
              <a:rPr lang="en-US" b="true" sz="2100">
                <a:solidFill>
                  <a:srgbClr val="000000"/>
                </a:solidFill>
                <a:latin typeface="Arial Bold"/>
                <a:ea typeface="Arial Bold"/>
                <a:cs typeface="Arial Bold"/>
                <a:sym typeface="Arial Bold"/>
              </a:rPr>
              <a:t>outreach focus</a:t>
            </a:r>
            <a:r>
              <a:rPr lang="en-US" sz="2100">
                <a:solidFill>
                  <a:srgbClr val="000000"/>
                </a:solidFill>
                <a:latin typeface="Arial"/>
                <a:ea typeface="Arial"/>
                <a:cs typeface="Arial"/>
                <a:sym typeface="Arial"/>
              </a:rPr>
              <a:t> each segment should receive</a:t>
            </a:r>
          </a:p>
          <a:p>
            <a:pPr algn="l" marL="1065848" indent="-355282" lvl="2">
              <a:lnSpc>
                <a:spcPts val="2520"/>
              </a:lnSpc>
              <a:buFont typeface="Arial"/>
              <a:buChar char="⚬"/>
            </a:pPr>
            <a:r>
              <a:rPr lang="en-US" sz="2100">
                <a:solidFill>
                  <a:srgbClr val="000000"/>
                </a:solidFill>
                <a:latin typeface="Arial"/>
                <a:ea typeface="Arial"/>
                <a:cs typeface="Arial"/>
                <a:sym typeface="Arial"/>
              </a:rPr>
              <a:t>Explain the reasoning behind your </a:t>
            </a:r>
            <a:r>
              <a:rPr lang="en-US" b="true" sz="2100">
                <a:solidFill>
                  <a:srgbClr val="000000"/>
                </a:solidFill>
                <a:latin typeface="Arial Bold"/>
                <a:ea typeface="Arial Bold"/>
                <a:cs typeface="Arial Bold"/>
                <a:sym typeface="Arial Bold"/>
              </a:rPr>
              <a:t>allocation approach</a:t>
            </a:r>
          </a:p>
          <a:p>
            <a:pPr algn="l" marL="1065848" indent="-355282" lvl="2">
              <a:lnSpc>
                <a:spcPts val="2520"/>
              </a:lnSpc>
              <a:buFont typeface="Arial"/>
              <a:buChar char="⚬"/>
            </a:pPr>
            <a:r>
              <a:rPr lang="en-US" sz="2100">
                <a:solidFill>
                  <a:srgbClr val="000000"/>
                </a:solidFill>
                <a:latin typeface="Arial"/>
                <a:ea typeface="Arial"/>
                <a:cs typeface="Arial"/>
                <a:sym typeface="Arial"/>
              </a:rPr>
              <a:t>Discuss the tradeoff between </a:t>
            </a:r>
            <a:r>
              <a:rPr lang="en-US" b="true" sz="2100">
                <a:solidFill>
                  <a:srgbClr val="000000"/>
                </a:solidFill>
                <a:latin typeface="Arial Bold"/>
                <a:ea typeface="Arial Bold"/>
                <a:cs typeface="Arial Bold"/>
                <a:sym typeface="Arial Bold"/>
              </a:rPr>
              <a:t>growth opportunity, conversion likelihood, and sales effort </a:t>
            </a:r>
            <a:r>
              <a:rPr lang="en-US" sz="2100">
                <a:solidFill>
                  <a:srgbClr val="000000"/>
                </a:solidFill>
                <a:latin typeface="Arial"/>
                <a:ea typeface="Arial"/>
                <a:cs typeface="Arial"/>
                <a:sym typeface="Arial"/>
              </a:rPr>
              <a:t>required across segments</a:t>
            </a:r>
          </a:p>
        </p:txBody>
      </p:sp>
      <p:grpSp>
        <p:nvGrpSpPr>
          <p:cNvPr name="Group 12" id="12"/>
          <p:cNvGrpSpPr/>
          <p:nvPr/>
        </p:nvGrpSpPr>
        <p:grpSpPr>
          <a:xfrm rot="0">
            <a:off x="502444" y="613600"/>
            <a:ext cx="17279998" cy="989457"/>
            <a:chOff x="0" y="0"/>
            <a:chExt cx="23039997" cy="1319276"/>
          </a:xfrm>
        </p:grpSpPr>
        <p:sp>
          <p:nvSpPr>
            <p:cNvPr name="Freeform 13" id="13"/>
            <p:cNvSpPr/>
            <p:nvPr/>
          </p:nvSpPr>
          <p:spPr>
            <a:xfrm flipH="false" flipV="false" rot="0">
              <a:off x="0" y="0"/>
              <a:ext cx="23040000" cy="1319272"/>
            </a:xfrm>
            <a:custGeom>
              <a:avLst/>
              <a:gdLst/>
              <a:ahLst/>
              <a:cxnLst/>
              <a:rect r="r" b="b" t="t" l="l"/>
              <a:pathLst>
                <a:path h="1319272" w="23040000">
                  <a:moveTo>
                    <a:pt x="0" y="0"/>
                  </a:moveTo>
                  <a:lnTo>
                    <a:pt x="23040000" y="0"/>
                  </a:lnTo>
                  <a:lnTo>
                    <a:pt x="23040000" y="1319272"/>
                  </a:lnTo>
                  <a:lnTo>
                    <a:pt x="0" y="1319272"/>
                  </a:lnTo>
                  <a:close/>
                </a:path>
              </a:pathLst>
            </a:custGeom>
            <a:blipFill>
              <a:blip r:embed="rId3">
                <a:alphaModFix amt="0"/>
              </a:blip>
              <a:stretch>
                <a:fillRect l="0" t="-290289" r="0" b="-290290"/>
              </a:stretch>
            </a:blipFill>
          </p:spPr>
        </p:sp>
        <p:sp>
          <p:nvSpPr>
            <p:cNvPr name="TextBox 14" id="14"/>
            <p:cNvSpPr txBox="true"/>
            <p:nvPr/>
          </p:nvSpPr>
          <p:spPr>
            <a:xfrm>
              <a:off x="0" y="9525"/>
              <a:ext cx="23039997" cy="1309751"/>
            </a:xfrm>
            <a:prstGeom prst="rect">
              <a:avLst/>
            </a:prstGeom>
          </p:spPr>
          <p:txBody>
            <a:bodyPr anchor="b" rtlCol="false" tIns="0" lIns="0" bIns="0" rIns="0"/>
            <a:lstStyle/>
            <a:p>
              <a:pPr algn="l">
                <a:lnSpc>
                  <a:spcPts val="3564"/>
                </a:lnSpc>
              </a:pPr>
              <a:r>
                <a:rPr lang="en-US" sz="3300" b="true">
                  <a:solidFill>
                    <a:srgbClr val="001E96"/>
                  </a:solidFill>
                  <a:latin typeface="Arial Bold"/>
                  <a:ea typeface="Arial Bold"/>
                  <a:cs typeface="Arial Bold"/>
                  <a:sym typeface="Arial Bold"/>
                </a:rPr>
                <a:t>Question 7: Commercial HCP Prioritization</a:t>
              </a:r>
            </a:p>
          </p:txBody>
        </p:sp>
      </p:grpSp>
      <p:graphicFrame>
        <p:nvGraphicFramePr>
          <p:cNvPr name="Table 15" id="15"/>
          <p:cNvGraphicFramePr>
            <a:graphicFrameLocks noGrp="true"/>
          </p:cNvGraphicFramePr>
          <p:nvPr/>
        </p:nvGraphicFramePr>
        <p:xfrm>
          <a:off x="4028709" y="6733251"/>
          <a:ext cx="13735050" cy="3105143"/>
        </p:xfrm>
        <a:graphic>
          <a:graphicData uri="http://schemas.openxmlformats.org/drawingml/2006/table">
            <a:tbl>
              <a:tblPr/>
              <a:tblGrid>
                <a:gridCol w="2162770"/>
                <a:gridCol w="1480911"/>
                <a:gridCol w="3586834"/>
                <a:gridCol w="3247921"/>
                <a:gridCol w="3256614"/>
              </a:tblGrid>
              <a:tr h="764345">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 Segment</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HCPs</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Suggested % of Rep Calls</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Estimated Quarterly Calls</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c>
                  <a:txBody>
                    <a:bodyPr anchor="t" rtlCol="false"/>
                    <a:lstStyle/>
                    <a:p>
                      <a:pPr algn="ctr">
                        <a:lnSpc>
                          <a:spcPts val="2520"/>
                        </a:lnSpc>
                        <a:defRPr/>
                      </a:pPr>
                      <a:r>
                        <a:rPr lang="en-US" sz="2100" b="true">
                          <a:solidFill>
                            <a:srgbClr val="FFFFFF"/>
                          </a:solidFill>
                          <a:latin typeface="Arial Bold"/>
                          <a:ea typeface="Arial Bold"/>
                          <a:cs typeface="Arial Bold"/>
                          <a:sym typeface="Arial Bold"/>
                        </a:rPr>
                        <a:t>Estimated Rep Allocation</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r>
              <a:tr h="575768">
                <a:tc>
                  <a:txBody>
                    <a:bodyPr anchor="t" rtlCol="false"/>
                    <a:lstStyle/>
                    <a:p>
                      <a:pPr algn="ctr">
                        <a:lnSpc>
                          <a:spcPts val="2520"/>
                        </a:lnSpc>
                        <a:defRPr/>
                      </a:pPr>
                      <a:r>
                        <a:rPr lang="en-US" sz="2100">
                          <a:solidFill>
                            <a:srgbClr val="000000"/>
                          </a:solidFill>
                          <a:latin typeface="Arial"/>
                          <a:ea typeface="Arial"/>
                          <a:cs typeface="Arial"/>
                          <a:sym typeface="Arial"/>
                        </a:rPr>
                        <a:t>New starters</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D9E8FF"/>
                    </a:solidFill>
                  </a:tcPr>
                </a:tc>
                <a:tc>
                  <a:txBody>
                    <a:bodyPr anchor="t" rtlCol="false"/>
                    <a:lstStyle/>
                    <a:p>
                      <a:pPr algn="ctr">
                        <a:lnSpc>
                          <a:spcPts val="1620"/>
                        </a:lnSpc>
                        <a:defRPr/>
                      </a:pPr>
                      <a:r>
                        <a:rPr lang="en-US" sz="1350">
                          <a:solidFill>
                            <a:srgbClr val="000000"/>
                          </a:solidFill>
                          <a:latin typeface="Arial"/>
                          <a:ea typeface="Arial"/>
                          <a:cs typeface="Arial"/>
                          <a:sym typeface="Arial"/>
                        </a:rPr>
                        <a:t>64</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50%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9,600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8344">
                <a:tc>
                  <a:txBody>
                    <a:bodyPr anchor="t" rtlCol="false"/>
                    <a:lstStyle/>
                    <a:p>
                      <a:pPr algn="ctr">
                        <a:lnSpc>
                          <a:spcPts val="2520"/>
                        </a:lnSpc>
                        <a:defRPr/>
                      </a:pPr>
                      <a:r>
                        <a:rPr lang="en-US" sz="2100">
                          <a:solidFill>
                            <a:srgbClr val="000000"/>
                          </a:solidFill>
                          <a:latin typeface="Arial"/>
                          <a:ea typeface="Arial"/>
                          <a:cs typeface="Arial"/>
                          <a:sym typeface="Arial"/>
                        </a:rPr>
                        <a:t>Growers</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D9E8FF"/>
                    </a:solidFill>
                  </a:tcPr>
                </a:tc>
                <a:tc>
                  <a:txBody>
                    <a:bodyPr anchor="t" rtlCol="false"/>
                    <a:lstStyle/>
                    <a:p>
                      <a:pPr algn="ctr">
                        <a:lnSpc>
                          <a:spcPts val="1620"/>
                        </a:lnSpc>
                        <a:defRPr/>
                      </a:pPr>
                      <a:r>
                        <a:rPr lang="en-US" sz="1350">
                          <a:solidFill>
                            <a:srgbClr val="000000"/>
                          </a:solidFill>
                          <a:latin typeface="Arial"/>
                          <a:ea typeface="Arial"/>
                          <a:cs typeface="Arial"/>
                          <a:sym typeface="Arial"/>
                        </a:rPr>
                        <a:t>25</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35%</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6,720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~14</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8344">
                <a:tc>
                  <a:txBody>
                    <a:bodyPr anchor="t" rtlCol="false"/>
                    <a:lstStyle/>
                    <a:p>
                      <a:pPr algn="ctr">
                        <a:lnSpc>
                          <a:spcPts val="2520"/>
                        </a:lnSpc>
                        <a:defRPr/>
                      </a:pPr>
                      <a:r>
                        <a:rPr lang="en-US" sz="2100">
                          <a:solidFill>
                            <a:srgbClr val="000000"/>
                          </a:solidFill>
                          <a:latin typeface="Arial"/>
                          <a:ea typeface="Arial"/>
                          <a:cs typeface="Arial"/>
                          <a:sym typeface="Arial"/>
                        </a:rPr>
                        <a:t>Non-responders</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D9E8FF"/>
                    </a:solidFill>
                  </a:tcPr>
                </a:tc>
                <a:tc>
                  <a:txBody>
                    <a:bodyPr anchor="t" rtlCol="false"/>
                    <a:lstStyle/>
                    <a:p>
                      <a:pPr algn="ctr">
                        <a:lnSpc>
                          <a:spcPts val="1620"/>
                        </a:lnSpc>
                        <a:defRPr/>
                      </a:pPr>
                      <a:r>
                        <a:rPr lang="en-US" sz="1350">
                          <a:solidFill>
                            <a:srgbClr val="000000"/>
                          </a:solidFill>
                          <a:latin typeface="Arial"/>
                          <a:ea typeface="Arial"/>
                          <a:cs typeface="Arial"/>
                          <a:sym typeface="Arial"/>
                        </a:rPr>
                        <a:t>125</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15%</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2,880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c>
                  <a:txBody>
                    <a:bodyPr anchor="t" rtlCol="false"/>
                    <a:lstStyle/>
                    <a:p>
                      <a:pPr algn="ctr">
                        <a:lnSpc>
                          <a:spcPts val="1620"/>
                        </a:lnSpc>
                        <a:defRPr/>
                      </a:pPr>
                      <a:r>
                        <a:rPr lang="en-US" sz="1350">
                          <a:solidFill>
                            <a:srgbClr val="000000"/>
                          </a:solidFill>
                          <a:latin typeface="Arial"/>
                          <a:ea typeface="Arial"/>
                          <a:cs typeface="Arial"/>
                          <a:sym typeface="Arial"/>
                        </a:rPr>
                        <a:t>~6</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tcPr>
                </a:tc>
              </a:tr>
              <a:tr h="588344">
                <a:tc>
                  <a:txBody>
                    <a:bodyPr anchor="t" rtlCol="false"/>
                    <a:lstStyle/>
                    <a:p>
                      <a:pPr algn="ctr">
                        <a:lnSpc>
                          <a:spcPts val="2520"/>
                        </a:lnSpc>
                        <a:defRPr/>
                      </a:pPr>
                      <a:r>
                        <a:rPr lang="en-US" sz="2100" b="true">
                          <a:solidFill>
                            <a:srgbClr val="000000"/>
                          </a:solidFill>
                          <a:latin typeface="Arial Bold"/>
                          <a:ea typeface="Arial Bold"/>
                          <a:cs typeface="Arial Bold"/>
                          <a:sym typeface="Arial Bold"/>
                        </a:rPr>
                        <a:t>Total</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F2F2F2"/>
                    </a:solidFill>
                  </a:tcPr>
                </a:tc>
                <a:tc>
                  <a:txBody>
                    <a:bodyPr anchor="t" rtlCol="false"/>
                    <a:lstStyle/>
                    <a:p>
                      <a:pPr algn="ctr">
                        <a:lnSpc>
                          <a:spcPts val="1620"/>
                        </a:lnSpc>
                        <a:defRPr/>
                      </a:pPr>
                      <a:r>
                        <a:rPr lang="en-US" sz="1350" b="true">
                          <a:solidFill>
                            <a:srgbClr val="000000"/>
                          </a:solidFill>
                          <a:latin typeface="Arial Bold"/>
                          <a:ea typeface="Arial Bold"/>
                          <a:cs typeface="Arial Bold"/>
                          <a:sym typeface="Arial Bold"/>
                        </a:rPr>
                        <a:t>214</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F2F2F2"/>
                    </a:solidFill>
                  </a:tcPr>
                </a:tc>
                <a:tc>
                  <a:txBody>
                    <a:bodyPr anchor="t" rtlCol="false"/>
                    <a:lstStyle/>
                    <a:p>
                      <a:pPr algn="ctr">
                        <a:lnSpc>
                          <a:spcPts val="1620"/>
                        </a:lnSpc>
                        <a:defRPr/>
                      </a:pPr>
                      <a:r>
                        <a:rPr lang="en-US" sz="1350" b="true">
                          <a:solidFill>
                            <a:srgbClr val="000000"/>
                          </a:solidFill>
                          <a:latin typeface="Arial Bold"/>
                          <a:ea typeface="Arial Bold"/>
                          <a:cs typeface="Arial Bold"/>
                          <a:sym typeface="Arial Bold"/>
                        </a:rPr>
                        <a:t>100%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F2F2F2"/>
                    </a:solidFill>
                  </a:tcPr>
                </a:tc>
                <a:tc>
                  <a:txBody>
                    <a:bodyPr anchor="t" rtlCol="false"/>
                    <a:lstStyle/>
                    <a:p>
                      <a:pPr algn="ctr">
                        <a:lnSpc>
                          <a:spcPts val="1620"/>
                        </a:lnSpc>
                        <a:defRPr/>
                      </a:pPr>
                      <a:r>
                        <a:rPr lang="en-US" sz="1350" b="true">
                          <a:solidFill>
                            <a:srgbClr val="000000"/>
                          </a:solidFill>
                          <a:latin typeface="Arial Bold"/>
                          <a:ea typeface="Arial Bold"/>
                          <a:cs typeface="Arial Bold"/>
                          <a:sym typeface="Arial Bold"/>
                        </a:rPr>
                        <a:t>19,200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F2F2F2"/>
                    </a:solidFill>
                  </a:tcPr>
                </a:tc>
                <a:tc>
                  <a:txBody>
                    <a:bodyPr anchor="t" rtlCol="false"/>
                    <a:lstStyle/>
                    <a:p>
                      <a:pPr algn="ctr">
                        <a:lnSpc>
                          <a:spcPts val="1620"/>
                        </a:lnSpc>
                        <a:defRPr/>
                      </a:pPr>
                      <a:r>
                        <a:rPr lang="en-US" sz="1350" b="true">
                          <a:solidFill>
                            <a:srgbClr val="000000"/>
                          </a:solidFill>
                          <a:latin typeface="Arial Bold"/>
                          <a:ea typeface="Arial Bold"/>
                          <a:cs typeface="Arial Bold"/>
                          <a:sym typeface="Arial Bold"/>
                        </a:rPr>
                        <a:t>40</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F2F2F2"/>
                    </a:solidFill>
                  </a:tcPr>
                </a:tc>
              </a:tr>
            </a:tbl>
          </a:graphicData>
        </a:graphic>
      </p:graphicFrame>
      <p:graphicFrame>
        <p:nvGraphicFramePr>
          <p:cNvPr name="Table 16" id="16"/>
          <p:cNvGraphicFramePr>
            <a:graphicFrameLocks noGrp="true"/>
          </p:cNvGraphicFramePr>
          <p:nvPr/>
        </p:nvGraphicFramePr>
        <p:xfrm>
          <a:off x="209914" y="6733249"/>
          <a:ext cx="3371850" cy="2933700"/>
        </p:xfrm>
        <a:graphic>
          <a:graphicData uri="http://schemas.openxmlformats.org/drawingml/2006/table">
            <a:tbl>
              <a:tblPr/>
              <a:tblGrid>
                <a:gridCol w="3371850"/>
              </a:tblGrid>
              <a:tr h="1242282">
                <a:tc>
                  <a:txBody>
                    <a:bodyPr anchor="t" rtlCol="false"/>
                    <a:lstStyle/>
                    <a:p>
                      <a:pPr algn="ctr">
                        <a:lnSpc>
                          <a:spcPts val="2879"/>
                        </a:lnSpc>
                        <a:defRPr/>
                      </a:pPr>
                      <a:r>
                        <a:rPr lang="en-US" sz="2400" b="true">
                          <a:solidFill>
                            <a:srgbClr val="FFFFFF"/>
                          </a:solidFill>
                          <a:latin typeface="Arial Bold"/>
                          <a:ea typeface="Arial Bold"/>
                          <a:cs typeface="Arial Bold"/>
                          <a:sym typeface="Arial Bold"/>
                        </a:rPr>
                        <a:t>Total rep call capacity per quarter</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001E96"/>
                    </a:solidFill>
                  </a:tcPr>
                </a:tc>
              </a:tr>
              <a:tr h="1691418">
                <a:tc>
                  <a:txBody>
                    <a:bodyPr anchor="t" rtlCol="false"/>
                    <a:lstStyle/>
                    <a:p>
                      <a:pPr algn="ctr">
                        <a:lnSpc>
                          <a:spcPts val="1439"/>
                        </a:lnSpc>
                        <a:defRPr/>
                      </a:pPr>
                      <a:r>
                        <a:rPr lang="en-US" sz="1200" b="true">
                          <a:solidFill>
                            <a:srgbClr val="000000"/>
                          </a:solidFill>
                          <a:latin typeface="Arial Bold"/>
                          <a:ea typeface="Arial Bold"/>
                          <a:cs typeface="Arial Bold"/>
                          <a:sym typeface="Arial Bold"/>
                        </a:rPr>
                        <a:t>40 reps x 8 calls/day x 20 days/month x 3 months = 19,200 quarterly calls</a:t>
                      </a:r>
                      <a:endParaRPr lang="en-US" sz="1100"/>
                    </a:p>
                  </a:txBody>
                  <a:tcPr marL="0" marR="0" marT="0" marB="0" anchor="ctr">
                    <a:lnL cmpd="sng" algn="ctr" cap="flat" w="9525">
                      <a:solidFill>
                        <a:srgbClr val="BFBFBF"/>
                      </a:solidFill>
                      <a:prstDash val="solid"/>
                      <a:round/>
                      <a:headEnd type="none" w="med" len="med"/>
                      <a:tailEnd type="none" w="med" len="med"/>
                    </a:lnL>
                    <a:lnR cmpd="sng" algn="ctr" cap="flat" w="9525">
                      <a:solidFill>
                        <a:srgbClr val="BFBFBF"/>
                      </a:solidFill>
                      <a:prstDash val="solid"/>
                      <a:round/>
                      <a:headEnd type="none" w="med" len="med"/>
                      <a:tailEnd type="none" w="med" len="med"/>
                    </a:lnR>
                    <a:lnT cmpd="sng" algn="ctr" cap="flat" w="9525">
                      <a:solidFill>
                        <a:srgbClr val="BFBFBF"/>
                      </a:solidFill>
                      <a:prstDash val="solid"/>
                      <a:round/>
                      <a:headEnd type="none" w="med" len="med"/>
                      <a:tailEnd type="none" w="med" len="med"/>
                    </a:lnT>
                    <a:lnB cmpd="sng" algn="ctr" cap="flat" w="9525">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4998"/>
            <a:chOff x="0" y="0"/>
            <a:chExt cx="24384000" cy="179997"/>
          </a:xfrm>
        </p:grpSpPr>
        <p:sp>
          <p:nvSpPr>
            <p:cNvPr name="Freeform 3" id="3"/>
            <p:cNvSpPr/>
            <p:nvPr/>
          </p:nvSpPr>
          <p:spPr>
            <a:xfrm flipH="false" flipV="false" rot="0">
              <a:off x="0" y="0"/>
              <a:ext cx="24384000" cy="179959"/>
            </a:xfrm>
            <a:custGeom>
              <a:avLst/>
              <a:gdLst/>
              <a:ahLst/>
              <a:cxnLst/>
              <a:rect r="r" b="b" t="t" l="l"/>
              <a:pathLst>
                <a:path h="179959" w="24384000">
                  <a:moveTo>
                    <a:pt x="0" y="0"/>
                  </a:moveTo>
                  <a:lnTo>
                    <a:pt x="24384000" y="0"/>
                  </a:lnTo>
                  <a:lnTo>
                    <a:pt x="24384000" y="179959"/>
                  </a:lnTo>
                  <a:lnTo>
                    <a:pt x="0" y="179959"/>
                  </a:lnTo>
                  <a:close/>
                </a:path>
              </a:pathLst>
            </a:custGeom>
            <a:gradFill rotWithShape="true">
              <a:gsLst>
                <a:gs pos="0">
                  <a:srgbClr val="005CD9">
                    <a:alpha val="100000"/>
                  </a:srgbClr>
                </a:gs>
                <a:gs pos="50000">
                  <a:srgbClr val="007ECC">
                    <a:alpha val="100000"/>
                  </a:srgbClr>
                </a:gs>
                <a:gs pos="100000">
                  <a:srgbClr val="001E96">
                    <a:alpha val="100000"/>
                  </a:srgbClr>
                </a:gs>
              </a:gsLst>
              <a:lin ang="0"/>
            </a:gradFill>
          </p:spPr>
        </p:sp>
      </p:grpSp>
      <p:sp>
        <p:nvSpPr>
          <p:cNvPr name="AutoShape 4" id="4"/>
          <p:cNvSpPr/>
          <p:nvPr/>
        </p:nvSpPr>
        <p:spPr>
          <a:xfrm rot="3780">
            <a:off x="492919" y="1755696"/>
            <a:ext cx="17299057" cy="0"/>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502444" y="613600"/>
            <a:ext cx="17279998" cy="989457"/>
            <a:chOff x="0" y="0"/>
            <a:chExt cx="23039997" cy="1319276"/>
          </a:xfrm>
        </p:grpSpPr>
        <p:sp>
          <p:nvSpPr>
            <p:cNvPr name="Freeform 6" id="6"/>
            <p:cNvSpPr/>
            <p:nvPr/>
          </p:nvSpPr>
          <p:spPr>
            <a:xfrm flipH="false" flipV="false" rot="0">
              <a:off x="0" y="0"/>
              <a:ext cx="23040000" cy="1319272"/>
            </a:xfrm>
            <a:custGeom>
              <a:avLst/>
              <a:gdLst/>
              <a:ahLst/>
              <a:cxnLst/>
              <a:rect r="r" b="b" t="t" l="l"/>
              <a:pathLst>
                <a:path h="1319272" w="23040000">
                  <a:moveTo>
                    <a:pt x="0" y="0"/>
                  </a:moveTo>
                  <a:lnTo>
                    <a:pt x="23040000" y="0"/>
                  </a:lnTo>
                  <a:lnTo>
                    <a:pt x="23040000" y="1319272"/>
                  </a:lnTo>
                  <a:lnTo>
                    <a:pt x="0" y="1319272"/>
                  </a:lnTo>
                  <a:close/>
                </a:path>
              </a:pathLst>
            </a:custGeom>
            <a:blipFill>
              <a:blip r:embed="rId2">
                <a:alphaModFix amt="0"/>
              </a:blip>
              <a:stretch>
                <a:fillRect l="0" t="-290289" r="0" b="-290290"/>
              </a:stretch>
            </a:blipFill>
          </p:spPr>
        </p:sp>
        <p:sp>
          <p:nvSpPr>
            <p:cNvPr name="TextBox 7" id="7"/>
            <p:cNvSpPr txBox="true"/>
            <p:nvPr/>
          </p:nvSpPr>
          <p:spPr>
            <a:xfrm>
              <a:off x="0" y="-28575"/>
              <a:ext cx="23039997" cy="1347851"/>
            </a:xfrm>
            <a:prstGeom prst="rect">
              <a:avLst/>
            </a:prstGeom>
          </p:spPr>
          <p:txBody>
            <a:bodyPr anchor="b" rtlCol="false" tIns="0" lIns="0" bIns="0" rIns="0"/>
            <a:lstStyle/>
            <a:p>
              <a:pPr algn="l">
                <a:lnSpc>
                  <a:spcPts val="3960"/>
                </a:lnSpc>
              </a:pPr>
              <a:r>
                <a:rPr lang="en-US" sz="3300" b="true">
                  <a:solidFill>
                    <a:srgbClr val="001E96"/>
                  </a:solidFill>
                  <a:latin typeface="Arial Bold"/>
                  <a:ea typeface="Arial Bold"/>
                  <a:cs typeface="Arial Bold"/>
                  <a:sym typeface="Arial Bold"/>
                </a:rPr>
                <a:t>Executive Summary</a:t>
              </a:r>
            </a:p>
          </p:txBody>
        </p:sp>
      </p:grpSp>
      <p:sp>
        <p:nvSpPr>
          <p:cNvPr name="TextBox 8" id="8"/>
          <p:cNvSpPr txBox="true"/>
          <p:nvPr/>
        </p:nvSpPr>
        <p:spPr>
          <a:xfrm rot="0">
            <a:off x="502444" y="1908334"/>
            <a:ext cx="16053858" cy="6414897"/>
          </a:xfrm>
          <a:prstGeom prst="rect">
            <a:avLst/>
          </a:prstGeom>
        </p:spPr>
        <p:txBody>
          <a:bodyPr anchor="t" rtlCol="false" tIns="0" lIns="0" bIns="0" rIns="0">
            <a:spAutoFit/>
          </a:bodyPr>
          <a:lstStyle/>
          <a:p>
            <a:pPr algn="l">
              <a:lnSpc>
                <a:spcPts val="2840"/>
              </a:lnSpc>
            </a:pPr>
            <a:r>
              <a:rPr lang="en-US" sz="2367" b="true">
                <a:solidFill>
                  <a:srgbClr val="000000"/>
                </a:solidFill>
                <a:latin typeface="Arial Bold"/>
                <a:ea typeface="Arial Bold"/>
                <a:cs typeface="Arial Bold"/>
                <a:sym typeface="Arial Bold"/>
              </a:rPr>
              <a:t>PrimeRx Nexavir (DRG001) - Commercial Analysis Summary</a:t>
            </a:r>
          </a:p>
          <a:p>
            <a:pPr algn="l">
              <a:lnSpc>
                <a:spcPts val="1826"/>
              </a:lnSpc>
            </a:pPr>
          </a:p>
          <a:p>
            <a:pPr algn="l" marL="336642" indent="-168321" lvl="1">
              <a:lnSpc>
                <a:spcPts val="2232"/>
              </a:lnSpc>
              <a:buFont typeface="Arial"/>
              <a:buChar char="•"/>
            </a:pPr>
            <a:r>
              <a:rPr lang="en-US" b="true" sz="1860">
                <a:solidFill>
                  <a:srgbClr val="000000"/>
                </a:solidFill>
                <a:latin typeface="Arial Bold"/>
                <a:ea typeface="Arial Bold"/>
                <a:cs typeface="Arial Bold"/>
                <a:sym typeface="Arial Bold"/>
              </a:rPr>
              <a:t>KEY FINDINGS:</a:t>
            </a:r>
          </a:p>
          <a:p>
            <a:pPr algn="l" marL="380048" indent="-190024" lvl="1">
              <a:lnSpc>
                <a:spcPts val="2919"/>
              </a:lnSpc>
              <a:buFont typeface="Arial"/>
              <a:buChar char="•"/>
            </a:pPr>
            <a:r>
              <a:rPr lang="en-US" sz="2100">
                <a:solidFill>
                  <a:srgbClr val="000000"/>
                </a:solidFill>
                <a:latin typeface="Arial"/>
                <a:ea typeface="Arial"/>
                <a:cs typeface="Arial"/>
                <a:sym typeface="Arial"/>
              </a:rPr>
              <a:t>1. ALERT-TO-RX GAP: 68 high-alert HCPs received multiple positive clinical signals but show zero prescription activity within 30 days - the largest immediate commercial opportunity.</a:t>
            </a:r>
          </a:p>
          <a:p>
            <a:pPr algn="l" marL="380048" indent="-190024" lvl="1">
              <a:lnSpc>
                <a:spcPts val="2919"/>
              </a:lnSpc>
              <a:buFont typeface="Arial"/>
              <a:buChar char="•"/>
            </a:pPr>
            <a:r>
              <a:rPr lang="en-US" sz="2100">
                <a:solidFill>
                  <a:srgbClr val="000000"/>
                </a:solidFill>
                <a:latin typeface="Arial"/>
                <a:ea typeface="Arial"/>
                <a:cs typeface="Arial"/>
                <a:sym typeface="Arial"/>
              </a:rPr>
              <a:t>2. COMPETITOR THREAT: Rivalex (DRG002) is the top competitor capturing significant share among our most clinically active doctors.</a:t>
            </a:r>
          </a:p>
          <a:p>
            <a:pPr algn="l" marL="380048" indent="-190024" lvl="1">
              <a:lnSpc>
                <a:spcPts val="2919"/>
              </a:lnSpc>
              <a:buFont typeface="Arial"/>
              <a:buChar char="•"/>
            </a:pPr>
            <a:r>
              <a:rPr lang="en-US" sz="2100">
                <a:solidFill>
                  <a:srgbClr val="000000"/>
                </a:solidFill>
                <a:latin typeface="Arial"/>
                <a:ea typeface="Arial"/>
                <a:cs typeface="Arial"/>
                <a:sym typeface="Arial"/>
              </a:rPr>
              <a:t>3. ACCOUNT OPPORTUNITY: ACC001 (Northside General) generates 3,296 alerts but has only 3.73 conversion ratio - the single biggest untapped hospital account.</a:t>
            </a:r>
          </a:p>
          <a:p>
            <a:pPr algn="l" marL="380048" indent="-190024" lvl="1">
              <a:lnSpc>
                <a:spcPts val="2919"/>
              </a:lnSpc>
              <a:buFont typeface="Arial"/>
              <a:buChar char="•"/>
            </a:pPr>
            <a:r>
              <a:rPr lang="en-US" sz="2100">
                <a:solidFill>
                  <a:srgbClr val="000000"/>
                </a:solidFill>
                <a:latin typeface="Arial"/>
                <a:ea typeface="Arial"/>
                <a:cs typeface="Arial"/>
                <a:sym typeface="Arial"/>
              </a:rPr>
              <a:t>4. ALERT IMPACT IS REAL: 64 New Starters went from 0 to active prescribing post-alert. HCP040 showed 1,687.5% lift - proving alerts drive behavior change.</a:t>
            </a:r>
          </a:p>
          <a:p>
            <a:pPr algn="l" marL="380048" indent="-190024" lvl="1">
              <a:lnSpc>
                <a:spcPts val="2919"/>
              </a:lnSpc>
              <a:buFont typeface="Arial"/>
              <a:buChar char="•"/>
            </a:pPr>
            <a:r>
              <a:rPr lang="en-US" sz="2100">
                <a:solidFill>
                  <a:srgbClr val="000000"/>
                </a:solidFill>
                <a:latin typeface="Arial"/>
                <a:ea typeface="Arial"/>
                <a:cs typeface="Arial"/>
                <a:sym typeface="Arial"/>
              </a:rPr>
              <a:t>5. FIELD FORCE: Recommend 50% of 19,200 quarterly rep calls to New Starters, 35% to Growers, 15% to Non-responders for maximum ROI.</a:t>
            </a:r>
          </a:p>
          <a:p>
            <a:pPr algn="l" marL="275434" indent="-137717" lvl="1">
              <a:lnSpc>
                <a:spcPts val="1826"/>
              </a:lnSpc>
            </a:pPr>
          </a:p>
          <a:p>
            <a:pPr algn="l" marL="336642" indent="-168321" lvl="1">
              <a:lnSpc>
                <a:spcPts val="2232"/>
              </a:lnSpc>
              <a:buFont typeface="Arial"/>
              <a:buChar char="•"/>
            </a:pPr>
            <a:r>
              <a:rPr lang="en-US" b="true" sz="1860">
                <a:solidFill>
                  <a:srgbClr val="000000"/>
                </a:solidFill>
                <a:latin typeface="Arial Bold"/>
                <a:ea typeface="Arial Bold"/>
                <a:cs typeface="Arial Bold"/>
                <a:sym typeface="Arial Bold"/>
              </a:rPr>
              <a:t>STRATEGIC RECOMMENDATIONS:</a:t>
            </a:r>
          </a:p>
          <a:p>
            <a:pPr algn="l" marL="380048" indent="-190024" lvl="1">
              <a:lnSpc>
                <a:spcPts val="2897"/>
              </a:lnSpc>
              <a:buFont typeface="Arial"/>
              <a:buChar char="•"/>
            </a:pPr>
            <a:r>
              <a:rPr lang="en-US" sz="2100">
                <a:solidFill>
                  <a:srgbClr val="000000"/>
                </a:solidFill>
                <a:latin typeface="Arial"/>
                <a:ea typeface="Arial"/>
                <a:cs typeface="Arial"/>
                <a:sym typeface="Arial"/>
              </a:rPr>
              <a:t>- Deploy targeted rep visits to 68 zero-Rx positive-alert HCPs immediately</a:t>
            </a:r>
          </a:p>
          <a:p>
            <a:pPr algn="l" marL="380048" indent="-190024" lvl="1">
              <a:lnSpc>
                <a:spcPts val="2897"/>
              </a:lnSpc>
              <a:buFont typeface="Arial"/>
              <a:buChar char="•"/>
            </a:pPr>
            <a:r>
              <a:rPr lang="en-US" sz="2100">
                <a:solidFill>
                  <a:srgbClr val="000000"/>
                </a:solidFill>
                <a:latin typeface="Arial"/>
                <a:ea typeface="Arial"/>
                <a:cs typeface="Arial"/>
                <a:sym typeface="Arial"/>
              </a:rPr>
              <a:t>- Launch competitive detailing program focused on Rivalex accounts</a:t>
            </a:r>
          </a:p>
          <a:p>
            <a:pPr algn="l" marL="380048" indent="-190024" lvl="1">
              <a:lnSpc>
                <a:spcPts val="2897"/>
              </a:lnSpc>
              <a:buFont typeface="Arial"/>
              <a:buChar char="•"/>
            </a:pPr>
            <a:r>
              <a:rPr lang="en-US" sz="2100">
                <a:solidFill>
                  <a:srgbClr val="000000"/>
                </a:solidFill>
                <a:latin typeface="Arial"/>
                <a:ea typeface="Arial"/>
                <a:cs typeface="Arial"/>
                <a:sym typeface="Arial"/>
              </a:rPr>
              <a:t>- Prioritize ACC001 and lowest-conversion accounts for account-level interventions</a:t>
            </a:r>
          </a:p>
          <a:p>
            <a:pPr algn="l" marL="380048" indent="-190024" lvl="1">
              <a:lnSpc>
                <a:spcPts val="2897"/>
              </a:lnSpc>
              <a:buFont typeface="Arial"/>
              <a:buChar char="•"/>
            </a:pPr>
            <a:r>
              <a:rPr lang="en-US" sz="2100">
                <a:solidFill>
                  <a:srgbClr val="000000"/>
                </a:solidFill>
                <a:latin typeface="Arial"/>
                <a:ea typeface="Arial"/>
                <a:cs typeface="Arial"/>
                <a:sym typeface="Arial"/>
              </a:rPr>
              <a:t>- Scale alert-to-rep follow-up program - data proves it changes prescribing behavior</a:t>
            </a:r>
          </a:p>
        </p:txBody>
      </p:sp>
      <p:grpSp>
        <p:nvGrpSpPr>
          <p:cNvPr name="Group 9" id="9"/>
          <p:cNvGrpSpPr/>
          <p:nvPr/>
        </p:nvGrpSpPr>
        <p:grpSpPr>
          <a:xfrm rot="0">
            <a:off x="17245555" y="9874129"/>
            <a:ext cx="540001" cy="269996"/>
            <a:chOff x="0" y="0"/>
            <a:chExt cx="720001" cy="359994"/>
          </a:xfrm>
        </p:grpSpPr>
        <p:sp>
          <p:nvSpPr>
            <p:cNvPr name="Freeform 10" id="10"/>
            <p:cNvSpPr/>
            <p:nvPr/>
          </p:nvSpPr>
          <p:spPr>
            <a:xfrm flipH="false" flipV="false" rot="0">
              <a:off x="0" y="0"/>
              <a:ext cx="720000" cy="360000"/>
            </a:xfrm>
            <a:custGeom>
              <a:avLst/>
              <a:gdLst/>
              <a:ahLst/>
              <a:cxnLst/>
              <a:rect r="r" b="b" t="t" l="l"/>
              <a:pathLst>
                <a:path h="360000" w="720000">
                  <a:moveTo>
                    <a:pt x="0" y="0"/>
                  </a:moveTo>
                  <a:lnTo>
                    <a:pt x="720000" y="0"/>
                  </a:lnTo>
                  <a:lnTo>
                    <a:pt x="720000" y="360000"/>
                  </a:lnTo>
                  <a:lnTo>
                    <a:pt x="0" y="360000"/>
                  </a:lnTo>
                  <a:close/>
                </a:path>
              </a:pathLst>
            </a:custGeom>
            <a:blipFill>
              <a:blip r:embed="rId2">
                <a:alphaModFix amt="0"/>
              </a:blip>
              <a:stretch>
                <a:fillRect l="-14150" t="0" r="-14150" b="1"/>
              </a:stretch>
            </a:blipFill>
          </p:spPr>
        </p:sp>
        <p:sp>
          <p:nvSpPr>
            <p:cNvPr name="TextBox 11" id="11"/>
            <p:cNvSpPr txBox="true"/>
            <p:nvPr/>
          </p:nvSpPr>
          <p:spPr>
            <a:xfrm>
              <a:off x="0" y="-19050"/>
              <a:ext cx="720001" cy="379044"/>
            </a:xfrm>
            <a:prstGeom prst="rect">
              <a:avLst/>
            </a:prstGeom>
          </p:spPr>
          <p:txBody>
            <a:bodyPr anchor="b" rtlCol="false" tIns="0" lIns="0" bIns="0" rIns="0"/>
            <a:lstStyle/>
            <a:p>
              <a:pPr algn="r">
                <a:lnSpc>
                  <a:spcPts val="1439"/>
                </a:lnSpc>
              </a:pPr>
              <a:r>
                <a:rPr lang="en-US" sz="1200">
                  <a:solidFill>
                    <a:srgbClr val="808080"/>
                  </a:solidFill>
                  <a:latin typeface="Arial"/>
                  <a:ea typeface="Arial"/>
                  <a:cs typeface="Arial"/>
                  <a:sym typeface="Arial"/>
                </a:rPr>
                <a:t>12</a:t>
              </a:r>
            </a:p>
          </p:txBody>
        </p:sp>
      </p:grpSp>
      <p:grpSp>
        <p:nvGrpSpPr>
          <p:cNvPr name="Group 12" id="12"/>
          <p:cNvGrpSpPr/>
          <p:nvPr/>
        </p:nvGrpSpPr>
        <p:grpSpPr>
          <a:xfrm rot="0">
            <a:off x="502444" y="9874129"/>
            <a:ext cx="1620002" cy="269996"/>
            <a:chOff x="0" y="0"/>
            <a:chExt cx="2160003" cy="359994"/>
          </a:xfrm>
        </p:grpSpPr>
        <p:sp>
          <p:nvSpPr>
            <p:cNvPr name="Freeform 13" id="13"/>
            <p:cNvSpPr/>
            <p:nvPr/>
          </p:nvSpPr>
          <p:spPr>
            <a:xfrm flipH="false" flipV="false" rot="0">
              <a:off x="0" y="0"/>
              <a:ext cx="2160000" cy="360000"/>
            </a:xfrm>
            <a:custGeom>
              <a:avLst/>
              <a:gdLst/>
              <a:ahLst/>
              <a:cxnLst/>
              <a:rect r="r" b="b" t="t" l="l"/>
              <a:pathLst>
                <a:path h="360000" w="2160000">
                  <a:moveTo>
                    <a:pt x="0" y="0"/>
                  </a:moveTo>
                  <a:lnTo>
                    <a:pt x="2160000" y="0"/>
                  </a:lnTo>
                  <a:lnTo>
                    <a:pt x="2160000" y="360000"/>
                  </a:lnTo>
                  <a:lnTo>
                    <a:pt x="0" y="360000"/>
                  </a:lnTo>
                  <a:close/>
                </a:path>
              </a:pathLst>
            </a:custGeom>
            <a:blipFill>
              <a:blip r:embed="rId2">
                <a:alphaModFix amt="0"/>
              </a:blip>
              <a:stretch>
                <a:fillRect l="0" t="-66911" r="0" b="-66909"/>
              </a:stretch>
            </a:blipFill>
          </p:spPr>
        </p:sp>
        <p:sp>
          <p:nvSpPr>
            <p:cNvPr name="TextBox 14" id="14"/>
            <p:cNvSpPr txBox="true"/>
            <p:nvPr/>
          </p:nvSpPr>
          <p:spPr>
            <a:xfrm>
              <a:off x="0" y="-19050"/>
              <a:ext cx="2160003" cy="379044"/>
            </a:xfrm>
            <a:prstGeom prst="rect">
              <a:avLst/>
            </a:prstGeom>
          </p:spPr>
          <p:txBody>
            <a:bodyPr anchor="b" rtlCol="false" tIns="0" lIns="0" bIns="0" rIns="0"/>
            <a:lstStyle/>
            <a:p>
              <a:pPr algn="l">
                <a:lnSpc>
                  <a:spcPts val="1439"/>
                </a:lnSpc>
              </a:pPr>
              <a:r>
                <a:rPr lang="en-US" sz="1200">
                  <a:solidFill>
                    <a:srgbClr val="808080"/>
                  </a:solidFill>
                  <a:latin typeface="Arial"/>
                  <a:ea typeface="Arial"/>
                  <a:cs typeface="Arial"/>
                  <a:sym typeface="Arial"/>
                </a:rPr>
                <a:t>© 2026 ProcDNA</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02444" y="8123606"/>
            <a:ext cx="11187112" cy="492919"/>
          </a:xfrm>
          <a:prstGeom prst="rect">
            <a:avLst/>
          </a:prstGeom>
        </p:spPr>
        <p:txBody>
          <a:bodyPr anchor="t" rtlCol="false" tIns="0" lIns="0" bIns="0" rIns="0">
            <a:spAutoFit/>
          </a:bodyPr>
          <a:lstStyle/>
          <a:p>
            <a:pPr algn="l">
              <a:lnSpc>
                <a:spcPts val="1800"/>
              </a:lnSpc>
            </a:pPr>
            <a:r>
              <a:rPr lang="en-US" sz="1500">
                <a:solidFill>
                  <a:srgbClr val="808080"/>
                </a:solidFill>
                <a:latin typeface="Arial"/>
                <a:ea typeface="Arial"/>
                <a:cs typeface="Arial"/>
                <a:sym typeface="Arial"/>
              </a:rPr>
              <a:t>This document is solely for the use of client personnel. No part of it may be circulated, quoted or reproduced for</a:t>
            </a:r>
          </a:p>
          <a:p>
            <a:pPr algn="l">
              <a:lnSpc>
                <a:spcPts val="1800"/>
              </a:lnSpc>
            </a:pPr>
            <a:r>
              <a:rPr lang="en-US" sz="1500">
                <a:solidFill>
                  <a:srgbClr val="808080"/>
                </a:solidFill>
                <a:latin typeface="Arial"/>
                <a:ea typeface="Arial"/>
                <a:cs typeface="Arial"/>
                <a:sym typeface="Arial"/>
              </a:rPr>
              <a:t>distribution outside of the client organization without prior written approval of ProcDNA.</a:t>
            </a:r>
          </a:p>
        </p:txBody>
      </p:sp>
      <p:grpSp>
        <p:nvGrpSpPr>
          <p:cNvPr name="Group 3" id="3"/>
          <p:cNvGrpSpPr/>
          <p:nvPr/>
        </p:nvGrpSpPr>
        <p:grpSpPr>
          <a:xfrm rot="0">
            <a:off x="524685" y="8983675"/>
            <a:ext cx="1056465" cy="286817"/>
            <a:chOff x="0" y="0"/>
            <a:chExt cx="1408620" cy="382422"/>
          </a:xfrm>
        </p:grpSpPr>
        <p:sp>
          <p:nvSpPr>
            <p:cNvPr name="Freeform 4" id="4">
              <a:hlinkClick r:id="rId2" tooltip="https://www.linkedin.com/company/procdna/"/>
            </p:cNvPr>
            <p:cNvSpPr/>
            <p:nvPr/>
          </p:nvSpPr>
          <p:spPr>
            <a:xfrm flipH="false" flipV="false" rot="0">
              <a:off x="0" y="0"/>
              <a:ext cx="1408684" cy="382397"/>
            </a:xfrm>
            <a:custGeom>
              <a:avLst/>
              <a:gdLst/>
              <a:ahLst/>
              <a:cxnLst/>
              <a:rect r="r" b="b" t="t" l="l"/>
              <a:pathLst>
                <a:path h="382397" w="1408684">
                  <a:moveTo>
                    <a:pt x="0" y="0"/>
                  </a:moveTo>
                  <a:lnTo>
                    <a:pt x="1408684" y="0"/>
                  </a:lnTo>
                  <a:lnTo>
                    <a:pt x="1408684" y="382397"/>
                  </a:lnTo>
                  <a:lnTo>
                    <a:pt x="0" y="382397"/>
                  </a:lnTo>
                  <a:lnTo>
                    <a:pt x="0" y="0"/>
                  </a:lnTo>
                  <a:close/>
                </a:path>
              </a:pathLst>
            </a:custGeom>
            <a:blipFill>
              <a:blip r:embed="rId3"/>
              <a:stretch>
                <a:fillRect l="0" t="0" r="-1583" b="-6"/>
              </a:stretch>
            </a:blipFill>
          </p:spPr>
        </p:sp>
      </p:grpSp>
      <p:grpSp>
        <p:nvGrpSpPr>
          <p:cNvPr name="Group 5" id="5"/>
          <p:cNvGrpSpPr/>
          <p:nvPr/>
        </p:nvGrpSpPr>
        <p:grpSpPr>
          <a:xfrm rot="0">
            <a:off x="1842030" y="9005497"/>
            <a:ext cx="1562491" cy="243173"/>
            <a:chOff x="0" y="0"/>
            <a:chExt cx="2083321" cy="324231"/>
          </a:xfrm>
        </p:grpSpPr>
        <p:sp>
          <p:nvSpPr>
            <p:cNvPr name="Freeform 6" id="6"/>
            <p:cNvSpPr/>
            <p:nvPr/>
          </p:nvSpPr>
          <p:spPr>
            <a:xfrm flipH="false" flipV="false" rot="0">
              <a:off x="0" y="0"/>
              <a:ext cx="2083316" cy="324228"/>
            </a:xfrm>
            <a:custGeom>
              <a:avLst/>
              <a:gdLst/>
              <a:ahLst/>
              <a:cxnLst/>
              <a:rect r="r" b="b" t="t" l="l"/>
              <a:pathLst>
                <a:path h="324228" w="2083316">
                  <a:moveTo>
                    <a:pt x="0" y="0"/>
                  </a:moveTo>
                  <a:lnTo>
                    <a:pt x="2083316" y="0"/>
                  </a:lnTo>
                  <a:lnTo>
                    <a:pt x="2083316" y="324228"/>
                  </a:lnTo>
                  <a:lnTo>
                    <a:pt x="0" y="324228"/>
                  </a:lnTo>
                  <a:close/>
                </a:path>
              </a:pathLst>
            </a:custGeom>
            <a:blipFill>
              <a:blip r:embed="rId4">
                <a:alphaModFix amt="0"/>
              </a:blip>
              <a:stretch>
                <a:fillRect l="0" t="-75200" r="0" b="-75201"/>
              </a:stretch>
            </a:blipFill>
          </p:spPr>
        </p:sp>
        <p:sp>
          <p:nvSpPr>
            <p:cNvPr name="TextBox 7" id="7"/>
            <p:cNvSpPr txBox="true"/>
            <p:nvPr/>
          </p:nvSpPr>
          <p:spPr>
            <a:xfrm>
              <a:off x="0" y="-19050"/>
              <a:ext cx="2083321" cy="343281"/>
            </a:xfrm>
            <a:prstGeom prst="rect">
              <a:avLst/>
            </a:prstGeom>
          </p:spPr>
          <p:txBody>
            <a:bodyPr anchor="ctr" rtlCol="false" tIns="0" lIns="0" bIns="0" rIns="0"/>
            <a:lstStyle/>
            <a:p>
              <a:pPr algn="l">
                <a:lnSpc>
                  <a:spcPts val="1800"/>
                </a:lnSpc>
              </a:pPr>
              <a:r>
                <a:rPr lang="en-US" sz="1500" u="sng">
                  <a:solidFill>
                    <a:srgbClr val="008CE3"/>
                  </a:solidFill>
                  <a:latin typeface="Arial"/>
                  <a:ea typeface="Arial"/>
                  <a:cs typeface="Arial"/>
                  <a:sym typeface="Arial"/>
                  <a:hlinkClick r:id="rId5" tooltip="http://www.procdna.com/"/>
                </a:rPr>
                <a:t>www.procdna.com</a:t>
              </a:r>
              <a:r>
                <a:rPr lang="en-US" sz="1500">
                  <a:solidFill>
                    <a:srgbClr val="808080"/>
                  </a:solidFill>
                  <a:latin typeface="Arial"/>
                  <a:ea typeface="Arial"/>
                  <a:cs typeface="Arial"/>
                  <a:sym typeface="Arial"/>
                </a:rPr>
                <a:t> </a:t>
              </a:r>
            </a:p>
          </p:txBody>
        </p:sp>
      </p:grpSp>
      <p:grpSp>
        <p:nvGrpSpPr>
          <p:cNvPr name="Group 8" id="8"/>
          <p:cNvGrpSpPr/>
          <p:nvPr/>
        </p:nvGrpSpPr>
        <p:grpSpPr>
          <a:xfrm rot="0">
            <a:off x="524685" y="9485233"/>
            <a:ext cx="9773079" cy="473869"/>
            <a:chOff x="0" y="0"/>
            <a:chExt cx="13030772" cy="631825"/>
          </a:xfrm>
        </p:grpSpPr>
        <p:sp>
          <p:nvSpPr>
            <p:cNvPr name="Freeform 9" id="9"/>
            <p:cNvSpPr/>
            <p:nvPr/>
          </p:nvSpPr>
          <p:spPr>
            <a:xfrm flipH="false" flipV="false" rot="0">
              <a:off x="0" y="0"/>
              <a:ext cx="13030777" cy="631826"/>
            </a:xfrm>
            <a:custGeom>
              <a:avLst/>
              <a:gdLst/>
              <a:ahLst/>
              <a:cxnLst/>
              <a:rect r="r" b="b" t="t" l="l"/>
              <a:pathLst>
                <a:path h="631826" w="13030777">
                  <a:moveTo>
                    <a:pt x="0" y="0"/>
                  </a:moveTo>
                  <a:lnTo>
                    <a:pt x="13030777" y="0"/>
                  </a:lnTo>
                  <a:lnTo>
                    <a:pt x="13030777" y="631826"/>
                  </a:lnTo>
                  <a:lnTo>
                    <a:pt x="0" y="631826"/>
                  </a:lnTo>
                  <a:close/>
                </a:path>
              </a:pathLst>
            </a:custGeom>
            <a:blipFill>
              <a:blip r:embed="rId4">
                <a:alphaModFix amt="0"/>
              </a:blip>
              <a:stretch>
                <a:fillRect l="0" t="-351859" r="0" b="-351859"/>
              </a:stretch>
            </a:blipFill>
          </p:spPr>
        </p:sp>
        <p:sp>
          <p:nvSpPr>
            <p:cNvPr name="TextBox 10" id="10"/>
            <p:cNvSpPr txBox="true"/>
            <p:nvPr/>
          </p:nvSpPr>
          <p:spPr>
            <a:xfrm>
              <a:off x="0" y="-19050"/>
              <a:ext cx="13030772" cy="650875"/>
            </a:xfrm>
            <a:prstGeom prst="rect">
              <a:avLst/>
            </a:prstGeom>
          </p:spPr>
          <p:txBody>
            <a:bodyPr anchor="ctr" rtlCol="false" tIns="0" lIns="0" bIns="0" rIns="0"/>
            <a:lstStyle/>
            <a:p>
              <a:pPr algn="l">
                <a:lnSpc>
                  <a:spcPts val="1800"/>
                </a:lnSpc>
              </a:pPr>
              <a:r>
                <a:rPr lang="en-US" sz="1500">
                  <a:solidFill>
                    <a:srgbClr val="808080"/>
                  </a:solidFill>
                  <a:latin typeface="Arial"/>
                  <a:ea typeface="Arial"/>
                  <a:cs typeface="Arial"/>
                  <a:sym typeface="Arial"/>
                </a:rPr>
                <a:t>South San Francisco  |  San Diego  |  Boston   |   New Jersey   |   Princeton   |  Chicago   |   Delhi   |   Pune</a:t>
              </a:r>
            </a:p>
          </p:txBody>
        </p:sp>
      </p:grpSp>
      <p:sp>
        <p:nvSpPr>
          <p:cNvPr name="Freeform 11" id="11"/>
          <p:cNvSpPr/>
          <p:nvPr/>
        </p:nvSpPr>
        <p:spPr>
          <a:xfrm flipH="false" flipV="false" rot="0">
            <a:off x="502444" y="1387050"/>
            <a:ext cx="1840392" cy="1055427"/>
          </a:xfrm>
          <a:custGeom>
            <a:avLst/>
            <a:gdLst/>
            <a:ahLst/>
            <a:cxnLst/>
            <a:rect r="r" b="b" t="t" l="l"/>
            <a:pathLst>
              <a:path h="1055427" w="1840392">
                <a:moveTo>
                  <a:pt x="0" y="0"/>
                </a:moveTo>
                <a:lnTo>
                  <a:pt x="1840392" y="0"/>
                </a:lnTo>
                <a:lnTo>
                  <a:pt x="1840392" y="1055427"/>
                </a:lnTo>
                <a:lnTo>
                  <a:pt x="0" y="1055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524685" y="3045619"/>
            <a:ext cx="10550414" cy="3245910"/>
            <a:chOff x="0" y="0"/>
            <a:chExt cx="14067218" cy="4327881"/>
          </a:xfrm>
        </p:grpSpPr>
        <p:sp>
          <p:nvSpPr>
            <p:cNvPr name="Freeform 13" id="13"/>
            <p:cNvSpPr/>
            <p:nvPr/>
          </p:nvSpPr>
          <p:spPr>
            <a:xfrm flipH="false" flipV="false" rot="0">
              <a:off x="0" y="0"/>
              <a:ext cx="14067224" cy="4327880"/>
            </a:xfrm>
            <a:custGeom>
              <a:avLst/>
              <a:gdLst/>
              <a:ahLst/>
              <a:cxnLst/>
              <a:rect r="r" b="b" t="t" l="l"/>
              <a:pathLst>
                <a:path h="4327880" w="14067224">
                  <a:moveTo>
                    <a:pt x="0" y="0"/>
                  </a:moveTo>
                  <a:lnTo>
                    <a:pt x="14067224" y="0"/>
                  </a:lnTo>
                  <a:lnTo>
                    <a:pt x="14067224" y="4327880"/>
                  </a:lnTo>
                  <a:lnTo>
                    <a:pt x="0" y="4327880"/>
                  </a:lnTo>
                  <a:close/>
                </a:path>
              </a:pathLst>
            </a:custGeom>
            <a:blipFill>
              <a:blip r:embed="rId4">
                <a:alphaModFix amt="0"/>
              </a:blip>
              <a:stretch>
                <a:fillRect l="0" t="-13333" r="0" b="-13333"/>
              </a:stretch>
            </a:blipFill>
          </p:spPr>
        </p:sp>
        <p:sp>
          <p:nvSpPr>
            <p:cNvPr name="TextBox 14" id="14"/>
            <p:cNvSpPr txBox="true"/>
            <p:nvPr/>
          </p:nvSpPr>
          <p:spPr>
            <a:xfrm>
              <a:off x="0" y="-28575"/>
              <a:ext cx="14067218" cy="4356456"/>
            </a:xfrm>
            <a:prstGeom prst="rect">
              <a:avLst/>
            </a:prstGeom>
          </p:spPr>
          <p:txBody>
            <a:bodyPr anchor="b" rtlCol="false" tIns="0" lIns="0" bIns="0" rIns="0"/>
            <a:lstStyle/>
            <a:p>
              <a:pPr algn="l">
                <a:lnSpc>
                  <a:spcPts val="6480"/>
                </a:lnSpc>
              </a:pPr>
              <a:r>
                <a:rPr lang="en-US" sz="5400" b="true">
                  <a:solidFill>
                    <a:srgbClr val="001E96"/>
                  </a:solidFill>
                  <a:latin typeface="Arial Bold"/>
                  <a:ea typeface="Arial Bold"/>
                  <a:cs typeface="Arial Bold"/>
                  <a:sym typeface="Arial Bold"/>
                </a:rPr>
                <a:t>Thank You!</a:t>
              </a:r>
            </a:p>
          </p:txBody>
        </p:sp>
      </p:grpSp>
      <p:sp>
        <p:nvSpPr>
          <p:cNvPr name="Freeform 15" id="15"/>
          <p:cNvSpPr/>
          <p:nvPr/>
        </p:nvSpPr>
        <p:spPr>
          <a:xfrm flipH="false" flipV="false" rot="5400000">
            <a:off x="9728656" y="1690315"/>
            <a:ext cx="10212317" cy="6906370"/>
          </a:xfrm>
          <a:custGeom>
            <a:avLst/>
            <a:gdLst/>
            <a:ahLst/>
            <a:cxnLst/>
            <a:rect r="r" b="b" t="t" l="l"/>
            <a:pathLst>
              <a:path h="6906370" w="10212317">
                <a:moveTo>
                  <a:pt x="0" y="0"/>
                </a:moveTo>
                <a:lnTo>
                  <a:pt x="10212317" y="0"/>
                </a:lnTo>
                <a:lnTo>
                  <a:pt x="10212317" y="6906370"/>
                </a:lnTo>
                <a:lnTo>
                  <a:pt x="0" y="6906370"/>
                </a:lnTo>
                <a:lnTo>
                  <a:pt x="0" y="0"/>
                </a:lnTo>
                <a:close/>
              </a:path>
            </a:pathLst>
          </a:custGeom>
          <a:blipFill>
            <a:blip r:embed="rId8"/>
            <a:stretch>
              <a:fillRect l="0" t="-1462" r="0" b="-46405"/>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DAHNFiO4fkQ</dc:identifier>
  <dcterms:modified xsi:type="dcterms:W3CDTF">2011-08-01T06:04:30Z</dcterms:modified>
  <cp:revision>1</cp:revision>
  <dc:title>PrimeRx_Case_Study_SOLVED.pptx</dc:title>
</cp:coreProperties>
</file>